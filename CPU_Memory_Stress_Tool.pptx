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ourier New Bold" charset="1" panose="02070609020205020404"/>
      <p:regular r:id="rId19"/>
    </p:embeddedFont>
    <p:embeddedFont>
      <p:font typeface="Calibri (MS) Bold" charset="1" panose="020F0702030404030204"/>
      <p:regular r:id="rId20"/>
    </p:embeddedFont>
    <p:embeddedFont>
      <p:font typeface="Calibri (MS)" charset="1" panose="020F0502020204030204"/>
      <p:regular r:id="rId21"/>
    </p:embeddedFont>
    <p:embeddedFont>
      <p:font typeface="Courier New" charset="1" panose="02070309020205020404"/>
      <p:regular r:id="rId22"/>
    </p:embeddedFont>
    <p:embeddedFont>
      <p:font typeface="Calibri (MS) Italics" charset="1" panose="020F05020202040A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9.xml" Type="http://schemas.openxmlformats.org/officeDocument/2006/relationships/notesSlide"/><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the team and project. Fill in the placeholders for names, institution, mentor and event. Describe the project in one sentence: a small C program for Ubuntu that applies CPU and memory load for a set time, controlled from the command line. The chip and RAM drawings are concept visuals only. Not a certified hardware diagnostic tool; it is a coursework and demonstration utility.</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Keep this short and avoid statistics. The need: a simple educational way to apply controlled CPU and memory load on Linux and then watch what happens. Existing tools can be powerful but intimidating for beginners. Our program is small and the source is readable. The diagram shows the context: the user sets three values, the program loads the system, and htop or free in another terminal show the effect.</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three arguments in order: seconds, CPU threads, memory in MB. The example requests up to 30 seconds, 4 worker threads and 512 MB. The program rejects thread counts above the number of online CPUs and rejects a memory request above half of the currently reported free RAM, so 512 MB needs at least 1024 MB reported free. Stress that users must choose values suitable for their own machine. The terminal box shows the real startup banner text from main.c, not run results.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Follow the arrows. Input is parsed and validated, then the memory guard compares the request with free RAM from sysinfo. After that, the CPU workers (pthreads) and the memory workload run. The memory workload is done by the main thread itself. Two atomic variables are shared: the stop flag, which workers poll, and the operation counter, which workers add to. The signal handler only sets the stop flag. The main thread reads the counter to print progress and the final summary to the terminal.</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the eight steps; the second row reads right to left. Memory is allocated and filled before any worker thread starts. The signal handler is installed just before workers are created. During step 6 the main loop ends when the duration is reached or the stop flag is set by Ctrl+C. Then the stop flag is set, workers are joined, and the summary is printed before memory is freed.</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Every feature on this slide exists in main.c. Be precise when asked: the CPU load is an integer arithmetic loop, the memory workload touches one byte per 4 KB page and reads one byte per 64 bytes, and the guard compares against free RAM reported at start-up. We do not measure temperature, we do not claim a full RAM-integrity test, and there is no graphical dashboard.</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Read the stack from top to bottom. The Makefile uses gcc with -O2, -std=c11 and warning flags, and links with -pthread. C11 atomics give a thread-safe stop flag and operation counter without locks. htop and free are not part of the program; they are used in another terminal to observe the system. Point to the excerpt: each worker runs a multiply-and-add loop and adds 100000 to the shared counter after every batch.</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Commands and expected results come straight from the README. The Actual result column and all three screenshot frames are empty on purpose: run each command on the demo machine and record what really happens, including the operation count and elapsed time. Do not quote operation counts or CPU percentages that you did not observe. Operation counts are not comparable between machines.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of the divider is what exists today; right of it is future work only. State the four limitations honestly: operation counts are not a benchmark score, the checksum is not a full RAM-integrity test, we do not measure temperature or frequency, and free memory can change after the guard check. The future items are ideas, not promises.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Summarise: the tool is a small, readable C program for learning and demonstration. Demo order: run make; run a short test; in a second terminal open htop and then watch free -h; show the invalid-input message; start a 60-second run and press Ctrl+C to show the early-stop summary. Rehearse first, keep memory modest, and have screenshots ready in case the live demo fails. Then invite questions.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sp>
        <p:nvSpPr>
          <p:cNvPr name="TextBox 2" id="2"/>
          <p:cNvSpPr txBox="true"/>
          <p:nvPr/>
        </p:nvSpPr>
        <p:spPr>
          <a:xfrm rot="0">
            <a:off x="1097280" y="1087755"/>
            <a:ext cx="9601200" cy="421005"/>
          </a:xfrm>
          <a:prstGeom prst="rect">
            <a:avLst/>
          </a:prstGeom>
        </p:spPr>
        <p:txBody>
          <a:bodyPr anchor="t" rtlCol="false" tIns="0" lIns="0" bIns="0" rIns="0">
            <a:spAutoFit/>
          </a:bodyPr>
          <a:lstStyle/>
          <a:p>
            <a:pPr algn="l">
              <a:lnSpc>
                <a:spcPts val="2340"/>
              </a:lnSpc>
            </a:pPr>
            <a:r>
              <a:rPr lang="en-US" b="true" sz="1950" spc="449">
                <a:solidFill>
                  <a:srgbClr val="2F9BFF"/>
                </a:solidFill>
                <a:latin typeface="Courier New Bold"/>
                <a:ea typeface="Courier New Bold"/>
                <a:cs typeface="Courier New Bold"/>
                <a:sym typeface="Courier New Bold"/>
              </a:rPr>
              <a:t>HACKATHON PROJECT</a:t>
            </a:r>
          </a:p>
        </p:txBody>
      </p:sp>
      <p:sp>
        <p:nvSpPr>
          <p:cNvPr name="TextBox 3" id="3"/>
          <p:cNvSpPr txBox="true"/>
          <p:nvPr/>
        </p:nvSpPr>
        <p:spPr>
          <a:xfrm rot="0">
            <a:off x="1097280" y="1640205"/>
            <a:ext cx="10149840" cy="2611755"/>
          </a:xfrm>
          <a:prstGeom prst="rect">
            <a:avLst/>
          </a:prstGeom>
        </p:spPr>
        <p:txBody>
          <a:bodyPr anchor="t" rtlCol="false" tIns="0" lIns="0" bIns="0" rIns="0">
            <a:spAutoFit/>
          </a:bodyPr>
          <a:lstStyle/>
          <a:p>
            <a:pPr algn="l">
              <a:lnSpc>
                <a:spcPts val="8280"/>
              </a:lnSpc>
            </a:pPr>
            <a:r>
              <a:rPr lang="en-US" sz="6900" b="true">
                <a:solidFill>
                  <a:srgbClr val="EDF1F5"/>
                </a:solidFill>
                <a:latin typeface="Calibri (MS) Bold"/>
                <a:ea typeface="Calibri (MS) Bold"/>
                <a:cs typeface="Calibri (MS) Bold"/>
                <a:sym typeface="Calibri (MS) Bold"/>
              </a:rPr>
              <a:t>CPU and Memory Stress Testing Tool</a:t>
            </a:r>
          </a:p>
        </p:txBody>
      </p:sp>
      <p:sp>
        <p:nvSpPr>
          <p:cNvPr name="TextBox 4" id="4"/>
          <p:cNvSpPr txBox="true"/>
          <p:nvPr/>
        </p:nvSpPr>
        <p:spPr>
          <a:xfrm rot="0">
            <a:off x="1097280" y="4391025"/>
            <a:ext cx="9601200" cy="1301115"/>
          </a:xfrm>
          <a:prstGeom prst="rect">
            <a:avLst/>
          </a:prstGeom>
        </p:spPr>
        <p:txBody>
          <a:bodyPr anchor="t" rtlCol="false" tIns="0" lIns="0" bIns="0" rIns="0">
            <a:spAutoFit/>
          </a:bodyPr>
          <a:lstStyle/>
          <a:p>
            <a:pPr algn="l">
              <a:lnSpc>
                <a:spcPts val="3960"/>
              </a:lnSpc>
            </a:pPr>
            <a:r>
              <a:rPr lang="en-US" sz="3300">
                <a:solidFill>
                  <a:srgbClr val="3FB67A"/>
                </a:solidFill>
                <a:latin typeface="Calibri (MS)"/>
                <a:ea typeface="Calibri (MS)"/>
                <a:cs typeface="Calibri (MS)"/>
                <a:sym typeface="Calibri (MS)"/>
              </a:rPr>
              <a:t>A Lightweight Linux-Based System Stress Testing Utility</a:t>
            </a:r>
          </a:p>
        </p:txBody>
      </p:sp>
      <p:sp>
        <p:nvSpPr>
          <p:cNvPr name="TextBox 5" id="5"/>
          <p:cNvSpPr txBox="true"/>
          <p:nvPr/>
        </p:nvSpPr>
        <p:spPr>
          <a:xfrm rot="0">
            <a:off x="1097280" y="6025515"/>
            <a:ext cx="9601200" cy="558165"/>
          </a:xfrm>
          <a:prstGeom prst="rect">
            <a:avLst/>
          </a:prstGeom>
        </p:spPr>
        <p:txBody>
          <a:bodyPr anchor="t" rtlCol="false" tIns="0" lIns="0" bIns="0" rIns="0">
            <a:spAutoFit/>
          </a:bodyPr>
          <a:lstStyle/>
          <a:p>
            <a:pPr algn="l">
              <a:lnSpc>
                <a:spcPts val="3240"/>
              </a:lnSpc>
            </a:pPr>
            <a:r>
              <a:rPr lang="en-US" sz="2700">
                <a:solidFill>
                  <a:srgbClr val="3FB67A"/>
                </a:solidFill>
                <a:latin typeface="Courier New"/>
                <a:ea typeface="Courier New"/>
                <a:cs typeface="Courier New"/>
                <a:sym typeface="Courier New"/>
              </a:rPr>
              <a:t>$ ./stress-test 30 4 512</a:t>
            </a:r>
          </a:p>
        </p:txBody>
      </p:sp>
      <p:sp>
        <p:nvSpPr>
          <p:cNvPr name="TextBox 6" id="6"/>
          <p:cNvSpPr txBox="true"/>
          <p:nvPr/>
        </p:nvSpPr>
        <p:spPr>
          <a:xfrm rot="0">
            <a:off x="1097280" y="6910586"/>
            <a:ext cx="9741218" cy="2618224"/>
          </a:xfrm>
          <a:prstGeom prst="rect">
            <a:avLst/>
          </a:prstGeom>
        </p:spPr>
        <p:txBody>
          <a:bodyPr anchor="t" rtlCol="false" tIns="0" lIns="0" bIns="0" rIns="0">
            <a:spAutoFit/>
          </a:bodyPr>
          <a:lstStyle/>
          <a:p>
            <a:pPr algn="l" marL="525716" indent="-262858" lvl="1">
              <a:lnSpc>
                <a:spcPts val="2922"/>
              </a:lnSpc>
              <a:buFont typeface="Arial"/>
              <a:buChar char="•"/>
            </a:pPr>
            <a:r>
              <a:rPr lang="en-US" sz="2435">
                <a:solidFill>
                  <a:srgbClr val="A3AEBB"/>
                </a:solidFill>
                <a:latin typeface="Calibri (MS)"/>
                <a:ea typeface="Calibri (MS)"/>
                <a:cs typeface="Calibri (MS)"/>
                <a:sym typeface="Calibri (MS)"/>
              </a:rPr>
              <a:t> </a:t>
            </a:r>
            <a:r>
              <a:rPr lang="en-US" sz="2435">
                <a:solidFill>
                  <a:srgbClr val="A3AEBB"/>
                </a:solidFill>
                <a:latin typeface="Calibri (MS)"/>
                <a:ea typeface="Calibri (MS)"/>
                <a:cs typeface="Calibri (MS)"/>
                <a:sym typeface="Calibri (MS)"/>
              </a:rPr>
              <a:t>Team Members:</a:t>
            </a:r>
          </a:p>
          <a:p>
            <a:pPr algn="l" marL="525716" indent="-262858" lvl="1">
              <a:lnSpc>
                <a:spcPts val="2922"/>
              </a:lnSpc>
              <a:buFont typeface="Arial"/>
              <a:buChar char="•"/>
            </a:pPr>
            <a:r>
              <a:rPr lang="en-US" sz="2435">
                <a:solidFill>
                  <a:srgbClr val="A3AEBB"/>
                </a:solidFill>
                <a:latin typeface="Calibri (MS)"/>
                <a:ea typeface="Calibri (MS)"/>
                <a:cs typeface="Calibri (MS)"/>
                <a:sym typeface="Calibri (MS)"/>
              </a:rPr>
              <a:t>2520090038: K. Pavan Kumar  </a:t>
            </a:r>
          </a:p>
          <a:p>
            <a:pPr algn="l" marL="525716" indent="-262858" lvl="1">
              <a:lnSpc>
                <a:spcPts val="2922"/>
              </a:lnSpc>
              <a:buFont typeface="Arial"/>
              <a:buChar char="•"/>
            </a:pPr>
            <a:r>
              <a:rPr lang="en-US" sz="2435">
                <a:solidFill>
                  <a:srgbClr val="A3AEBB"/>
                </a:solidFill>
                <a:latin typeface="Calibri (MS)"/>
                <a:ea typeface="Calibri (MS)"/>
                <a:cs typeface="Calibri (MS)"/>
                <a:sym typeface="Calibri (MS)"/>
              </a:rPr>
              <a:t>2520090180: P. Harsha Vardhan  </a:t>
            </a:r>
          </a:p>
          <a:p>
            <a:pPr algn="l" marL="525716" indent="-262858" lvl="1">
              <a:lnSpc>
                <a:spcPts val="2922"/>
              </a:lnSpc>
              <a:buFont typeface="Arial"/>
              <a:buChar char="•"/>
            </a:pPr>
            <a:r>
              <a:rPr lang="en-US" sz="2435">
                <a:solidFill>
                  <a:srgbClr val="A3AEBB"/>
                </a:solidFill>
                <a:latin typeface="Calibri (MS)"/>
                <a:ea typeface="Calibri (MS)"/>
                <a:cs typeface="Calibri (MS)"/>
                <a:sym typeface="Calibri (MS)"/>
              </a:rPr>
              <a:t>2520090188: B. Purna Chander Rao  </a:t>
            </a:r>
          </a:p>
          <a:p>
            <a:pPr algn="l" marL="525716" indent="-262858" lvl="1">
              <a:lnSpc>
                <a:spcPts val="2922"/>
              </a:lnSpc>
              <a:buFont typeface="Arial"/>
              <a:buChar char="•"/>
            </a:pPr>
            <a:r>
              <a:rPr lang="en-US" sz="2435">
                <a:solidFill>
                  <a:srgbClr val="A3AEBB"/>
                </a:solidFill>
                <a:latin typeface="Calibri (MS)"/>
                <a:ea typeface="Calibri (MS)"/>
                <a:cs typeface="Calibri (MS)"/>
                <a:sym typeface="Calibri (MS)"/>
              </a:rPr>
              <a:t>Team Number: 11  </a:t>
            </a:r>
          </a:p>
          <a:p>
            <a:pPr algn="l" marL="525716" indent="-262858" lvl="1">
              <a:lnSpc>
                <a:spcPts val="2922"/>
              </a:lnSpc>
              <a:buFont typeface="Arial"/>
              <a:buChar char="•"/>
            </a:pPr>
            <a:r>
              <a:rPr lang="en-US" sz="2435">
                <a:solidFill>
                  <a:srgbClr val="A3AEBB"/>
                </a:solidFill>
                <a:latin typeface="Calibri (MS)"/>
                <a:ea typeface="Calibri (MS)"/>
                <a:cs typeface="Calibri (MS)"/>
                <a:sym typeface="Calibri (MS)"/>
              </a:rPr>
              <a:t>Guide: D. Alekhya  </a:t>
            </a:r>
          </a:p>
          <a:p>
            <a:pPr algn="l">
              <a:lnSpc>
                <a:spcPts val="2922"/>
              </a:lnSpc>
            </a:pPr>
            <a:r>
              <a:rPr lang="en-US" sz="2435">
                <a:solidFill>
                  <a:srgbClr val="A3AEBB"/>
                </a:solidFill>
                <a:latin typeface="Calibri (MS)"/>
                <a:ea typeface="Calibri (MS)"/>
                <a:cs typeface="Calibri (MS)"/>
                <a:sym typeface="Calibri (MS)"/>
              </a:rPr>
              <a:t> Course: 25CS2104E - Operating Systems and System Programming  </a:t>
            </a:r>
          </a:p>
        </p:txBody>
      </p:sp>
      <p:grpSp>
        <p:nvGrpSpPr>
          <p:cNvPr name="Group 7" id="7"/>
          <p:cNvGrpSpPr/>
          <p:nvPr/>
        </p:nvGrpSpPr>
        <p:grpSpPr>
          <a:xfrm rot="0">
            <a:off x="13500735" y="1362075"/>
            <a:ext cx="211074" cy="430530"/>
            <a:chOff x="0" y="0"/>
            <a:chExt cx="281432" cy="574040"/>
          </a:xfrm>
        </p:grpSpPr>
        <p:sp>
          <p:nvSpPr>
            <p:cNvPr name="Freeform 8" id="8"/>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9" id="9"/>
          <p:cNvGrpSpPr/>
          <p:nvPr/>
        </p:nvGrpSpPr>
        <p:grpSpPr>
          <a:xfrm rot="0">
            <a:off x="13500735" y="5614035"/>
            <a:ext cx="211074" cy="430530"/>
            <a:chOff x="0" y="0"/>
            <a:chExt cx="281432" cy="574040"/>
          </a:xfrm>
        </p:grpSpPr>
        <p:sp>
          <p:nvSpPr>
            <p:cNvPr name="Freeform 10" id="10"/>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11" id="11"/>
          <p:cNvGrpSpPr/>
          <p:nvPr/>
        </p:nvGrpSpPr>
        <p:grpSpPr>
          <a:xfrm rot="0">
            <a:off x="12746355" y="2116455"/>
            <a:ext cx="430530" cy="211074"/>
            <a:chOff x="0" y="0"/>
            <a:chExt cx="574040" cy="281432"/>
          </a:xfrm>
        </p:grpSpPr>
        <p:sp>
          <p:nvSpPr>
            <p:cNvPr name="Freeform 12" id="12"/>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13" id="13"/>
          <p:cNvGrpSpPr/>
          <p:nvPr/>
        </p:nvGrpSpPr>
        <p:grpSpPr>
          <a:xfrm rot="0">
            <a:off x="16998315" y="2116455"/>
            <a:ext cx="430530" cy="211074"/>
            <a:chOff x="0" y="0"/>
            <a:chExt cx="574040" cy="281432"/>
          </a:xfrm>
        </p:grpSpPr>
        <p:sp>
          <p:nvSpPr>
            <p:cNvPr name="Freeform 14" id="14"/>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15" id="15"/>
          <p:cNvGrpSpPr/>
          <p:nvPr/>
        </p:nvGrpSpPr>
        <p:grpSpPr>
          <a:xfrm rot="0">
            <a:off x="14090523" y="1362075"/>
            <a:ext cx="211074" cy="430530"/>
            <a:chOff x="0" y="0"/>
            <a:chExt cx="281432" cy="574040"/>
          </a:xfrm>
        </p:grpSpPr>
        <p:sp>
          <p:nvSpPr>
            <p:cNvPr name="Freeform 16" id="16"/>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17" id="17"/>
          <p:cNvGrpSpPr/>
          <p:nvPr/>
        </p:nvGrpSpPr>
        <p:grpSpPr>
          <a:xfrm rot="0">
            <a:off x="14090523" y="5614035"/>
            <a:ext cx="211074" cy="430530"/>
            <a:chOff x="0" y="0"/>
            <a:chExt cx="281432" cy="574040"/>
          </a:xfrm>
        </p:grpSpPr>
        <p:sp>
          <p:nvSpPr>
            <p:cNvPr name="Freeform 18" id="18"/>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19" id="19"/>
          <p:cNvGrpSpPr/>
          <p:nvPr/>
        </p:nvGrpSpPr>
        <p:grpSpPr>
          <a:xfrm rot="0">
            <a:off x="12746355" y="2706243"/>
            <a:ext cx="430530" cy="211074"/>
            <a:chOff x="0" y="0"/>
            <a:chExt cx="574040" cy="281432"/>
          </a:xfrm>
        </p:grpSpPr>
        <p:sp>
          <p:nvSpPr>
            <p:cNvPr name="Freeform 20" id="20"/>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21" id="21"/>
          <p:cNvGrpSpPr/>
          <p:nvPr/>
        </p:nvGrpSpPr>
        <p:grpSpPr>
          <a:xfrm rot="0">
            <a:off x="16998315" y="2706243"/>
            <a:ext cx="430530" cy="211074"/>
            <a:chOff x="0" y="0"/>
            <a:chExt cx="574040" cy="281432"/>
          </a:xfrm>
        </p:grpSpPr>
        <p:sp>
          <p:nvSpPr>
            <p:cNvPr name="Freeform 22" id="22"/>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23" id="23"/>
          <p:cNvGrpSpPr/>
          <p:nvPr/>
        </p:nvGrpSpPr>
        <p:grpSpPr>
          <a:xfrm rot="0">
            <a:off x="14680311" y="1362075"/>
            <a:ext cx="211074" cy="430530"/>
            <a:chOff x="0" y="0"/>
            <a:chExt cx="281432" cy="574040"/>
          </a:xfrm>
        </p:grpSpPr>
        <p:sp>
          <p:nvSpPr>
            <p:cNvPr name="Freeform 24" id="24"/>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25" id="25"/>
          <p:cNvGrpSpPr/>
          <p:nvPr/>
        </p:nvGrpSpPr>
        <p:grpSpPr>
          <a:xfrm rot="0">
            <a:off x="14680311" y="5614035"/>
            <a:ext cx="211074" cy="430530"/>
            <a:chOff x="0" y="0"/>
            <a:chExt cx="281432" cy="574040"/>
          </a:xfrm>
        </p:grpSpPr>
        <p:sp>
          <p:nvSpPr>
            <p:cNvPr name="Freeform 26" id="26"/>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27" id="27"/>
          <p:cNvGrpSpPr/>
          <p:nvPr/>
        </p:nvGrpSpPr>
        <p:grpSpPr>
          <a:xfrm rot="0">
            <a:off x="12746355" y="3296031"/>
            <a:ext cx="430530" cy="211074"/>
            <a:chOff x="0" y="0"/>
            <a:chExt cx="574040" cy="281432"/>
          </a:xfrm>
        </p:grpSpPr>
        <p:sp>
          <p:nvSpPr>
            <p:cNvPr name="Freeform 28" id="28"/>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29" id="29"/>
          <p:cNvGrpSpPr/>
          <p:nvPr/>
        </p:nvGrpSpPr>
        <p:grpSpPr>
          <a:xfrm rot="0">
            <a:off x="16998315" y="3296031"/>
            <a:ext cx="430530" cy="211074"/>
            <a:chOff x="0" y="0"/>
            <a:chExt cx="574040" cy="281432"/>
          </a:xfrm>
        </p:grpSpPr>
        <p:sp>
          <p:nvSpPr>
            <p:cNvPr name="Freeform 30" id="30"/>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31" id="31"/>
          <p:cNvGrpSpPr/>
          <p:nvPr/>
        </p:nvGrpSpPr>
        <p:grpSpPr>
          <a:xfrm rot="0">
            <a:off x="15270099" y="1362075"/>
            <a:ext cx="211074" cy="430530"/>
            <a:chOff x="0" y="0"/>
            <a:chExt cx="281432" cy="574040"/>
          </a:xfrm>
        </p:grpSpPr>
        <p:sp>
          <p:nvSpPr>
            <p:cNvPr name="Freeform 32" id="32"/>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33" id="33"/>
          <p:cNvGrpSpPr/>
          <p:nvPr/>
        </p:nvGrpSpPr>
        <p:grpSpPr>
          <a:xfrm rot="0">
            <a:off x="15270099" y="5614035"/>
            <a:ext cx="211074" cy="430530"/>
            <a:chOff x="0" y="0"/>
            <a:chExt cx="281432" cy="574040"/>
          </a:xfrm>
        </p:grpSpPr>
        <p:sp>
          <p:nvSpPr>
            <p:cNvPr name="Freeform 34" id="34"/>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35" id="35"/>
          <p:cNvGrpSpPr/>
          <p:nvPr/>
        </p:nvGrpSpPr>
        <p:grpSpPr>
          <a:xfrm rot="0">
            <a:off x="12746355" y="3885819"/>
            <a:ext cx="430530" cy="211074"/>
            <a:chOff x="0" y="0"/>
            <a:chExt cx="574040" cy="281432"/>
          </a:xfrm>
        </p:grpSpPr>
        <p:sp>
          <p:nvSpPr>
            <p:cNvPr name="Freeform 36" id="36"/>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37" id="37"/>
          <p:cNvGrpSpPr/>
          <p:nvPr/>
        </p:nvGrpSpPr>
        <p:grpSpPr>
          <a:xfrm rot="0">
            <a:off x="16998315" y="3885819"/>
            <a:ext cx="430530" cy="211074"/>
            <a:chOff x="0" y="0"/>
            <a:chExt cx="574040" cy="281432"/>
          </a:xfrm>
        </p:grpSpPr>
        <p:sp>
          <p:nvSpPr>
            <p:cNvPr name="Freeform 38" id="38"/>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39" id="39"/>
          <p:cNvGrpSpPr/>
          <p:nvPr/>
        </p:nvGrpSpPr>
        <p:grpSpPr>
          <a:xfrm rot="0">
            <a:off x="15859887" y="1362075"/>
            <a:ext cx="211074" cy="430530"/>
            <a:chOff x="0" y="0"/>
            <a:chExt cx="281432" cy="574040"/>
          </a:xfrm>
        </p:grpSpPr>
        <p:sp>
          <p:nvSpPr>
            <p:cNvPr name="Freeform 40" id="40"/>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41" id="41"/>
          <p:cNvGrpSpPr/>
          <p:nvPr/>
        </p:nvGrpSpPr>
        <p:grpSpPr>
          <a:xfrm rot="0">
            <a:off x="15859887" y="5614035"/>
            <a:ext cx="211074" cy="430530"/>
            <a:chOff x="0" y="0"/>
            <a:chExt cx="281432" cy="574040"/>
          </a:xfrm>
        </p:grpSpPr>
        <p:sp>
          <p:nvSpPr>
            <p:cNvPr name="Freeform 42" id="42"/>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43" id="43"/>
          <p:cNvGrpSpPr/>
          <p:nvPr/>
        </p:nvGrpSpPr>
        <p:grpSpPr>
          <a:xfrm rot="0">
            <a:off x="12746355" y="4475607"/>
            <a:ext cx="430530" cy="211074"/>
            <a:chOff x="0" y="0"/>
            <a:chExt cx="574040" cy="281432"/>
          </a:xfrm>
        </p:grpSpPr>
        <p:sp>
          <p:nvSpPr>
            <p:cNvPr name="Freeform 44" id="44"/>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45" id="45"/>
          <p:cNvGrpSpPr/>
          <p:nvPr/>
        </p:nvGrpSpPr>
        <p:grpSpPr>
          <a:xfrm rot="0">
            <a:off x="16998315" y="4475607"/>
            <a:ext cx="430530" cy="211074"/>
            <a:chOff x="0" y="0"/>
            <a:chExt cx="574040" cy="281432"/>
          </a:xfrm>
        </p:grpSpPr>
        <p:sp>
          <p:nvSpPr>
            <p:cNvPr name="Freeform 46" id="46"/>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47" id="47"/>
          <p:cNvGrpSpPr/>
          <p:nvPr/>
        </p:nvGrpSpPr>
        <p:grpSpPr>
          <a:xfrm rot="0">
            <a:off x="16449675" y="1362075"/>
            <a:ext cx="211074" cy="430530"/>
            <a:chOff x="0" y="0"/>
            <a:chExt cx="281432" cy="574040"/>
          </a:xfrm>
        </p:grpSpPr>
        <p:sp>
          <p:nvSpPr>
            <p:cNvPr name="Freeform 48" id="48"/>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49" id="49"/>
          <p:cNvGrpSpPr/>
          <p:nvPr/>
        </p:nvGrpSpPr>
        <p:grpSpPr>
          <a:xfrm rot="0">
            <a:off x="16449675" y="5614035"/>
            <a:ext cx="211074" cy="430530"/>
            <a:chOff x="0" y="0"/>
            <a:chExt cx="281432" cy="574040"/>
          </a:xfrm>
        </p:grpSpPr>
        <p:sp>
          <p:nvSpPr>
            <p:cNvPr name="Freeform 50" id="50"/>
            <p:cNvSpPr/>
            <p:nvPr/>
          </p:nvSpPr>
          <p:spPr>
            <a:xfrm flipH="false" flipV="false" rot="0">
              <a:off x="0" y="0"/>
              <a:ext cx="281432" cy="574040"/>
            </a:xfrm>
            <a:custGeom>
              <a:avLst/>
              <a:gdLst/>
              <a:ahLst/>
              <a:cxnLst/>
              <a:rect r="r" b="b" t="t" l="l"/>
              <a:pathLst>
                <a:path h="574040" w="281432">
                  <a:moveTo>
                    <a:pt x="0" y="0"/>
                  </a:moveTo>
                  <a:lnTo>
                    <a:pt x="281432" y="0"/>
                  </a:lnTo>
                  <a:lnTo>
                    <a:pt x="281432" y="574040"/>
                  </a:lnTo>
                  <a:lnTo>
                    <a:pt x="0" y="574040"/>
                  </a:lnTo>
                  <a:close/>
                </a:path>
              </a:pathLst>
            </a:custGeom>
            <a:solidFill>
              <a:srgbClr val="3A424C"/>
            </a:solidFill>
            <a:ln w="19050" cap="sq">
              <a:solidFill>
                <a:srgbClr val="3A424C"/>
              </a:solidFill>
              <a:prstDash val="solid"/>
              <a:miter/>
            </a:ln>
          </p:spPr>
        </p:sp>
      </p:grpSp>
      <p:grpSp>
        <p:nvGrpSpPr>
          <p:cNvPr name="Group 51" id="51"/>
          <p:cNvGrpSpPr/>
          <p:nvPr/>
        </p:nvGrpSpPr>
        <p:grpSpPr>
          <a:xfrm rot="0">
            <a:off x="12746355" y="5065395"/>
            <a:ext cx="430530" cy="211074"/>
            <a:chOff x="0" y="0"/>
            <a:chExt cx="574040" cy="281432"/>
          </a:xfrm>
        </p:grpSpPr>
        <p:sp>
          <p:nvSpPr>
            <p:cNvPr name="Freeform 52" id="52"/>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53" id="53"/>
          <p:cNvGrpSpPr/>
          <p:nvPr/>
        </p:nvGrpSpPr>
        <p:grpSpPr>
          <a:xfrm rot="0">
            <a:off x="16998315" y="5065395"/>
            <a:ext cx="430530" cy="211074"/>
            <a:chOff x="0" y="0"/>
            <a:chExt cx="574040" cy="281432"/>
          </a:xfrm>
        </p:grpSpPr>
        <p:sp>
          <p:nvSpPr>
            <p:cNvPr name="Freeform 54" id="54"/>
            <p:cNvSpPr/>
            <p:nvPr/>
          </p:nvSpPr>
          <p:spPr>
            <a:xfrm flipH="false" flipV="false" rot="0">
              <a:off x="0" y="0"/>
              <a:ext cx="574040" cy="281432"/>
            </a:xfrm>
            <a:custGeom>
              <a:avLst/>
              <a:gdLst/>
              <a:ahLst/>
              <a:cxnLst/>
              <a:rect r="r" b="b" t="t" l="l"/>
              <a:pathLst>
                <a:path h="281432" w="574040">
                  <a:moveTo>
                    <a:pt x="0" y="0"/>
                  </a:moveTo>
                  <a:lnTo>
                    <a:pt x="574040" y="0"/>
                  </a:lnTo>
                  <a:lnTo>
                    <a:pt x="574040" y="281432"/>
                  </a:lnTo>
                  <a:lnTo>
                    <a:pt x="0" y="281432"/>
                  </a:lnTo>
                  <a:close/>
                </a:path>
              </a:pathLst>
            </a:custGeom>
            <a:solidFill>
              <a:srgbClr val="3A424C"/>
            </a:solidFill>
            <a:ln w="19050" cap="sq">
              <a:solidFill>
                <a:srgbClr val="3A424C"/>
              </a:solidFill>
              <a:prstDash val="solid"/>
              <a:miter/>
            </a:ln>
          </p:spPr>
        </p:sp>
      </p:grpSp>
      <p:grpSp>
        <p:nvGrpSpPr>
          <p:cNvPr name="Group 55" id="55"/>
          <p:cNvGrpSpPr/>
          <p:nvPr/>
        </p:nvGrpSpPr>
        <p:grpSpPr>
          <a:xfrm rot="0">
            <a:off x="13148310" y="1764030"/>
            <a:ext cx="3878580" cy="3878580"/>
            <a:chOff x="0" y="0"/>
            <a:chExt cx="5171440" cy="5171440"/>
          </a:xfrm>
        </p:grpSpPr>
        <p:sp>
          <p:nvSpPr>
            <p:cNvPr name="Freeform 56" id="56"/>
            <p:cNvSpPr/>
            <p:nvPr/>
          </p:nvSpPr>
          <p:spPr>
            <a:xfrm flipH="false" flipV="false" rot="0">
              <a:off x="0" y="0"/>
              <a:ext cx="5171440" cy="5171440"/>
            </a:xfrm>
            <a:custGeom>
              <a:avLst/>
              <a:gdLst/>
              <a:ahLst/>
              <a:cxnLst/>
              <a:rect r="r" b="b" t="t" l="l"/>
              <a:pathLst>
                <a:path h="5171440" w="5171440">
                  <a:moveTo>
                    <a:pt x="0" y="184658"/>
                  </a:moveTo>
                  <a:cubicBezTo>
                    <a:pt x="0" y="82677"/>
                    <a:pt x="82677" y="0"/>
                    <a:pt x="184658" y="0"/>
                  </a:cubicBezTo>
                  <a:lnTo>
                    <a:pt x="4986782" y="0"/>
                  </a:lnTo>
                  <a:cubicBezTo>
                    <a:pt x="5088763" y="0"/>
                    <a:pt x="5171440" y="82677"/>
                    <a:pt x="5171440" y="184658"/>
                  </a:cubicBezTo>
                  <a:lnTo>
                    <a:pt x="5171440" y="4986782"/>
                  </a:lnTo>
                  <a:cubicBezTo>
                    <a:pt x="5171440" y="5088763"/>
                    <a:pt x="5088763" y="5171440"/>
                    <a:pt x="4986782" y="5171440"/>
                  </a:cubicBezTo>
                  <a:lnTo>
                    <a:pt x="184658" y="5171440"/>
                  </a:lnTo>
                  <a:cubicBezTo>
                    <a:pt x="82677" y="5171440"/>
                    <a:pt x="0" y="5088763"/>
                    <a:pt x="0" y="4986782"/>
                  </a:cubicBezTo>
                  <a:close/>
                </a:path>
              </a:pathLst>
            </a:custGeom>
            <a:solidFill>
              <a:srgbClr val="252B32"/>
            </a:solidFill>
            <a:ln w="38100" cap="sq">
              <a:solidFill>
                <a:srgbClr val="2F9BFF"/>
              </a:solidFill>
              <a:prstDash val="solid"/>
              <a:miter/>
            </a:ln>
          </p:spPr>
        </p:sp>
      </p:grpSp>
      <p:grpSp>
        <p:nvGrpSpPr>
          <p:cNvPr name="Group 57" id="57"/>
          <p:cNvGrpSpPr/>
          <p:nvPr/>
        </p:nvGrpSpPr>
        <p:grpSpPr>
          <a:xfrm rot="0">
            <a:off x="13838873" y="2454592"/>
            <a:ext cx="2497455" cy="2497455"/>
            <a:chOff x="0" y="0"/>
            <a:chExt cx="3329940" cy="3329940"/>
          </a:xfrm>
        </p:grpSpPr>
        <p:sp>
          <p:nvSpPr>
            <p:cNvPr name="Freeform 58" id="58"/>
            <p:cNvSpPr/>
            <p:nvPr/>
          </p:nvSpPr>
          <p:spPr>
            <a:xfrm flipH="false" flipV="false" rot="0">
              <a:off x="0" y="0"/>
              <a:ext cx="3329940" cy="3329940"/>
            </a:xfrm>
            <a:custGeom>
              <a:avLst/>
              <a:gdLst/>
              <a:ahLst/>
              <a:cxnLst/>
              <a:rect r="r" b="b" t="t" l="l"/>
              <a:pathLst>
                <a:path h="3329940" w="3329940">
                  <a:moveTo>
                    <a:pt x="0" y="0"/>
                  </a:moveTo>
                  <a:lnTo>
                    <a:pt x="3329940" y="0"/>
                  </a:lnTo>
                  <a:lnTo>
                    <a:pt x="3329940" y="3329940"/>
                  </a:lnTo>
                  <a:lnTo>
                    <a:pt x="0" y="3329940"/>
                  </a:lnTo>
                  <a:close/>
                </a:path>
              </a:pathLst>
            </a:custGeom>
            <a:solidFill>
              <a:srgbClr val="1B1F24"/>
            </a:solidFill>
            <a:ln w="28575" cap="sq">
              <a:solidFill>
                <a:srgbClr val="3FB67A"/>
              </a:solidFill>
              <a:prstDash val="solid"/>
              <a:miter/>
            </a:ln>
          </p:spPr>
        </p:sp>
      </p:grpSp>
      <p:grpSp>
        <p:nvGrpSpPr>
          <p:cNvPr name="Group 59" id="59"/>
          <p:cNvGrpSpPr/>
          <p:nvPr/>
        </p:nvGrpSpPr>
        <p:grpSpPr>
          <a:xfrm rot="0">
            <a:off x="13853160" y="2468880"/>
            <a:ext cx="2468880" cy="2468880"/>
            <a:chOff x="0" y="0"/>
            <a:chExt cx="3291840" cy="3291840"/>
          </a:xfrm>
        </p:grpSpPr>
        <p:sp>
          <p:nvSpPr>
            <p:cNvPr name="Freeform 60" id="60"/>
            <p:cNvSpPr/>
            <p:nvPr/>
          </p:nvSpPr>
          <p:spPr>
            <a:xfrm flipH="false" flipV="false" rot="0">
              <a:off x="0" y="0"/>
              <a:ext cx="3291840" cy="3291840"/>
            </a:xfrm>
            <a:custGeom>
              <a:avLst/>
              <a:gdLst/>
              <a:ahLst/>
              <a:cxnLst/>
              <a:rect r="r" b="b" t="t" l="l"/>
              <a:pathLst>
                <a:path h="3291840" w="3291840">
                  <a:moveTo>
                    <a:pt x="0" y="0"/>
                  </a:moveTo>
                  <a:lnTo>
                    <a:pt x="3291840" y="0"/>
                  </a:lnTo>
                  <a:lnTo>
                    <a:pt x="3291840" y="3291840"/>
                  </a:lnTo>
                  <a:lnTo>
                    <a:pt x="0" y="3291840"/>
                  </a:lnTo>
                  <a:close/>
                </a:path>
              </a:pathLst>
            </a:custGeom>
            <a:blipFill>
              <a:blip r:embed="rId3">
                <a:alphaModFix amt="0"/>
              </a:blip>
              <a:stretch>
                <a:fillRect l="-78303" t="0" r="-78303" b="0"/>
              </a:stretch>
            </a:blipFill>
          </p:spPr>
        </p:sp>
        <p:sp>
          <p:nvSpPr>
            <p:cNvPr name="TextBox 61" id="61"/>
            <p:cNvSpPr txBox="true"/>
            <p:nvPr/>
          </p:nvSpPr>
          <p:spPr>
            <a:xfrm>
              <a:off x="0" y="-9525"/>
              <a:ext cx="3291840" cy="3301365"/>
            </a:xfrm>
            <a:prstGeom prst="rect">
              <a:avLst/>
            </a:prstGeom>
          </p:spPr>
          <p:txBody>
            <a:bodyPr anchor="ctr" rtlCol="false" tIns="0" lIns="0" bIns="0" rIns="0"/>
            <a:lstStyle/>
            <a:p>
              <a:pPr algn="ctr">
                <a:lnSpc>
                  <a:spcPts val="5400"/>
                </a:lnSpc>
              </a:pPr>
              <a:r>
                <a:rPr lang="en-US" sz="4500" b="true">
                  <a:solidFill>
                    <a:srgbClr val="2F9BFF"/>
                  </a:solidFill>
                  <a:latin typeface="Courier New Bold"/>
                  <a:ea typeface="Courier New Bold"/>
                  <a:cs typeface="Courier New Bold"/>
                  <a:sym typeface="Courier New Bold"/>
                </a:rPr>
                <a:t>CPU</a:t>
              </a:r>
            </a:p>
          </p:txBody>
        </p:sp>
      </p:grpSp>
      <p:grpSp>
        <p:nvGrpSpPr>
          <p:cNvPr name="Group 62" id="62"/>
          <p:cNvGrpSpPr/>
          <p:nvPr/>
        </p:nvGrpSpPr>
        <p:grpSpPr>
          <a:xfrm rot="0">
            <a:off x="12467272" y="6980872"/>
            <a:ext cx="5240655" cy="1331595"/>
            <a:chOff x="0" y="0"/>
            <a:chExt cx="6987540" cy="1775460"/>
          </a:xfrm>
        </p:grpSpPr>
        <p:sp>
          <p:nvSpPr>
            <p:cNvPr name="Freeform 63" id="63"/>
            <p:cNvSpPr/>
            <p:nvPr/>
          </p:nvSpPr>
          <p:spPr>
            <a:xfrm flipH="false" flipV="false" rot="0">
              <a:off x="0" y="0"/>
              <a:ext cx="6987540" cy="1775460"/>
            </a:xfrm>
            <a:custGeom>
              <a:avLst/>
              <a:gdLst/>
              <a:ahLst/>
              <a:cxnLst/>
              <a:rect r="r" b="b" t="t" l="l"/>
              <a:pathLst>
                <a:path h="1775460" w="6987540">
                  <a:moveTo>
                    <a:pt x="0" y="0"/>
                  </a:moveTo>
                  <a:lnTo>
                    <a:pt x="6987540" y="0"/>
                  </a:lnTo>
                  <a:lnTo>
                    <a:pt x="6987540" y="1775460"/>
                  </a:lnTo>
                  <a:lnTo>
                    <a:pt x="0" y="1775460"/>
                  </a:lnTo>
                  <a:close/>
                </a:path>
              </a:pathLst>
            </a:custGeom>
            <a:solidFill>
              <a:srgbClr val="252B32"/>
            </a:solidFill>
            <a:ln w="28575" cap="sq">
              <a:solidFill>
                <a:srgbClr val="3FB67A"/>
              </a:solidFill>
              <a:prstDash val="solid"/>
              <a:miter/>
            </a:ln>
          </p:spPr>
        </p:sp>
      </p:grpSp>
      <p:grpSp>
        <p:nvGrpSpPr>
          <p:cNvPr name="Group 64" id="64"/>
          <p:cNvGrpSpPr/>
          <p:nvPr/>
        </p:nvGrpSpPr>
        <p:grpSpPr>
          <a:xfrm rot="0">
            <a:off x="12814935" y="7259955"/>
            <a:ext cx="979170" cy="773430"/>
            <a:chOff x="0" y="0"/>
            <a:chExt cx="1305560" cy="1031240"/>
          </a:xfrm>
        </p:grpSpPr>
        <p:sp>
          <p:nvSpPr>
            <p:cNvPr name="Freeform 65" id="65"/>
            <p:cNvSpPr/>
            <p:nvPr/>
          </p:nvSpPr>
          <p:spPr>
            <a:xfrm flipH="false" flipV="false" rot="0">
              <a:off x="0" y="0"/>
              <a:ext cx="1305560" cy="1031240"/>
            </a:xfrm>
            <a:custGeom>
              <a:avLst/>
              <a:gdLst/>
              <a:ahLst/>
              <a:cxnLst/>
              <a:rect r="r" b="b" t="t" l="l"/>
              <a:pathLst>
                <a:path h="1031240" w="1305560">
                  <a:moveTo>
                    <a:pt x="0" y="0"/>
                  </a:moveTo>
                  <a:lnTo>
                    <a:pt x="1305560" y="0"/>
                  </a:lnTo>
                  <a:lnTo>
                    <a:pt x="1305560" y="1031240"/>
                  </a:lnTo>
                  <a:lnTo>
                    <a:pt x="0" y="1031240"/>
                  </a:lnTo>
                  <a:close/>
                </a:path>
              </a:pathLst>
            </a:custGeom>
            <a:solidFill>
              <a:srgbClr val="1B1F24"/>
            </a:solidFill>
            <a:ln w="19050" cap="sq">
              <a:solidFill>
                <a:srgbClr val="A3AEBB"/>
              </a:solidFill>
              <a:prstDash val="solid"/>
              <a:miter/>
            </a:ln>
          </p:spPr>
        </p:sp>
      </p:grpSp>
      <p:grpSp>
        <p:nvGrpSpPr>
          <p:cNvPr name="Group 66" id="66"/>
          <p:cNvGrpSpPr/>
          <p:nvPr/>
        </p:nvGrpSpPr>
        <p:grpSpPr>
          <a:xfrm rot="0">
            <a:off x="14021943" y="7259955"/>
            <a:ext cx="979170" cy="773430"/>
            <a:chOff x="0" y="0"/>
            <a:chExt cx="1305560" cy="1031240"/>
          </a:xfrm>
        </p:grpSpPr>
        <p:sp>
          <p:nvSpPr>
            <p:cNvPr name="Freeform 67" id="67"/>
            <p:cNvSpPr/>
            <p:nvPr/>
          </p:nvSpPr>
          <p:spPr>
            <a:xfrm flipH="false" flipV="false" rot="0">
              <a:off x="0" y="0"/>
              <a:ext cx="1305560" cy="1031240"/>
            </a:xfrm>
            <a:custGeom>
              <a:avLst/>
              <a:gdLst/>
              <a:ahLst/>
              <a:cxnLst/>
              <a:rect r="r" b="b" t="t" l="l"/>
              <a:pathLst>
                <a:path h="1031240" w="1305560">
                  <a:moveTo>
                    <a:pt x="0" y="0"/>
                  </a:moveTo>
                  <a:lnTo>
                    <a:pt x="1305560" y="0"/>
                  </a:lnTo>
                  <a:lnTo>
                    <a:pt x="1305560" y="1031240"/>
                  </a:lnTo>
                  <a:lnTo>
                    <a:pt x="0" y="1031240"/>
                  </a:lnTo>
                  <a:close/>
                </a:path>
              </a:pathLst>
            </a:custGeom>
            <a:solidFill>
              <a:srgbClr val="1B1F24"/>
            </a:solidFill>
            <a:ln w="19050" cap="sq">
              <a:solidFill>
                <a:srgbClr val="A3AEBB"/>
              </a:solidFill>
              <a:prstDash val="solid"/>
              <a:miter/>
            </a:ln>
          </p:spPr>
        </p:sp>
      </p:grpSp>
      <p:grpSp>
        <p:nvGrpSpPr>
          <p:cNvPr name="Group 68" id="68"/>
          <p:cNvGrpSpPr/>
          <p:nvPr/>
        </p:nvGrpSpPr>
        <p:grpSpPr>
          <a:xfrm rot="0">
            <a:off x="15228951" y="7259955"/>
            <a:ext cx="979170" cy="773430"/>
            <a:chOff x="0" y="0"/>
            <a:chExt cx="1305560" cy="1031240"/>
          </a:xfrm>
        </p:grpSpPr>
        <p:sp>
          <p:nvSpPr>
            <p:cNvPr name="Freeform 69" id="69"/>
            <p:cNvSpPr/>
            <p:nvPr/>
          </p:nvSpPr>
          <p:spPr>
            <a:xfrm flipH="false" flipV="false" rot="0">
              <a:off x="0" y="0"/>
              <a:ext cx="1305560" cy="1031240"/>
            </a:xfrm>
            <a:custGeom>
              <a:avLst/>
              <a:gdLst/>
              <a:ahLst/>
              <a:cxnLst/>
              <a:rect r="r" b="b" t="t" l="l"/>
              <a:pathLst>
                <a:path h="1031240" w="1305560">
                  <a:moveTo>
                    <a:pt x="0" y="0"/>
                  </a:moveTo>
                  <a:lnTo>
                    <a:pt x="1305560" y="0"/>
                  </a:lnTo>
                  <a:lnTo>
                    <a:pt x="1305560" y="1031240"/>
                  </a:lnTo>
                  <a:lnTo>
                    <a:pt x="0" y="1031240"/>
                  </a:lnTo>
                  <a:close/>
                </a:path>
              </a:pathLst>
            </a:custGeom>
            <a:solidFill>
              <a:srgbClr val="1B1F24"/>
            </a:solidFill>
            <a:ln w="19050" cap="sq">
              <a:solidFill>
                <a:srgbClr val="A3AEBB"/>
              </a:solidFill>
              <a:prstDash val="solid"/>
              <a:miter/>
            </a:ln>
          </p:spPr>
        </p:sp>
      </p:grpSp>
      <p:grpSp>
        <p:nvGrpSpPr>
          <p:cNvPr name="Group 70" id="70"/>
          <p:cNvGrpSpPr/>
          <p:nvPr/>
        </p:nvGrpSpPr>
        <p:grpSpPr>
          <a:xfrm rot="0">
            <a:off x="16435959" y="7259955"/>
            <a:ext cx="979170" cy="773430"/>
            <a:chOff x="0" y="0"/>
            <a:chExt cx="1305560" cy="1031240"/>
          </a:xfrm>
        </p:grpSpPr>
        <p:sp>
          <p:nvSpPr>
            <p:cNvPr name="Freeform 71" id="71"/>
            <p:cNvSpPr/>
            <p:nvPr/>
          </p:nvSpPr>
          <p:spPr>
            <a:xfrm flipH="false" flipV="false" rot="0">
              <a:off x="0" y="0"/>
              <a:ext cx="1305560" cy="1031240"/>
            </a:xfrm>
            <a:custGeom>
              <a:avLst/>
              <a:gdLst/>
              <a:ahLst/>
              <a:cxnLst/>
              <a:rect r="r" b="b" t="t" l="l"/>
              <a:pathLst>
                <a:path h="1031240" w="1305560">
                  <a:moveTo>
                    <a:pt x="0" y="0"/>
                  </a:moveTo>
                  <a:lnTo>
                    <a:pt x="1305560" y="0"/>
                  </a:lnTo>
                  <a:lnTo>
                    <a:pt x="1305560" y="1031240"/>
                  </a:lnTo>
                  <a:lnTo>
                    <a:pt x="0" y="1031240"/>
                  </a:lnTo>
                  <a:close/>
                </a:path>
              </a:pathLst>
            </a:custGeom>
            <a:solidFill>
              <a:srgbClr val="1B1F24"/>
            </a:solidFill>
            <a:ln w="19050" cap="sq">
              <a:solidFill>
                <a:srgbClr val="A3AEBB"/>
              </a:solidFill>
              <a:prstDash val="solid"/>
              <a:miter/>
            </a:ln>
          </p:spPr>
        </p:sp>
      </p:grpSp>
      <p:grpSp>
        <p:nvGrpSpPr>
          <p:cNvPr name="Group 72" id="72"/>
          <p:cNvGrpSpPr/>
          <p:nvPr/>
        </p:nvGrpSpPr>
        <p:grpSpPr>
          <a:xfrm rot="0">
            <a:off x="12540615" y="8329803"/>
            <a:ext cx="128778" cy="211074"/>
            <a:chOff x="0" y="0"/>
            <a:chExt cx="171704" cy="281432"/>
          </a:xfrm>
        </p:grpSpPr>
        <p:sp>
          <p:nvSpPr>
            <p:cNvPr name="Freeform 73" id="73"/>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74" id="74"/>
          <p:cNvGrpSpPr/>
          <p:nvPr/>
        </p:nvGrpSpPr>
        <p:grpSpPr>
          <a:xfrm rot="0">
            <a:off x="12746355" y="8329803"/>
            <a:ext cx="128778" cy="211074"/>
            <a:chOff x="0" y="0"/>
            <a:chExt cx="171704" cy="281432"/>
          </a:xfrm>
        </p:grpSpPr>
        <p:sp>
          <p:nvSpPr>
            <p:cNvPr name="Freeform 75" id="75"/>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76" id="76"/>
          <p:cNvGrpSpPr/>
          <p:nvPr/>
        </p:nvGrpSpPr>
        <p:grpSpPr>
          <a:xfrm rot="0">
            <a:off x="12952095" y="8329803"/>
            <a:ext cx="128778" cy="211074"/>
            <a:chOff x="0" y="0"/>
            <a:chExt cx="171704" cy="281432"/>
          </a:xfrm>
        </p:grpSpPr>
        <p:sp>
          <p:nvSpPr>
            <p:cNvPr name="Freeform 77" id="77"/>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78" id="78"/>
          <p:cNvGrpSpPr/>
          <p:nvPr/>
        </p:nvGrpSpPr>
        <p:grpSpPr>
          <a:xfrm rot="0">
            <a:off x="13157835" y="8329803"/>
            <a:ext cx="128778" cy="211074"/>
            <a:chOff x="0" y="0"/>
            <a:chExt cx="171704" cy="281432"/>
          </a:xfrm>
        </p:grpSpPr>
        <p:sp>
          <p:nvSpPr>
            <p:cNvPr name="Freeform 79" id="79"/>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80" id="80"/>
          <p:cNvGrpSpPr/>
          <p:nvPr/>
        </p:nvGrpSpPr>
        <p:grpSpPr>
          <a:xfrm rot="0">
            <a:off x="13363575" y="8329803"/>
            <a:ext cx="128778" cy="211074"/>
            <a:chOff x="0" y="0"/>
            <a:chExt cx="171704" cy="281432"/>
          </a:xfrm>
        </p:grpSpPr>
        <p:sp>
          <p:nvSpPr>
            <p:cNvPr name="Freeform 81" id="81"/>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82" id="82"/>
          <p:cNvGrpSpPr/>
          <p:nvPr/>
        </p:nvGrpSpPr>
        <p:grpSpPr>
          <a:xfrm rot="0">
            <a:off x="13569315" y="8329803"/>
            <a:ext cx="128778" cy="211074"/>
            <a:chOff x="0" y="0"/>
            <a:chExt cx="171704" cy="281432"/>
          </a:xfrm>
        </p:grpSpPr>
        <p:sp>
          <p:nvSpPr>
            <p:cNvPr name="Freeform 83" id="83"/>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84" id="84"/>
          <p:cNvGrpSpPr/>
          <p:nvPr/>
        </p:nvGrpSpPr>
        <p:grpSpPr>
          <a:xfrm rot="0">
            <a:off x="13775055" y="8329803"/>
            <a:ext cx="128778" cy="211074"/>
            <a:chOff x="0" y="0"/>
            <a:chExt cx="171704" cy="281432"/>
          </a:xfrm>
        </p:grpSpPr>
        <p:sp>
          <p:nvSpPr>
            <p:cNvPr name="Freeform 85" id="85"/>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86" id="86"/>
          <p:cNvGrpSpPr/>
          <p:nvPr/>
        </p:nvGrpSpPr>
        <p:grpSpPr>
          <a:xfrm rot="0">
            <a:off x="13980795" y="8329803"/>
            <a:ext cx="128778" cy="211074"/>
            <a:chOff x="0" y="0"/>
            <a:chExt cx="171704" cy="281432"/>
          </a:xfrm>
        </p:grpSpPr>
        <p:sp>
          <p:nvSpPr>
            <p:cNvPr name="Freeform 87" id="87"/>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88" id="88"/>
          <p:cNvGrpSpPr/>
          <p:nvPr/>
        </p:nvGrpSpPr>
        <p:grpSpPr>
          <a:xfrm rot="0">
            <a:off x="14186535" y="8329803"/>
            <a:ext cx="128778" cy="211074"/>
            <a:chOff x="0" y="0"/>
            <a:chExt cx="171704" cy="281432"/>
          </a:xfrm>
        </p:grpSpPr>
        <p:sp>
          <p:nvSpPr>
            <p:cNvPr name="Freeform 89" id="89"/>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90" id="90"/>
          <p:cNvGrpSpPr/>
          <p:nvPr/>
        </p:nvGrpSpPr>
        <p:grpSpPr>
          <a:xfrm rot="0">
            <a:off x="14392275" y="8329803"/>
            <a:ext cx="128778" cy="211074"/>
            <a:chOff x="0" y="0"/>
            <a:chExt cx="171704" cy="281432"/>
          </a:xfrm>
        </p:grpSpPr>
        <p:sp>
          <p:nvSpPr>
            <p:cNvPr name="Freeform 91" id="91"/>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92" id="92"/>
          <p:cNvGrpSpPr/>
          <p:nvPr/>
        </p:nvGrpSpPr>
        <p:grpSpPr>
          <a:xfrm rot="0">
            <a:off x="14598015" y="8329803"/>
            <a:ext cx="128778" cy="211074"/>
            <a:chOff x="0" y="0"/>
            <a:chExt cx="171704" cy="281432"/>
          </a:xfrm>
        </p:grpSpPr>
        <p:sp>
          <p:nvSpPr>
            <p:cNvPr name="Freeform 93" id="93"/>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94" id="94"/>
          <p:cNvGrpSpPr/>
          <p:nvPr/>
        </p:nvGrpSpPr>
        <p:grpSpPr>
          <a:xfrm rot="0">
            <a:off x="14803755" y="8329803"/>
            <a:ext cx="128778" cy="211074"/>
            <a:chOff x="0" y="0"/>
            <a:chExt cx="171704" cy="281432"/>
          </a:xfrm>
        </p:grpSpPr>
        <p:sp>
          <p:nvSpPr>
            <p:cNvPr name="Freeform 95" id="95"/>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96" id="96"/>
          <p:cNvGrpSpPr/>
          <p:nvPr/>
        </p:nvGrpSpPr>
        <p:grpSpPr>
          <a:xfrm rot="0">
            <a:off x="15009495" y="8329803"/>
            <a:ext cx="128778" cy="211074"/>
            <a:chOff x="0" y="0"/>
            <a:chExt cx="171704" cy="281432"/>
          </a:xfrm>
        </p:grpSpPr>
        <p:sp>
          <p:nvSpPr>
            <p:cNvPr name="Freeform 97" id="97"/>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98" id="98"/>
          <p:cNvGrpSpPr/>
          <p:nvPr/>
        </p:nvGrpSpPr>
        <p:grpSpPr>
          <a:xfrm rot="0">
            <a:off x="15215235" y="8329803"/>
            <a:ext cx="128778" cy="211074"/>
            <a:chOff x="0" y="0"/>
            <a:chExt cx="171704" cy="281432"/>
          </a:xfrm>
        </p:grpSpPr>
        <p:sp>
          <p:nvSpPr>
            <p:cNvPr name="Freeform 99" id="99"/>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00" id="100"/>
          <p:cNvGrpSpPr/>
          <p:nvPr/>
        </p:nvGrpSpPr>
        <p:grpSpPr>
          <a:xfrm rot="0">
            <a:off x="15420975" y="8329803"/>
            <a:ext cx="128778" cy="211074"/>
            <a:chOff x="0" y="0"/>
            <a:chExt cx="171704" cy="281432"/>
          </a:xfrm>
        </p:grpSpPr>
        <p:sp>
          <p:nvSpPr>
            <p:cNvPr name="Freeform 101" id="101"/>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02" id="102"/>
          <p:cNvGrpSpPr/>
          <p:nvPr/>
        </p:nvGrpSpPr>
        <p:grpSpPr>
          <a:xfrm rot="0">
            <a:off x="15626715" y="8329803"/>
            <a:ext cx="128778" cy="211074"/>
            <a:chOff x="0" y="0"/>
            <a:chExt cx="171704" cy="281432"/>
          </a:xfrm>
        </p:grpSpPr>
        <p:sp>
          <p:nvSpPr>
            <p:cNvPr name="Freeform 103" id="103"/>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04" id="104"/>
          <p:cNvGrpSpPr/>
          <p:nvPr/>
        </p:nvGrpSpPr>
        <p:grpSpPr>
          <a:xfrm rot="0">
            <a:off x="15832455" y="8329803"/>
            <a:ext cx="128778" cy="211074"/>
            <a:chOff x="0" y="0"/>
            <a:chExt cx="171704" cy="281432"/>
          </a:xfrm>
        </p:grpSpPr>
        <p:sp>
          <p:nvSpPr>
            <p:cNvPr name="Freeform 105" id="105"/>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06" id="106"/>
          <p:cNvGrpSpPr/>
          <p:nvPr/>
        </p:nvGrpSpPr>
        <p:grpSpPr>
          <a:xfrm rot="0">
            <a:off x="16038195" y="8329803"/>
            <a:ext cx="128778" cy="211074"/>
            <a:chOff x="0" y="0"/>
            <a:chExt cx="171704" cy="281432"/>
          </a:xfrm>
        </p:grpSpPr>
        <p:sp>
          <p:nvSpPr>
            <p:cNvPr name="Freeform 107" id="107"/>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08" id="108"/>
          <p:cNvGrpSpPr/>
          <p:nvPr/>
        </p:nvGrpSpPr>
        <p:grpSpPr>
          <a:xfrm rot="0">
            <a:off x="16243935" y="8329803"/>
            <a:ext cx="128778" cy="211074"/>
            <a:chOff x="0" y="0"/>
            <a:chExt cx="171704" cy="281432"/>
          </a:xfrm>
        </p:grpSpPr>
        <p:sp>
          <p:nvSpPr>
            <p:cNvPr name="Freeform 109" id="109"/>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10" id="110"/>
          <p:cNvGrpSpPr/>
          <p:nvPr/>
        </p:nvGrpSpPr>
        <p:grpSpPr>
          <a:xfrm rot="0">
            <a:off x="16449675" y="8329803"/>
            <a:ext cx="128778" cy="211074"/>
            <a:chOff x="0" y="0"/>
            <a:chExt cx="171704" cy="281432"/>
          </a:xfrm>
        </p:grpSpPr>
        <p:sp>
          <p:nvSpPr>
            <p:cNvPr name="Freeform 111" id="111"/>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12" id="112"/>
          <p:cNvGrpSpPr/>
          <p:nvPr/>
        </p:nvGrpSpPr>
        <p:grpSpPr>
          <a:xfrm rot="0">
            <a:off x="16655415" y="8329803"/>
            <a:ext cx="128778" cy="211074"/>
            <a:chOff x="0" y="0"/>
            <a:chExt cx="171704" cy="281432"/>
          </a:xfrm>
        </p:grpSpPr>
        <p:sp>
          <p:nvSpPr>
            <p:cNvPr name="Freeform 113" id="113"/>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14" id="114"/>
          <p:cNvGrpSpPr/>
          <p:nvPr/>
        </p:nvGrpSpPr>
        <p:grpSpPr>
          <a:xfrm rot="0">
            <a:off x="16861155" y="8329803"/>
            <a:ext cx="128778" cy="211074"/>
            <a:chOff x="0" y="0"/>
            <a:chExt cx="171704" cy="281432"/>
          </a:xfrm>
        </p:grpSpPr>
        <p:sp>
          <p:nvSpPr>
            <p:cNvPr name="Freeform 115" id="115"/>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16" id="116"/>
          <p:cNvGrpSpPr/>
          <p:nvPr/>
        </p:nvGrpSpPr>
        <p:grpSpPr>
          <a:xfrm rot="0">
            <a:off x="17066895" y="8329803"/>
            <a:ext cx="128778" cy="211074"/>
            <a:chOff x="0" y="0"/>
            <a:chExt cx="171704" cy="281432"/>
          </a:xfrm>
        </p:grpSpPr>
        <p:sp>
          <p:nvSpPr>
            <p:cNvPr name="Freeform 117" id="117"/>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grpSp>
        <p:nvGrpSpPr>
          <p:cNvPr name="Group 118" id="118"/>
          <p:cNvGrpSpPr/>
          <p:nvPr/>
        </p:nvGrpSpPr>
        <p:grpSpPr>
          <a:xfrm rot="0">
            <a:off x="17272635" y="8329803"/>
            <a:ext cx="128778" cy="211074"/>
            <a:chOff x="0" y="0"/>
            <a:chExt cx="171704" cy="281432"/>
          </a:xfrm>
        </p:grpSpPr>
        <p:sp>
          <p:nvSpPr>
            <p:cNvPr name="Freeform 119" id="119"/>
            <p:cNvSpPr/>
            <p:nvPr/>
          </p:nvSpPr>
          <p:spPr>
            <a:xfrm flipH="false" flipV="false" rot="0">
              <a:off x="0" y="0"/>
              <a:ext cx="171704" cy="281432"/>
            </a:xfrm>
            <a:custGeom>
              <a:avLst/>
              <a:gdLst/>
              <a:ahLst/>
              <a:cxnLst/>
              <a:rect r="r" b="b" t="t" l="l"/>
              <a:pathLst>
                <a:path h="281432" w="171704">
                  <a:moveTo>
                    <a:pt x="0" y="0"/>
                  </a:moveTo>
                  <a:lnTo>
                    <a:pt x="171704" y="0"/>
                  </a:lnTo>
                  <a:lnTo>
                    <a:pt x="171704" y="281432"/>
                  </a:lnTo>
                  <a:lnTo>
                    <a:pt x="0" y="281432"/>
                  </a:lnTo>
                  <a:close/>
                </a:path>
              </a:pathLst>
            </a:custGeom>
            <a:solidFill>
              <a:srgbClr val="3A424C"/>
            </a:solidFill>
            <a:ln w="19050" cap="sq">
              <a:solidFill>
                <a:srgbClr val="3A424C"/>
              </a:solidFill>
              <a:prstDash val="solid"/>
              <a:miter/>
            </a:ln>
          </p:spPr>
        </p:sp>
      </p:grpSp>
      <p:sp>
        <p:nvSpPr>
          <p:cNvPr name="TextBox 120" id="120"/>
          <p:cNvSpPr txBox="true"/>
          <p:nvPr/>
        </p:nvSpPr>
        <p:spPr>
          <a:xfrm rot="0">
            <a:off x="12481560" y="8709660"/>
            <a:ext cx="5212080" cy="411480"/>
          </a:xfrm>
          <a:prstGeom prst="rect">
            <a:avLst/>
          </a:prstGeom>
        </p:spPr>
        <p:txBody>
          <a:bodyPr anchor="t" rtlCol="false" tIns="0" lIns="0" bIns="0" rIns="0">
            <a:spAutoFit/>
          </a:bodyPr>
          <a:lstStyle/>
          <a:p>
            <a:pPr algn="ctr">
              <a:lnSpc>
                <a:spcPts val="1980"/>
              </a:lnSpc>
            </a:pPr>
            <a:r>
              <a:rPr lang="en-US" sz="1650">
                <a:solidFill>
                  <a:srgbClr val="A3AEBB"/>
                </a:solidFill>
                <a:latin typeface="Courier New"/>
                <a:ea typeface="Courier New"/>
                <a:cs typeface="Courier New"/>
                <a:sym typeface="Courier New"/>
              </a:rPr>
              <a:t>RAM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sp>
        <p:nvSpPr>
          <p:cNvPr name="TextBox 5" id="5"/>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01  PROBLEM</a:t>
            </a:r>
          </a:p>
        </p:txBody>
      </p:sp>
      <p:sp>
        <p:nvSpPr>
          <p:cNvPr name="TextBox 6" id="6"/>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Why a simple stress tool?</a:t>
            </a:r>
          </a:p>
        </p:txBody>
      </p:sp>
      <p:sp>
        <p:nvSpPr>
          <p:cNvPr name="TextBox 7" id="7"/>
          <p:cNvSpPr txBox="true"/>
          <p:nvPr/>
        </p:nvSpPr>
        <p:spPr>
          <a:xfrm rot="0">
            <a:off x="822960" y="2402205"/>
            <a:ext cx="7406640" cy="615315"/>
          </a:xfrm>
          <a:prstGeom prst="rect">
            <a:avLst/>
          </a:prstGeom>
        </p:spPr>
        <p:txBody>
          <a:bodyPr anchor="t" rtlCol="false" tIns="0" lIns="0" bIns="0" rIns="0">
            <a:spAutoFit/>
          </a:bodyPr>
          <a:lstStyle/>
          <a:p>
            <a:pPr algn="l">
              <a:lnSpc>
                <a:spcPts val="3600"/>
              </a:lnSpc>
            </a:pPr>
            <a:r>
              <a:rPr lang="en-US" sz="3000" b="true">
                <a:solidFill>
                  <a:srgbClr val="2F9BFF"/>
                </a:solidFill>
                <a:latin typeface="Calibri (MS) Bold"/>
                <a:ea typeface="Calibri (MS) Bold"/>
                <a:cs typeface="Calibri (MS) Bold"/>
                <a:sym typeface="Calibri (MS) Bold"/>
              </a:rPr>
              <a:t>Controlled load</a:t>
            </a:r>
          </a:p>
        </p:txBody>
      </p:sp>
      <p:sp>
        <p:nvSpPr>
          <p:cNvPr name="TextBox 8" id="8"/>
          <p:cNvSpPr txBox="true"/>
          <p:nvPr/>
        </p:nvSpPr>
        <p:spPr>
          <a:xfrm rot="0">
            <a:off x="822960" y="3028950"/>
            <a:ext cx="7406640" cy="1565910"/>
          </a:xfrm>
          <a:prstGeom prst="rect">
            <a:avLst/>
          </a:prstGeom>
        </p:spPr>
        <p:txBody>
          <a:bodyPr anchor="t" rtlCol="false" tIns="0" lIns="0" bIns="0" rIns="0">
            <a:spAutoFit/>
          </a:bodyPr>
          <a:lstStyle/>
          <a:p>
            <a:pPr algn="l">
              <a:lnSpc>
                <a:spcPts val="2700"/>
              </a:lnSpc>
            </a:pPr>
            <a:r>
              <a:rPr lang="en-US" sz="2250">
                <a:solidFill>
                  <a:srgbClr val="EDF1F5"/>
                </a:solidFill>
                <a:latin typeface="Calibri (MS)"/>
                <a:ea typeface="Calibri (MS)"/>
                <a:cs typeface="Calibri (MS)"/>
                <a:sym typeface="Calibri (MS)"/>
              </a:rPr>
              <a:t>Students need an easy way to apply a known CPU and memory load on Ubuntu.</a:t>
            </a:r>
          </a:p>
        </p:txBody>
      </p:sp>
      <p:sp>
        <p:nvSpPr>
          <p:cNvPr name="TextBox 9" id="9"/>
          <p:cNvSpPr txBox="true"/>
          <p:nvPr/>
        </p:nvSpPr>
        <p:spPr>
          <a:xfrm rot="0">
            <a:off x="822960" y="4733925"/>
            <a:ext cx="7406640" cy="615315"/>
          </a:xfrm>
          <a:prstGeom prst="rect">
            <a:avLst/>
          </a:prstGeom>
        </p:spPr>
        <p:txBody>
          <a:bodyPr anchor="t" rtlCol="false" tIns="0" lIns="0" bIns="0" rIns="0">
            <a:spAutoFit/>
          </a:bodyPr>
          <a:lstStyle/>
          <a:p>
            <a:pPr algn="l">
              <a:lnSpc>
                <a:spcPts val="3600"/>
              </a:lnSpc>
            </a:pPr>
            <a:r>
              <a:rPr lang="en-US" sz="3000" b="true">
                <a:solidFill>
                  <a:srgbClr val="2F9BFF"/>
                </a:solidFill>
                <a:latin typeface="Calibri (MS) Bold"/>
                <a:ea typeface="Calibri (MS) Bold"/>
                <a:cs typeface="Calibri (MS) Bold"/>
                <a:sym typeface="Calibri (MS) Bold"/>
              </a:rPr>
              <a:t>Observe behaviour</a:t>
            </a:r>
          </a:p>
        </p:txBody>
      </p:sp>
      <p:sp>
        <p:nvSpPr>
          <p:cNvPr name="TextBox 10" id="10"/>
          <p:cNvSpPr txBox="true"/>
          <p:nvPr/>
        </p:nvSpPr>
        <p:spPr>
          <a:xfrm rot="0">
            <a:off x="822960" y="5360670"/>
            <a:ext cx="7406640" cy="1565910"/>
          </a:xfrm>
          <a:prstGeom prst="rect">
            <a:avLst/>
          </a:prstGeom>
        </p:spPr>
        <p:txBody>
          <a:bodyPr anchor="t" rtlCol="false" tIns="0" lIns="0" bIns="0" rIns="0">
            <a:spAutoFit/>
          </a:bodyPr>
          <a:lstStyle/>
          <a:p>
            <a:pPr algn="l">
              <a:lnSpc>
                <a:spcPts val="2700"/>
              </a:lnSpc>
            </a:pPr>
            <a:r>
              <a:rPr lang="en-US" sz="2250">
                <a:solidFill>
                  <a:srgbClr val="EDF1F5"/>
                </a:solidFill>
                <a:latin typeface="Calibri (MS)"/>
                <a:ea typeface="Calibri (MS)"/>
                <a:cs typeface="Calibri (MS)"/>
                <a:sym typeface="Calibri (MS)"/>
              </a:rPr>
              <a:t>With load applied, system behaviour under resource pressure can be watched in tools such as htop and free.</a:t>
            </a:r>
          </a:p>
        </p:txBody>
      </p:sp>
      <p:sp>
        <p:nvSpPr>
          <p:cNvPr name="TextBox 11" id="11"/>
          <p:cNvSpPr txBox="true"/>
          <p:nvPr/>
        </p:nvSpPr>
        <p:spPr>
          <a:xfrm rot="0">
            <a:off x="822960" y="7065645"/>
            <a:ext cx="7406640" cy="615315"/>
          </a:xfrm>
          <a:prstGeom prst="rect">
            <a:avLst/>
          </a:prstGeom>
        </p:spPr>
        <p:txBody>
          <a:bodyPr anchor="t" rtlCol="false" tIns="0" lIns="0" bIns="0" rIns="0">
            <a:spAutoFit/>
          </a:bodyPr>
          <a:lstStyle/>
          <a:p>
            <a:pPr algn="l">
              <a:lnSpc>
                <a:spcPts val="3600"/>
              </a:lnSpc>
            </a:pPr>
            <a:r>
              <a:rPr lang="en-US" sz="3000" b="true">
                <a:solidFill>
                  <a:srgbClr val="2F9BFF"/>
                </a:solidFill>
                <a:latin typeface="Calibri (MS) Bold"/>
                <a:ea typeface="Calibri (MS) Bold"/>
                <a:cs typeface="Calibri (MS) Bold"/>
                <a:sym typeface="Calibri (MS) Bold"/>
              </a:rPr>
              <a:t>Approachable</a:t>
            </a:r>
          </a:p>
        </p:txBody>
      </p:sp>
      <p:sp>
        <p:nvSpPr>
          <p:cNvPr name="TextBox 12" id="12"/>
          <p:cNvSpPr txBox="true"/>
          <p:nvPr/>
        </p:nvSpPr>
        <p:spPr>
          <a:xfrm rot="0">
            <a:off x="822960" y="7692390"/>
            <a:ext cx="7406640" cy="1565910"/>
          </a:xfrm>
          <a:prstGeom prst="rect">
            <a:avLst/>
          </a:prstGeom>
        </p:spPr>
        <p:txBody>
          <a:bodyPr anchor="t" rtlCol="false" tIns="0" lIns="0" bIns="0" rIns="0">
            <a:spAutoFit/>
          </a:bodyPr>
          <a:lstStyle/>
          <a:p>
            <a:pPr algn="l">
              <a:lnSpc>
                <a:spcPts val="2700"/>
              </a:lnSpc>
            </a:pPr>
            <a:r>
              <a:rPr lang="en-US" sz="2250">
                <a:solidFill>
                  <a:srgbClr val="EDF1F5"/>
                </a:solidFill>
                <a:latin typeface="Calibri (MS)"/>
                <a:ea typeface="Calibri (MS)"/>
                <a:cs typeface="Calibri (MS)"/>
                <a:sym typeface="Calibri (MS)"/>
              </a:rPr>
              <a:t>Existing utilities can be powerful but unfamiliar to beginners. This tool is small and transparent.</a:t>
            </a:r>
          </a:p>
        </p:txBody>
      </p:sp>
      <p:grpSp>
        <p:nvGrpSpPr>
          <p:cNvPr name="Group 13" id="13"/>
          <p:cNvGrpSpPr/>
          <p:nvPr/>
        </p:nvGrpSpPr>
        <p:grpSpPr>
          <a:xfrm rot="0">
            <a:off x="9861232" y="2317433"/>
            <a:ext cx="6612255" cy="1194435"/>
            <a:chOff x="0" y="0"/>
            <a:chExt cx="8816340" cy="1592580"/>
          </a:xfrm>
        </p:grpSpPr>
        <p:sp>
          <p:nvSpPr>
            <p:cNvPr name="Freeform 14" id="14"/>
            <p:cNvSpPr/>
            <p:nvPr/>
          </p:nvSpPr>
          <p:spPr>
            <a:xfrm flipH="false" flipV="false" rot="0">
              <a:off x="0" y="0"/>
              <a:ext cx="8816340" cy="1592580"/>
            </a:xfrm>
            <a:custGeom>
              <a:avLst/>
              <a:gdLst/>
              <a:ahLst/>
              <a:cxnLst/>
              <a:rect r="r" b="b" t="t" l="l"/>
              <a:pathLst>
                <a:path h="1592580" w="8816340">
                  <a:moveTo>
                    <a:pt x="0" y="149860"/>
                  </a:moveTo>
                  <a:cubicBezTo>
                    <a:pt x="0" y="67056"/>
                    <a:pt x="67056" y="0"/>
                    <a:pt x="149860" y="0"/>
                  </a:cubicBezTo>
                  <a:lnTo>
                    <a:pt x="8666480" y="0"/>
                  </a:lnTo>
                  <a:cubicBezTo>
                    <a:pt x="8749285" y="0"/>
                    <a:pt x="8816340" y="67056"/>
                    <a:pt x="8816340" y="149860"/>
                  </a:cubicBezTo>
                  <a:lnTo>
                    <a:pt x="8816340" y="1442720"/>
                  </a:lnTo>
                  <a:cubicBezTo>
                    <a:pt x="8816340" y="1525524"/>
                    <a:pt x="8749285" y="1592580"/>
                    <a:pt x="8666480" y="1592580"/>
                  </a:cubicBezTo>
                  <a:lnTo>
                    <a:pt x="149860" y="1592580"/>
                  </a:lnTo>
                  <a:cubicBezTo>
                    <a:pt x="67056" y="1592580"/>
                    <a:pt x="0" y="1525524"/>
                    <a:pt x="0" y="1442720"/>
                  </a:cubicBezTo>
                  <a:close/>
                </a:path>
              </a:pathLst>
            </a:custGeom>
            <a:solidFill>
              <a:srgbClr val="252B32"/>
            </a:solidFill>
            <a:ln w="28575" cap="sq">
              <a:solidFill>
                <a:srgbClr val="2F9BFF"/>
              </a:solidFill>
              <a:prstDash val="solid"/>
              <a:miter/>
            </a:ln>
          </p:spPr>
        </p:sp>
      </p:grpSp>
      <p:grpSp>
        <p:nvGrpSpPr>
          <p:cNvPr name="Group 15" id="15"/>
          <p:cNvGrpSpPr/>
          <p:nvPr/>
        </p:nvGrpSpPr>
        <p:grpSpPr>
          <a:xfrm rot="0">
            <a:off x="9985248" y="2331720"/>
            <a:ext cx="6364224" cy="1165860"/>
            <a:chOff x="0" y="0"/>
            <a:chExt cx="8485632" cy="1554480"/>
          </a:xfrm>
        </p:grpSpPr>
        <p:sp>
          <p:nvSpPr>
            <p:cNvPr name="Freeform 16" id="16"/>
            <p:cNvSpPr/>
            <p:nvPr/>
          </p:nvSpPr>
          <p:spPr>
            <a:xfrm flipH="false" flipV="false" rot="0">
              <a:off x="0" y="0"/>
              <a:ext cx="8485632" cy="1554480"/>
            </a:xfrm>
            <a:custGeom>
              <a:avLst/>
              <a:gdLst/>
              <a:ahLst/>
              <a:cxnLst/>
              <a:rect r="r" b="b" t="t" l="l"/>
              <a:pathLst>
                <a:path h="1554480" w="8485632">
                  <a:moveTo>
                    <a:pt x="0" y="0"/>
                  </a:moveTo>
                  <a:lnTo>
                    <a:pt x="8485632" y="0"/>
                  </a:lnTo>
                  <a:lnTo>
                    <a:pt x="8485632" y="1554480"/>
                  </a:lnTo>
                  <a:lnTo>
                    <a:pt x="0" y="1554480"/>
                  </a:lnTo>
                  <a:close/>
                </a:path>
              </a:pathLst>
            </a:custGeom>
            <a:blipFill>
              <a:blip r:embed="rId3">
                <a:alphaModFix amt="0"/>
              </a:blip>
              <a:stretch>
                <a:fillRect l="0" t="-56365" r="0" b="-56365"/>
              </a:stretch>
            </a:blipFill>
          </p:spPr>
        </p:sp>
        <p:sp>
          <p:nvSpPr>
            <p:cNvPr name="TextBox 17" id="17"/>
            <p:cNvSpPr txBox="true"/>
            <p:nvPr/>
          </p:nvSpPr>
          <p:spPr>
            <a:xfrm>
              <a:off x="0" y="-57150"/>
              <a:ext cx="8485632" cy="161163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Your settings</a:t>
              </a:r>
            </a:p>
            <a:p>
              <a:pPr algn="ctr">
                <a:lnSpc>
                  <a:spcPts val="1980"/>
                </a:lnSpc>
              </a:pPr>
              <a:r>
                <a:rPr lang="en-US" sz="1650">
                  <a:solidFill>
                    <a:srgbClr val="A3AEBB"/>
                  </a:solidFill>
                  <a:latin typeface="Calibri (MS)"/>
                  <a:ea typeface="Calibri (MS)"/>
                  <a:cs typeface="Calibri (MS)"/>
                  <a:sym typeface="Calibri (MS)"/>
                </a:rPr>
                <a:t>seconds, CPU threads, memory MB</a:t>
              </a:r>
            </a:p>
          </p:txBody>
        </p:sp>
      </p:grpSp>
      <p:grpSp>
        <p:nvGrpSpPr>
          <p:cNvPr name="Group 18" id="18"/>
          <p:cNvGrpSpPr/>
          <p:nvPr/>
        </p:nvGrpSpPr>
        <p:grpSpPr>
          <a:xfrm rot="0">
            <a:off x="9861232" y="4031933"/>
            <a:ext cx="6612255" cy="1194435"/>
            <a:chOff x="0" y="0"/>
            <a:chExt cx="8816340" cy="1592580"/>
          </a:xfrm>
        </p:grpSpPr>
        <p:sp>
          <p:nvSpPr>
            <p:cNvPr name="Freeform 19" id="19"/>
            <p:cNvSpPr/>
            <p:nvPr/>
          </p:nvSpPr>
          <p:spPr>
            <a:xfrm flipH="false" flipV="false" rot="0">
              <a:off x="0" y="0"/>
              <a:ext cx="8816340" cy="1592580"/>
            </a:xfrm>
            <a:custGeom>
              <a:avLst/>
              <a:gdLst/>
              <a:ahLst/>
              <a:cxnLst/>
              <a:rect r="r" b="b" t="t" l="l"/>
              <a:pathLst>
                <a:path h="1592580" w="8816340">
                  <a:moveTo>
                    <a:pt x="0" y="149860"/>
                  </a:moveTo>
                  <a:cubicBezTo>
                    <a:pt x="0" y="67056"/>
                    <a:pt x="67056" y="0"/>
                    <a:pt x="149860" y="0"/>
                  </a:cubicBezTo>
                  <a:lnTo>
                    <a:pt x="8666480" y="0"/>
                  </a:lnTo>
                  <a:cubicBezTo>
                    <a:pt x="8749285" y="0"/>
                    <a:pt x="8816340" y="67056"/>
                    <a:pt x="8816340" y="149860"/>
                  </a:cubicBezTo>
                  <a:lnTo>
                    <a:pt x="8816340" y="1442720"/>
                  </a:lnTo>
                  <a:cubicBezTo>
                    <a:pt x="8816340" y="1525524"/>
                    <a:pt x="8749285" y="1592580"/>
                    <a:pt x="8666480" y="1592580"/>
                  </a:cubicBezTo>
                  <a:lnTo>
                    <a:pt x="149860" y="1592580"/>
                  </a:lnTo>
                  <a:cubicBezTo>
                    <a:pt x="67056" y="1592580"/>
                    <a:pt x="0" y="1525524"/>
                    <a:pt x="0" y="1442720"/>
                  </a:cubicBezTo>
                  <a:close/>
                </a:path>
              </a:pathLst>
            </a:custGeom>
            <a:solidFill>
              <a:srgbClr val="252B32"/>
            </a:solidFill>
            <a:ln w="28575" cap="sq">
              <a:solidFill>
                <a:srgbClr val="2F9BFF"/>
              </a:solidFill>
              <a:prstDash val="solid"/>
              <a:miter/>
            </a:ln>
          </p:spPr>
        </p:sp>
      </p:grpSp>
      <p:grpSp>
        <p:nvGrpSpPr>
          <p:cNvPr name="Group 20" id="20"/>
          <p:cNvGrpSpPr/>
          <p:nvPr/>
        </p:nvGrpSpPr>
        <p:grpSpPr>
          <a:xfrm rot="0">
            <a:off x="9985248" y="4046220"/>
            <a:ext cx="6364224" cy="1165860"/>
            <a:chOff x="0" y="0"/>
            <a:chExt cx="8485632" cy="1554480"/>
          </a:xfrm>
        </p:grpSpPr>
        <p:sp>
          <p:nvSpPr>
            <p:cNvPr name="Freeform 21" id="21"/>
            <p:cNvSpPr/>
            <p:nvPr/>
          </p:nvSpPr>
          <p:spPr>
            <a:xfrm flipH="false" flipV="false" rot="0">
              <a:off x="0" y="0"/>
              <a:ext cx="8485632" cy="1554480"/>
            </a:xfrm>
            <a:custGeom>
              <a:avLst/>
              <a:gdLst/>
              <a:ahLst/>
              <a:cxnLst/>
              <a:rect r="r" b="b" t="t" l="l"/>
              <a:pathLst>
                <a:path h="1554480" w="8485632">
                  <a:moveTo>
                    <a:pt x="0" y="0"/>
                  </a:moveTo>
                  <a:lnTo>
                    <a:pt x="8485632" y="0"/>
                  </a:lnTo>
                  <a:lnTo>
                    <a:pt x="8485632" y="1554480"/>
                  </a:lnTo>
                  <a:lnTo>
                    <a:pt x="0" y="1554480"/>
                  </a:lnTo>
                  <a:close/>
                </a:path>
              </a:pathLst>
            </a:custGeom>
            <a:blipFill>
              <a:blip r:embed="rId3">
                <a:alphaModFix amt="0"/>
              </a:blip>
              <a:stretch>
                <a:fillRect l="0" t="-56365" r="0" b="-56365"/>
              </a:stretch>
            </a:blipFill>
          </p:spPr>
        </p:sp>
        <p:sp>
          <p:nvSpPr>
            <p:cNvPr name="TextBox 22" id="22"/>
            <p:cNvSpPr txBox="true"/>
            <p:nvPr/>
          </p:nvSpPr>
          <p:spPr>
            <a:xfrm>
              <a:off x="0" y="-57150"/>
              <a:ext cx="8485632" cy="161163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stress-test</a:t>
              </a:r>
            </a:p>
            <a:p>
              <a:pPr algn="ctr">
                <a:lnSpc>
                  <a:spcPts val="1980"/>
                </a:lnSpc>
              </a:pPr>
              <a:r>
                <a:rPr lang="en-US" sz="1650">
                  <a:solidFill>
                    <a:srgbClr val="A3AEBB"/>
                  </a:solidFill>
                  <a:latin typeface="Calibri (MS)"/>
                  <a:ea typeface="Calibri (MS)"/>
                  <a:cs typeface="Calibri (MS)"/>
                  <a:sym typeface="Calibri (MS)"/>
                </a:rPr>
                <a:t>small C program, runs for a limited time</a:t>
              </a:r>
            </a:p>
          </p:txBody>
        </p:sp>
      </p:grpSp>
      <p:grpSp>
        <p:nvGrpSpPr>
          <p:cNvPr name="Group 23" id="23"/>
          <p:cNvGrpSpPr/>
          <p:nvPr/>
        </p:nvGrpSpPr>
        <p:grpSpPr>
          <a:xfrm rot="0">
            <a:off x="9861232" y="5746432"/>
            <a:ext cx="6612255" cy="1194435"/>
            <a:chOff x="0" y="0"/>
            <a:chExt cx="8816340" cy="1592580"/>
          </a:xfrm>
        </p:grpSpPr>
        <p:sp>
          <p:nvSpPr>
            <p:cNvPr name="Freeform 24" id="24"/>
            <p:cNvSpPr/>
            <p:nvPr/>
          </p:nvSpPr>
          <p:spPr>
            <a:xfrm flipH="false" flipV="false" rot="0">
              <a:off x="0" y="0"/>
              <a:ext cx="8816340" cy="1592580"/>
            </a:xfrm>
            <a:custGeom>
              <a:avLst/>
              <a:gdLst/>
              <a:ahLst/>
              <a:cxnLst/>
              <a:rect r="r" b="b" t="t" l="l"/>
              <a:pathLst>
                <a:path h="1592580" w="8816340">
                  <a:moveTo>
                    <a:pt x="0" y="149860"/>
                  </a:moveTo>
                  <a:cubicBezTo>
                    <a:pt x="0" y="67056"/>
                    <a:pt x="67056" y="0"/>
                    <a:pt x="149860" y="0"/>
                  </a:cubicBezTo>
                  <a:lnTo>
                    <a:pt x="8666480" y="0"/>
                  </a:lnTo>
                  <a:cubicBezTo>
                    <a:pt x="8749285" y="0"/>
                    <a:pt x="8816340" y="67056"/>
                    <a:pt x="8816340" y="149860"/>
                  </a:cubicBezTo>
                  <a:lnTo>
                    <a:pt x="8816340" y="1442720"/>
                  </a:lnTo>
                  <a:cubicBezTo>
                    <a:pt x="8816340" y="1525524"/>
                    <a:pt x="8749285" y="1592580"/>
                    <a:pt x="8666480" y="1592580"/>
                  </a:cubicBezTo>
                  <a:lnTo>
                    <a:pt x="149860" y="1592580"/>
                  </a:lnTo>
                  <a:cubicBezTo>
                    <a:pt x="67056" y="1592580"/>
                    <a:pt x="0" y="1525524"/>
                    <a:pt x="0" y="1442720"/>
                  </a:cubicBezTo>
                  <a:close/>
                </a:path>
              </a:pathLst>
            </a:custGeom>
            <a:solidFill>
              <a:srgbClr val="252B32"/>
            </a:solidFill>
            <a:ln w="28575" cap="sq">
              <a:solidFill>
                <a:srgbClr val="3FB67A"/>
              </a:solidFill>
              <a:prstDash val="solid"/>
              <a:miter/>
            </a:ln>
          </p:spPr>
        </p:sp>
      </p:grpSp>
      <p:grpSp>
        <p:nvGrpSpPr>
          <p:cNvPr name="Group 25" id="25"/>
          <p:cNvGrpSpPr/>
          <p:nvPr/>
        </p:nvGrpSpPr>
        <p:grpSpPr>
          <a:xfrm rot="0">
            <a:off x="9985248" y="5760720"/>
            <a:ext cx="6364224" cy="1165860"/>
            <a:chOff x="0" y="0"/>
            <a:chExt cx="8485632" cy="1554480"/>
          </a:xfrm>
        </p:grpSpPr>
        <p:sp>
          <p:nvSpPr>
            <p:cNvPr name="Freeform 26" id="26"/>
            <p:cNvSpPr/>
            <p:nvPr/>
          </p:nvSpPr>
          <p:spPr>
            <a:xfrm flipH="false" flipV="false" rot="0">
              <a:off x="0" y="0"/>
              <a:ext cx="8485632" cy="1554480"/>
            </a:xfrm>
            <a:custGeom>
              <a:avLst/>
              <a:gdLst/>
              <a:ahLst/>
              <a:cxnLst/>
              <a:rect r="r" b="b" t="t" l="l"/>
              <a:pathLst>
                <a:path h="1554480" w="8485632">
                  <a:moveTo>
                    <a:pt x="0" y="0"/>
                  </a:moveTo>
                  <a:lnTo>
                    <a:pt x="8485632" y="0"/>
                  </a:lnTo>
                  <a:lnTo>
                    <a:pt x="8485632" y="1554480"/>
                  </a:lnTo>
                  <a:lnTo>
                    <a:pt x="0" y="1554480"/>
                  </a:lnTo>
                  <a:close/>
                </a:path>
              </a:pathLst>
            </a:custGeom>
            <a:blipFill>
              <a:blip r:embed="rId3">
                <a:alphaModFix amt="0"/>
              </a:blip>
              <a:stretch>
                <a:fillRect l="0" t="-56365" r="0" b="-56365"/>
              </a:stretch>
            </a:blipFill>
          </p:spPr>
        </p:sp>
        <p:sp>
          <p:nvSpPr>
            <p:cNvPr name="TextBox 27" id="27"/>
            <p:cNvSpPr txBox="true"/>
            <p:nvPr/>
          </p:nvSpPr>
          <p:spPr>
            <a:xfrm>
              <a:off x="0" y="-57150"/>
              <a:ext cx="8485632" cy="161163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CPU and memory under load</a:t>
              </a:r>
            </a:p>
            <a:p>
              <a:pPr algn="ctr">
                <a:lnSpc>
                  <a:spcPts val="1980"/>
                </a:lnSpc>
              </a:pPr>
              <a:r>
                <a:rPr lang="en-US" sz="1650">
                  <a:solidFill>
                    <a:srgbClr val="A3AEBB"/>
                  </a:solidFill>
                  <a:latin typeface="Calibri (MS)"/>
                  <a:ea typeface="Calibri (MS)"/>
                  <a:cs typeface="Calibri (MS)"/>
                  <a:sym typeface="Calibri (MS)"/>
                </a:rPr>
                <a:t>Ubuntu / Linux system</a:t>
              </a:r>
            </a:p>
          </p:txBody>
        </p:sp>
      </p:grpSp>
      <p:grpSp>
        <p:nvGrpSpPr>
          <p:cNvPr name="Group 28" id="28"/>
          <p:cNvGrpSpPr/>
          <p:nvPr/>
        </p:nvGrpSpPr>
        <p:grpSpPr>
          <a:xfrm rot="0">
            <a:off x="9863614" y="7463314"/>
            <a:ext cx="6607493" cy="1189673"/>
            <a:chOff x="0" y="0"/>
            <a:chExt cx="8809990" cy="1586230"/>
          </a:xfrm>
        </p:grpSpPr>
        <p:sp>
          <p:nvSpPr>
            <p:cNvPr name="Freeform 29" id="29"/>
            <p:cNvSpPr/>
            <p:nvPr/>
          </p:nvSpPr>
          <p:spPr>
            <a:xfrm flipH="false" flipV="false" rot="0">
              <a:off x="0" y="0"/>
              <a:ext cx="8809990" cy="1586230"/>
            </a:xfrm>
            <a:custGeom>
              <a:avLst/>
              <a:gdLst/>
              <a:ahLst/>
              <a:cxnLst/>
              <a:rect r="r" b="b" t="t" l="l"/>
              <a:pathLst>
                <a:path h="1586230" w="8809990">
                  <a:moveTo>
                    <a:pt x="0" y="0"/>
                  </a:moveTo>
                  <a:lnTo>
                    <a:pt x="8809990" y="0"/>
                  </a:lnTo>
                  <a:lnTo>
                    <a:pt x="8809990" y="1586230"/>
                  </a:lnTo>
                  <a:lnTo>
                    <a:pt x="0" y="1586230"/>
                  </a:lnTo>
                  <a:close/>
                </a:path>
              </a:pathLst>
            </a:custGeom>
            <a:solidFill>
              <a:srgbClr val="1B1F24"/>
            </a:solidFill>
            <a:ln w="23812" cap="sq">
              <a:solidFill>
                <a:srgbClr val="A3AEBB"/>
              </a:solidFill>
              <a:prstDash val="dash"/>
              <a:miter/>
            </a:ln>
          </p:spPr>
        </p:sp>
      </p:grpSp>
      <p:grpSp>
        <p:nvGrpSpPr>
          <p:cNvPr name="Group 30" id="30"/>
          <p:cNvGrpSpPr/>
          <p:nvPr/>
        </p:nvGrpSpPr>
        <p:grpSpPr>
          <a:xfrm rot="0">
            <a:off x="10012680" y="7475220"/>
            <a:ext cx="6309360" cy="1165860"/>
            <a:chOff x="0" y="0"/>
            <a:chExt cx="8412480" cy="1554480"/>
          </a:xfrm>
        </p:grpSpPr>
        <p:sp>
          <p:nvSpPr>
            <p:cNvPr name="Freeform 31" id="31"/>
            <p:cNvSpPr/>
            <p:nvPr/>
          </p:nvSpPr>
          <p:spPr>
            <a:xfrm flipH="false" flipV="false" rot="0">
              <a:off x="0" y="0"/>
              <a:ext cx="8412480" cy="1554480"/>
            </a:xfrm>
            <a:custGeom>
              <a:avLst/>
              <a:gdLst/>
              <a:ahLst/>
              <a:cxnLst/>
              <a:rect r="r" b="b" t="t" l="l"/>
              <a:pathLst>
                <a:path h="1554480" w="8412480">
                  <a:moveTo>
                    <a:pt x="0" y="0"/>
                  </a:moveTo>
                  <a:lnTo>
                    <a:pt x="8412480" y="0"/>
                  </a:lnTo>
                  <a:lnTo>
                    <a:pt x="8412480" y="1554480"/>
                  </a:lnTo>
                  <a:lnTo>
                    <a:pt x="0" y="1554480"/>
                  </a:lnTo>
                  <a:close/>
                </a:path>
              </a:pathLst>
            </a:custGeom>
            <a:blipFill>
              <a:blip r:embed="rId3">
                <a:alphaModFix amt="0"/>
              </a:blip>
              <a:stretch>
                <a:fillRect l="0" t="-55448" r="0" b="-55448"/>
              </a:stretch>
            </a:blipFill>
          </p:spPr>
        </p:sp>
        <p:sp>
          <p:nvSpPr>
            <p:cNvPr name="TextBox 32" id="32"/>
            <p:cNvSpPr txBox="true"/>
            <p:nvPr/>
          </p:nvSpPr>
          <p:spPr>
            <a:xfrm>
              <a:off x="0" y="-38100"/>
              <a:ext cx="8412480" cy="1592580"/>
            </a:xfrm>
            <a:prstGeom prst="rect">
              <a:avLst/>
            </a:prstGeom>
          </p:spPr>
          <p:txBody>
            <a:bodyPr anchor="ctr" rtlCol="false" tIns="0" lIns="0" bIns="0" rIns="0"/>
            <a:lstStyle/>
            <a:p>
              <a:pPr algn="ctr">
                <a:lnSpc>
                  <a:spcPts val="2160"/>
                </a:lnSpc>
              </a:pPr>
              <a:r>
                <a:rPr lang="en-US" sz="1800">
                  <a:solidFill>
                    <a:srgbClr val="A3AEBB"/>
                  </a:solidFill>
                  <a:latin typeface="Calibri (MS)"/>
                  <a:ea typeface="Calibri (MS)"/>
                  <a:cs typeface="Calibri (MS)"/>
                  <a:sym typeface="Calibri (MS)"/>
                </a:rPr>
                <a:t>Observed externally: htop, free -h</a:t>
              </a:r>
            </a:p>
          </p:txBody>
        </p:sp>
      </p:grpSp>
      <p:sp>
        <p:nvSpPr>
          <p:cNvPr name="AutoShape 33" id="33"/>
          <p:cNvSpPr/>
          <p:nvPr/>
        </p:nvSpPr>
        <p:spPr>
          <a:xfrm>
            <a:off x="13167365" y="3475372"/>
            <a:ext cx="0" cy="593055"/>
          </a:xfrm>
          <a:prstGeom prst="line">
            <a:avLst/>
          </a:prstGeom>
          <a:ln cap="rnd" w="19050">
            <a:solidFill>
              <a:srgbClr val="2F9BFF"/>
            </a:solidFill>
            <a:prstDash val="solid"/>
            <a:headEnd type="none" len="sm" w="sm"/>
            <a:tailEnd type="triangle" len="med" w="lg"/>
          </a:ln>
        </p:spPr>
      </p:sp>
      <p:sp>
        <p:nvSpPr>
          <p:cNvPr name="AutoShape 34" id="34"/>
          <p:cNvSpPr/>
          <p:nvPr/>
        </p:nvSpPr>
        <p:spPr>
          <a:xfrm>
            <a:off x="13167365" y="5189872"/>
            <a:ext cx="0" cy="593055"/>
          </a:xfrm>
          <a:prstGeom prst="line">
            <a:avLst/>
          </a:prstGeom>
          <a:ln cap="rnd" w="19050">
            <a:solidFill>
              <a:srgbClr val="2F9BFF"/>
            </a:solidFill>
            <a:prstDash val="solid"/>
            <a:headEnd type="none" len="sm" w="sm"/>
            <a:tailEnd type="triangle" len="med" w="lg"/>
          </a:ln>
        </p:spPr>
      </p:sp>
      <p:sp>
        <p:nvSpPr>
          <p:cNvPr name="AutoShape 35" id="35"/>
          <p:cNvSpPr/>
          <p:nvPr/>
        </p:nvSpPr>
        <p:spPr>
          <a:xfrm rot="5151300">
            <a:off x="12870837" y="7191375"/>
            <a:ext cx="593055" cy="0"/>
          </a:xfrm>
          <a:prstGeom prst="line">
            <a:avLst/>
          </a:prstGeom>
          <a:ln cap="rnd" w="19050">
            <a:solidFill>
              <a:srgbClr val="3FB67A"/>
            </a:solidFill>
            <a:prstDash val="solid"/>
            <a:headEnd type="none" len="sm" w="sm"/>
            <a:tailEnd type="triangle" len="med" w="lg"/>
          </a:ln>
        </p:spPr>
      </p:sp>
      <p:sp>
        <p:nvSpPr>
          <p:cNvPr name="TextBox 36" id="36"/>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grpSp>
        <p:nvGrpSpPr>
          <p:cNvPr name="Group 5" id="5"/>
          <p:cNvGrpSpPr/>
          <p:nvPr/>
        </p:nvGrpSpPr>
        <p:grpSpPr>
          <a:xfrm rot="0">
            <a:off x="822960" y="3566160"/>
            <a:ext cx="1234440" cy="548640"/>
            <a:chOff x="0" y="0"/>
            <a:chExt cx="1645920" cy="731520"/>
          </a:xfrm>
        </p:grpSpPr>
        <p:sp>
          <p:nvSpPr>
            <p:cNvPr name="Freeform 6" id="6"/>
            <p:cNvSpPr/>
            <p:nvPr/>
          </p:nvSpPr>
          <p:spPr>
            <a:xfrm flipH="false" flipV="false" rot="0">
              <a:off x="0" y="0"/>
              <a:ext cx="1645920" cy="731520"/>
            </a:xfrm>
            <a:custGeom>
              <a:avLst/>
              <a:gdLst/>
              <a:ahLst/>
              <a:cxnLst/>
              <a:rect r="r" b="b" t="t" l="l"/>
              <a:pathLst>
                <a:path h="731520" w="1645920">
                  <a:moveTo>
                    <a:pt x="0" y="0"/>
                  </a:moveTo>
                  <a:lnTo>
                    <a:pt x="1645920" y="0"/>
                  </a:lnTo>
                  <a:lnTo>
                    <a:pt x="1645920" y="731520"/>
                  </a:lnTo>
                  <a:lnTo>
                    <a:pt x="0" y="731520"/>
                  </a:lnTo>
                  <a:close/>
                </a:path>
              </a:pathLst>
            </a:custGeom>
            <a:blipFill>
              <a:blip r:embed="rId3">
                <a:alphaModFix amt="0"/>
              </a:blip>
              <a:stretch>
                <a:fillRect l="-7023" t="0" r="-7023" b="0"/>
              </a:stretch>
            </a:blipFill>
          </p:spPr>
        </p:sp>
        <p:sp>
          <p:nvSpPr>
            <p:cNvPr name="TextBox 7" id="7"/>
            <p:cNvSpPr txBox="true"/>
            <p:nvPr/>
          </p:nvSpPr>
          <p:spPr>
            <a:xfrm>
              <a:off x="0" y="-9525"/>
              <a:ext cx="1645920" cy="741045"/>
            </a:xfrm>
            <a:prstGeom prst="rect">
              <a:avLst/>
            </a:prstGeom>
          </p:spPr>
          <p:txBody>
            <a:bodyPr anchor="ctr" rtlCol="false" tIns="0" lIns="0" bIns="0" rIns="0"/>
            <a:lstStyle/>
            <a:p>
              <a:pPr algn="l">
                <a:lnSpc>
                  <a:spcPts val="3240"/>
                </a:lnSpc>
              </a:pPr>
              <a:r>
                <a:rPr lang="en-US" sz="2700" b="true">
                  <a:solidFill>
                    <a:srgbClr val="2F9BFF"/>
                  </a:solidFill>
                  <a:latin typeface="Courier New Bold"/>
                  <a:ea typeface="Courier New Bold"/>
                  <a:cs typeface="Courier New Bold"/>
                  <a:sym typeface="Courier New Bold"/>
                </a:rPr>
                <a:t>30</a:t>
              </a:r>
            </a:p>
          </p:txBody>
        </p:sp>
      </p:grpSp>
      <p:grpSp>
        <p:nvGrpSpPr>
          <p:cNvPr name="Group 8" id="8"/>
          <p:cNvGrpSpPr/>
          <p:nvPr/>
        </p:nvGrpSpPr>
        <p:grpSpPr>
          <a:xfrm rot="0">
            <a:off x="2194560" y="3566160"/>
            <a:ext cx="7955280" cy="548640"/>
            <a:chOff x="0" y="0"/>
            <a:chExt cx="10607040" cy="731520"/>
          </a:xfrm>
        </p:grpSpPr>
        <p:sp>
          <p:nvSpPr>
            <p:cNvPr name="Freeform 9" id="9"/>
            <p:cNvSpPr/>
            <p:nvPr/>
          </p:nvSpPr>
          <p:spPr>
            <a:xfrm flipH="false" flipV="false" rot="0">
              <a:off x="0" y="0"/>
              <a:ext cx="10607040" cy="731520"/>
            </a:xfrm>
            <a:custGeom>
              <a:avLst/>
              <a:gdLst/>
              <a:ahLst/>
              <a:cxnLst/>
              <a:rect r="r" b="b" t="t" l="l"/>
              <a:pathLst>
                <a:path h="731520" w="10607040">
                  <a:moveTo>
                    <a:pt x="0" y="0"/>
                  </a:moveTo>
                  <a:lnTo>
                    <a:pt x="10607040" y="0"/>
                  </a:lnTo>
                  <a:lnTo>
                    <a:pt x="10607040" y="731520"/>
                  </a:lnTo>
                  <a:lnTo>
                    <a:pt x="0" y="731520"/>
                  </a:lnTo>
                  <a:close/>
                </a:path>
              </a:pathLst>
            </a:custGeom>
            <a:blipFill>
              <a:blip r:embed="rId3">
                <a:alphaModFix amt="0"/>
              </a:blip>
              <a:stretch>
                <a:fillRect l="0" t="-232533" r="0" b="-232533"/>
              </a:stretch>
            </a:blipFill>
          </p:spPr>
        </p:sp>
        <p:sp>
          <p:nvSpPr>
            <p:cNvPr name="TextBox 10" id="10"/>
            <p:cNvSpPr txBox="true"/>
            <p:nvPr/>
          </p:nvSpPr>
          <p:spPr>
            <a:xfrm>
              <a:off x="0" y="-57150"/>
              <a:ext cx="10607040" cy="788670"/>
            </a:xfrm>
            <a:prstGeom prst="rect">
              <a:avLst/>
            </a:prstGeom>
          </p:spPr>
          <p:txBody>
            <a:bodyPr anchor="ctr" rtlCol="false" tIns="0" lIns="0" bIns="0" rIns="0"/>
            <a:lstStyle/>
            <a:p>
              <a:pPr algn="l">
                <a:lnSpc>
                  <a:spcPts val="2700"/>
                </a:lnSpc>
              </a:pPr>
              <a:r>
                <a:rPr lang="en-US" sz="2250">
                  <a:solidFill>
                    <a:srgbClr val="EDF1F5"/>
                  </a:solidFill>
                  <a:latin typeface="Calibri (MS)"/>
                  <a:ea typeface="Calibri (MS)"/>
                  <a:cs typeface="Calibri (MS)"/>
                  <a:sym typeface="Calibri (MS)"/>
                </a:rPr>
                <a:t>Duration in seconds (allowed range 1 to 3600)</a:t>
              </a:r>
            </a:p>
          </p:txBody>
        </p:sp>
      </p:grpSp>
      <p:grpSp>
        <p:nvGrpSpPr>
          <p:cNvPr name="Group 11" id="11"/>
          <p:cNvGrpSpPr/>
          <p:nvPr/>
        </p:nvGrpSpPr>
        <p:grpSpPr>
          <a:xfrm rot="0">
            <a:off x="822960" y="4251960"/>
            <a:ext cx="1234440" cy="548640"/>
            <a:chOff x="0" y="0"/>
            <a:chExt cx="1645920" cy="731520"/>
          </a:xfrm>
        </p:grpSpPr>
        <p:sp>
          <p:nvSpPr>
            <p:cNvPr name="Freeform 12" id="12"/>
            <p:cNvSpPr/>
            <p:nvPr/>
          </p:nvSpPr>
          <p:spPr>
            <a:xfrm flipH="false" flipV="false" rot="0">
              <a:off x="0" y="0"/>
              <a:ext cx="1645920" cy="731520"/>
            </a:xfrm>
            <a:custGeom>
              <a:avLst/>
              <a:gdLst/>
              <a:ahLst/>
              <a:cxnLst/>
              <a:rect r="r" b="b" t="t" l="l"/>
              <a:pathLst>
                <a:path h="731520" w="1645920">
                  <a:moveTo>
                    <a:pt x="0" y="0"/>
                  </a:moveTo>
                  <a:lnTo>
                    <a:pt x="1645920" y="0"/>
                  </a:lnTo>
                  <a:lnTo>
                    <a:pt x="1645920" y="731520"/>
                  </a:lnTo>
                  <a:lnTo>
                    <a:pt x="0" y="731520"/>
                  </a:lnTo>
                  <a:close/>
                </a:path>
              </a:pathLst>
            </a:custGeom>
            <a:blipFill>
              <a:blip r:embed="rId3">
                <a:alphaModFix amt="0"/>
              </a:blip>
              <a:stretch>
                <a:fillRect l="-7023" t="0" r="-7023" b="0"/>
              </a:stretch>
            </a:blipFill>
          </p:spPr>
        </p:sp>
        <p:sp>
          <p:nvSpPr>
            <p:cNvPr name="TextBox 13" id="13"/>
            <p:cNvSpPr txBox="true"/>
            <p:nvPr/>
          </p:nvSpPr>
          <p:spPr>
            <a:xfrm>
              <a:off x="0" y="-9525"/>
              <a:ext cx="1645920" cy="741045"/>
            </a:xfrm>
            <a:prstGeom prst="rect">
              <a:avLst/>
            </a:prstGeom>
          </p:spPr>
          <p:txBody>
            <a:bodyPr anchor="ctr" rtlCol="false" tIns="0" lIns="0" bIns="0" rIns="0"/>
            <a:lstStyle/>
            <a:p>
              <a:pPr algn="l">
                <a:lnSpc>
                  <a:spcPts val="3240"/>
                </a:lnSpc>
              </a:pPr>
              <a:r>
                <a:rPr lang="en-US" sz="2700" b="true">
                  <a:solidFill>
                    <a:srgbClr val="3FB67A"/>
                  </a:solidFill>
                  <a:latin typeface="Courier New Bold"/>
                  <a:ea typeface="Courier New Bold"/>
                  <a:cs typeface="Courier New Bold"/>
                  <a:sym typeface="Courier New Bold"/>
                </a:rPr>
                <a:t>4</a:t>
              </a:r>
            </a:p>
          </p:txBody>
        </p:sp>
      </p:grpSp>
      <p:grpSp>
        <p:nvGrpSpPr>
          <p:cNvPr name="Group 14" id="14"/>
          <p:cNvGrpSpPr/>
          <p:nvPr/>
        </p:nvGrpSpPr>
        <p:grpSpPr>
          <a:xfrm rot="0">
            <a:off x="2194560" y="4251960"/>
            <a:ext cx="7955280" cy="548640"/>
            <a:chOff x="0" y="0"/>
            <a:chExt cx="10607040" cy="731520"/>
          </a:xfrm>
        </p:grpSpPr>
        <p:sp>
          <p:nvSpPr>
            <p:cNvPr name="Freeform 15" id="15"/>
            <p:cNvSpPr/>
            <p:nvPr/>
          </p:nvSpPr>
          <p:spPr>
            <a:xfrm flipH="false" flipV="false" rot="0">
              <a:off x="0" y="0"/>
              <a:ext cx="10607040" cy="731520"/>
            </a:xfrm>
            <a:custGeom>
              <a:avLst/>
              <a:gdLst/>
              <a:ahLst/>
              <a:cxnLst/>
              <a:rect r="r" b="b" t="t" l="l"/>
              <a:pathLst>
                <a:path h="731520" w="10607040">
                  <a:moveTo>
                    <a:pt x="0" y="0"/>
                  </a:moveTo>
                  <a:lnTo>
                    <a:pt x="10607040" y="0"/>
                  </a:lnTo>
                  <a:lnTo>
                    <a:pt x="10607040" y="731520"/>
                  </a:lnTo>
                  <a:lnTo>
                    <a:pt x="0" y="731520"/>
                  </a:lnTo>
                  <a:close/>
                </a:path>
              </a:pathLst>
            </a:custGeom>
            <a:blipFill>
              <a:blip r:embed="rId3">
                <a:alphaModFix amt="0"/>
              </a:blip>
              <a:stretch>
                <a:fillRect l="0" t="-232533" r="0" b="-232533"/>
              </a:stretch>
            </a:blipFill>
          </p:spPr>
        </p:sp>
        <p:sp>
          <p:nvSpPr>
            <p:cNvPr name="TextBox 16" id="16"/>
            <p:cNvSpPr txBox="true"/>
            <p:nvPr/>
          </p:nvSpPr>
          <p:spPr>
            <a:xfrm>
              <a:off x="0" y="-57150"/>
              <a:ext cx="10607040" cy="788670"/>
            </a:xfrm>
            <a:prstGeom prst="rect">
              <a:avLst/>
            </a:prstGeom>
          </p:spPr>
          <p:txBody>
            <a:bodyPr anchor="ctr" rtlCol="false" tIns="0" lIns="0" bIns="0" rIns="0"/>
            <a:lstStyle/>
            <a:p>
              <a:pPr algn="l">
                <a:lnSpc>
                  <a:spcPts val="2700"/>
                </a:lnSpc>
              </a:pPr>
              <a:r>
                <a:rPr lang="en-US" sz="2250">
                  <a:solidFill>
                    <a:srgbClr val="EDF1F5"/>
                  </a:solidFill>
                  <a:latin typeface="Calibri (MS)"/>
                  <a:ea typeface="Calibri (MS)"/>
                  <a:cs typeface="Calibri (MS)"/>
                  <a:sym typeface="Calibri (MS)"/>
                </a:rPr>
                <a:t>CPU worker threads (1 up to the online CPU count)</a:t>
              </a:r>
            </a:p>
          </p:txBody>
        </p:sp>
      </p:grpSp>
      <p:grpSp>
        <p:nvGrpSpPr>
          <p:cNvPr name="Group 17" id="17"/>
          <p:cNvGrpSpPr/>
          <p:nvPr/>
        </p:nvGrpSpPr>
        <p:grpSpPr>
          <a:xfrm rot="0">
            <a:off x="822960" y="4937760"/>
            <a:ext cx="1234440" cy="548640"/>
            <a:chOff x="0" y="0"/>
            <a:chExt cx="1645920" cy="731520"/>
          </a:xfrm>
        </p:grpSpPr>
        <p:sp>
          <p:nvSpPr>
            <p:cNvPr name="Freeform 18" id="18"/>
            <p:cNvSpPr/>
            <p:nvPr/>
          </p:nvSpPr>
          <p:spPr>
            <a:xfrm flipH="false" flipV="false" rot="0">
              <a:off x="0" y="0"/>
              <a:ext cx="1645920" cy="731520"/>
            </a:xfrm>
            <a:custGeom>
              <a:avLst/>
              <a:gdLst/>
              <a:ahLst/>
              <a:cxnLst/>
              <a:rect r="r" b="b" t="t" l="l"/>
              <a:pathLst>
                <a:path h="731520" w="1645920">
                  <a:moveTo>
                    <a:pt x="0" y="0"/>
                  </a:moveTo>
                  <a:lnTo>
                    <a:pt x="1645920" y="0"/>
                  </a:lnTo>
                  <a:lnTo>
                    <a:pt x="1645920" y="731520"/>
                  </a:lnTo>
                  <a:lnTo>
                    <a:pt x="0" y="731520"/>
                  </a:lnTo>
                  <a:close/>
                </a:path>
              </a:pathLst>
            </a:custGeom>
            <a:blipFill>
              <a:blip r:embed="rId3">
                <a:alphaModFix amt="0"/>
              </a:blip>
              <a:stretch>
                <a:fillRect l="-7023" t="0" r="-7023" b="0"/>
              </a:stretch>
            </a:blipFill>
          </p:spPr>
        </p:sp>
        <p:sp>
          <p:nvSpPr>
            <p:cNvPr name="TextBox 19" id="19"/>
            <p:cNvSpPr txBox="true"/>
            <p:nvPr/>
          </p:nvSpPr>
          <p:spPr>
            <a:xfrm>
              <a:off x="0" y="-9525"/>
              <a:ext cx="1645920" cy="741045"/>
            </a:xfrm>
            <a:prstGeom prst="rect">
              <a:avLst/>
            </a:prstGeom>
          </p:spPr>
          <p:txBody>
            <a:bodyPr anchor="ctr" rtlCol="false" tIns="0" lIns="0" bIns="0" rIns="0"/>
            <a:lstStyle/>
            <a:p>
              <a:pPr algn="l">
                <a:lnSpc>
                  <a:spcPts val="3240"/>
                </a:lnSpc>
              </a:pPr>
              <a:r>
                <a:rPr lang="en-US" sz="2700" b="true">
                  <a:solidFill>
                    <a:srgbClr val="8CC8FF"/>
                  </a:solidFill>
                  <a:latin typeface="Courier New Bold"/>
                  <a:ea typeface="Courier New Bold"/>
                  <a:cs typeface="Courier New Bold"/>
                  <a:sym typeface="Courier New Bold"/>
                </a:rPr>
                <a:t>512</a:t>
              </a:r>
            </a:p>
          </p:txBody>
        </p:sp>
      </p:grpSp>
      <p:grpSp>
        <p:nvGrpSpPr>
          <p:cNvPr name="Group 20" id="20"/>
          <p:cNvGrpSpPr/>
          <p:nvPr/>
        </p:nvGrpSpPr>
        <p:grpSpPr>
          <a:xfrm rot="0">
            <a:off x="2194560" y="4937760"/>
            <a:ext cx="7955280" cy="548640"/>
            <a:chOff x="0" y="0"/>
            <a:chExt cx="10607040" cy="731520"/>
          </a:xfrm>
        </p:grpSpPr>
        <p:sp>
          <p:nvSpPr>
            <p:cNvPr name="Freeform 21" id="21"/>
            <p:cNvSpPr/>
            <p:nvPr/>
          </p:nvSpPr>
          <p:spPr>
            <a:xfrm flipH="false" flipV="false" rot="0">
              <a:off x="0" y="0"/>
              <a:ext cx="10607040" cy="731520"/>
            </a:xfrm>
            <a:custGeom>
              <a:avLst/>
              <a:gdLst/>
              <a:ahLst/>
              <a:cxnLst/>
              <a:rect r="r" b="b" t="t" l="l"/>
              <a:pathLst>
                <a:path h="731520" w="10607040">
                  <a:moveTo>
                    <a:pt x="0" y="0"/>
                  </a:moveTo>
                  <a:lnTo>
                    <a:pt x="10607040" y="0"/>
                  </a:lnTo>
                  <a:lnTo>
                    <a:pt x="10607040" y="731520"/>
                  </a:lnTo>
                  <a:lnTo>
                    <a:pt x="0" y="731520"/>
                  </a:lnTo>
                  <a:close/>
                </a:path>
              </a:pathLst>
            </a:custGeom>
            <a:blipFill>
              <a:blip r:embed="rId3">
                <a:alphaModFix amt="0"/>
              </a:blip>
              <a:stretch>
                <a:fillRect l="0" t="-232533" r="0" b="-232533"/>
              </a:stretch>
            </a:blipFill>
          </p:spPr>
        </p:sp>
        <p:sp>
          <p:nvSpPr>
            <p:cNvPr name="TextBox 22" id="22"/>
            <p:cNvSpPr txBox="true"/>
            <p:nvPr/>
          </p:nvSpPr>
          <p:spPr>
            <a:xfrm>
              <a:off x="0" y="-57150"/>
              <a:ext cx="10607040" cy="788670"/>
            </a:xfrm>
            <a:prstGeom prst="rect">
              <a:avLst/>
            </a:prstGeom>
          </p:spPr>
          <p:txBody>
            <a:bodyPr anchor="ctr" rtlCol="false" tIns="0" lIns="0" bIns="0" rIns="0"/>
            <a:lstStyle/>
            <a:p>
              <a:pPr algn="l">
                <a:lnSpc>
                  <a:spcPts val="2700"/>
                </a:lnSpc>
              </a:pPr>
              <a:r>
                <a:rPr lang="en-US" sz="2250">
                  <a:solidFill>
                    <a:srgbClr val="EDF1F5"/>
                  </a:solidFill>
                  <a:latin typeface="Calibri (MS)"/>
                  <a:ea typeface="Calibri (MS)"/>
                  <a:cs typeface="Calibri (MS)"/>
                  <a:sym typeface="Calibri (MS)"/>
                </a:rPr>
                <a:t>Memory in MB (0 for CPU-only)</a:t>
              </a:r>
            </a:p>
          </p:txBody>
        </p:sp>
      </p:grpSp>
      <p:grpSp>
        <p:nvGrpSpPr>
          <p:cNvPr name="Group 23" id="23"/>
          <p:cNvGrpSpPr/>
          <p:nvPr/>
        </p:nvGrpSpPr>
        <p:grpSpPr>
          <a:xfrm rot="0">
            <a:off x="813435" y="6848475"/>
            <a:ext cx="9345930" cy="2419350"/>
            <a:chOff x="0" y="0"/>
            <a:chExt cx="12461240" cy="3225800"/>
          </a:xfrm>
        </p:grpSpPr>
        <p:sp>
          <p:nvSpPr>
            <p:cNvPr name="Freeform 24" id="24"/>
            <p:cNvSpPr/>
            <p:nvPr/>
          </p:nvSpPr>
          <p:spPr>
            <a:xfrm flipH="false" flipV="false" rot="0">
              <a:off x="0" y="0"/>
              <a:ext cx="12461240" cy="3225800"/>
            </a:xfrm>
            <a:custGeom>
              <a:avLst/>
              <a:gdLst/>
              <a:ahLst/>
              <a:cxnLst/>
              <a:rect r="r" b="b" t="t" l="l"/>
              <a:pathLst>
                <a:path h="3225800" w="12461240">
                  <a:moveTo>
                    <a:pt x="0" y="0"/>
                  </a:moveTo>
                  <a:lnTo>
                    <a:pt x="12461240" y="0"/>
                  </a:lnTo>
                  <a:lnTo>
                    <a:pt x="12461240" y="3225800"/>
                  </a:lnTo>
                  <a:lnTo>
                    <a:pt x="0" y="3225800"/>
                  </a:lnTo>
                  <a:close/>
                </a:path>
              </a:pathLst>
            </a:custGeom>
            <a:solidFill>
              <a:srgbClr val="252B32"/>
            </a:solidFill>
            <a:ln w="19050" cap="sq">
              <a:solidFill>
                <a:srgbClr val="3FB67A"/>
              </a:solidFill>
              <a:prstDash val="solid"/>
              <a:miter/>
            </a:ln>
          </p:spPr>
        </p:sp>
      </p:grpSp>
      <p:grpSp>
        <p:nvGrpSpPr>
          <p:cNvPr name="Group 25" id="25"/>
          <p:cNvGrpSpPr/>
          <p:nvPr/>
        </p:nvGrpSpPr>
        <p:grpSpPr>
          <a:xfrm rot="0">
            <a:off x="10686574" y="2319814"/>
            <a:ext cx="6744653" cy="4275772"/>
            <a:chOff x="0" y="0"/>
            <a:chExt cx="8992870" cy="5701030"/>
          </a:xfrm>
        </p:grpSpPr>
        <p:sp>
          <p:nvSpPr>
            <p:cNvPr name="Freeform 26" id="26"/>
            <p:cNvSpPr/>
            <p:nvPr/>
          </p:nvSpPr>
          <p:spPr>
            <a:xfrm flipH="false" flipV="false" rot="0">
              <a:off x="0" y="0"/>
              <a:ext cx="8992870" cy="5701030"/>
            </a:xfrm>
            <a:custGeom>
              <a:avLst/>
              <a:gdLst/>
              <a:ahLst/>
              <a:cxnLst/>
              <a:rect r="r" b="b" t="t" l="l"/>
              <a:pathLst>
                <a:path h="5701030" w="8992870">
                  <a:moveTo>
                    <a:pt x="0" y="0"/>
                  </a:moveTo>
                  <a:lnTo>
                    <a:pt x="8992870" y="0"/>
                  </a:lnTo>
                  <a:lnTo>
                    <a:pt x="8992870" y="5701030"/>
                  </a:lnTo>
                  <a:lnTo>
                    <a:pt x="0" y="5701030"/>
                  </a:lnTo>
                  <a:close/>
                </a:path>
              </a:pathLst>
            </a:custGeom>
            <a:solidFill>
              <a:srgbClr val="0E1115"/>
            </a:solidFill>
            <a:ln w="23812" cap="sq">
              <a:solidFill>
                <a:srgbClr val="3A424C"/>
              </a:solidFill>
              <a:prstDash val="solid"/>
              <a:miter/>
            </a:ln>
          </p:spPr>
        </p:sp>
      </p:grpSp>
      <p:grpSp>
        <p:nvGrpSpPr>
          <p:cNvPr name="Group 27" id="27"/>
          <p:cNvGrpSpPr/>
          <p:nvPr/>
        </p:nvGrpSpPr>
        <p:grpSpPr>
          <a:xfrm rot="0">
            <a:off x="10686574" y="2319814"/>
            <a:ext cx="6744653" cy="462724"/>
            <a:chOff x="0" y="0"/>
            <a:chExt cx="8992870" cy="616966"/>
          </a:xfrm>
        </p:grpSpPr>
        <p:sp>
          <p:nvSpPr>
            <p:cNvPr name="Freeform 28" id="28"/>
            <p:cNvSpPr/>
            <p:nvPr/>
          </p:nvSpPr>
          <p:spPr>
            <a:xfrm flipH="false" flipV="false" rot="0">
              <a:off x="0" y="0"/>
              <a:ext cx="8992870" cy="616966"/>
            </a:xfrm>
            <a:custGeom>
              <a:avLst/>
              <a:gdLst/>
              <a:ahLst/>
              <a:cxnLst/>
              <a:rect r="r" b="b" t="t" l="l"/>
              <a:pathLst>
                <a:path h="616966" w="8992870">
                  <a:moveTo>
                    <a:pt x="0" y="0"/>
                  </a:moveTo>
                  <a:lnTo>
                    <a:pt x="8992870" y="0"/>
                  </a:lnTo>
                  <a:lnTo>
                    <a:pt x="8992870" y="616966"/>
                  </a:lnTo>
                  <a:lnTo>
                    <a:pt x="0" y="616966"/>
                  </a:lnTo>
                  <a:close/>
                </a:path>
              </a:pathLst>
            </a:custGeom>
            <a:solidFill>
              <a:srgbClr val="252B32"/>
            </a:solidFill>
            <a:ln w="23812" cap="sq">
              <a:solidFill>
                <a:srgbClr val="3A424C"/>
              </a:solidFill>
              <a:prstDash val="solid"/>
              <a:miter/>
            </a:ln>
          </p:spPr>
        </p:sp>
      </p:grpSp>
      <p:grpSp>
        <p:nvGrpSpPr>
          <p:cNvPr name="Group 29" id="29"/>
          <p:cNvGrpSpPr/>
          <p:nvPr/>
        </p:nvGrpSpPr>
        <p:grpSpPr>
          <a:xfrm rot="0">
            <a:off x="10894695" y="2445639"/>
            <a:ext cx="211074" cy="211074"/>
            <a:chOff x="0" y="0"/>
            <a:chExt cx="281432" cy="281432"/>
          </a:xfrm>
        </p:grpSpPr>
        <p:sp>
          <p:nvSpPr>
            <p:cNvPr name="Freeform 30" id="30"/>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A424C"/>
            </a:solidFill>
            <a:ln w="19050" cap="sq">
              <a:solidFill>
                <a:srgbClr val="3A424C"/>
              </a:solidFill>
              <a:prstDash val="solid"/>
              <a:miter/>
            </a:ln>
          </p:spPr>
        </p:sp>
      </p:grpSp>
      <p:grpSp>
        <p:nvGrpSpPr>
          <p:cNvPr name="Group 31" id="31"/>
          <p:cNvGrpSpPr/>
          <p:nvPr/>
        </p:nvGrpSpPr>
        <p:grpSpPr>
          <a:xfrm rot="0">
            <a:off x="11169015" y="2445639"/>
            <a:ext cx="211074" cy="211074"/>
            <a:chOff x="0" y="0"/>
            <a:chExt cx="281432" cy="281432"/>
          </a:xfrm>
        </p:grpSpPr>
        <p:sp>
          <p:nvSpPr>
            <p:cNvPr name="Freeform 32" id="32"/>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A424C"/>
            </a:solidFill>
            <a:ln w="19050" cap="sq">
              <a:solidFill>
                <a:srgbClr val="3A424C"/>
              </a:solidFill>
              <a:prstDash val="solid"/>
              <a:miter/>
            </a:ln>
          </p:spPr>
        </p:sp>
      </p:grpSp>
      <p:grpSp>
        <p:nvGrpSpPr>
          <p:cNvPr name="Group 33" id="33"/>
          <p:cNvGrpSpPr/>
          <p:nvPr/>
        </p:nvGrpSpPr>
        <p:grpSpPr>
          <a:xfrm rot="0">
            <a:off x="11443335" y="2445639"/>
            <a:ext cx="211074" cy="211074"/>
            <a:chOff x="0" y="0"/>
            <a:chExt cx="281432" cy="281432"/>
          </a:xfrm>
        </p:grpSpPr>
        <p:sp>
          <p:nvSpPr>
            <p:cNvPr name="Freeform 34" id="34"/>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FB67A"/>
            </a:solidFill>
            <a:ln w="19050" cap="sq">
              <a:solidFill>
                <a:srgbClr val="3A424C"/>
              </a:solidFill>
              <a:prstDash val="solid"/>
              <a:miter/>
            </a:ln>
          </p:spPr>
        </p:sp>
      </p:grpSp>
      <p:grpSp>
        <p:nvGrpSpPr>
          <p:cNvPr name="Group 35" id="35"/>
          <p:cNvGrpSpPr/>
          <p:nvPr/>
        </p:nvGrpSpPr>
        <p:grpSpPr>
          <a:xfrm rot="0">
            <a:off x="11864340" y="2331720"/>
            <a:ext cx="2743200" cy="438912"/>
            <a:chOff x="0" y="0"/>
            <a:chExt cx="3657600" cy="585216"/>
          </a:xfrm>
        </p:grpSpPr>
        <p:sp>
          <p:nvSpPr>
            <p:cNvPr name="Freeform 36" id="36"/>
            <p:cNvSpPr/>
            <p:nvPr/>
          </p:nvSpPr>
          <p:spPr>
            <a:xfrm flipH="false" flipV="false" rot="0">
              <a:off x="0" y="0"/>
              <a:ext cx="3657600" cy="585216"/>
            </a:xfrm>
            <a:custGeom>
              <a:avLst/>
              <a:gdLst/>
              <a:ahLst/>
              <a:cxnLst/>
              <a:rect r="r" b="b" t="t" l="l"/>
              <a:pathLst>
                <a:path h="585216" w="3657600">
                  <a:moveTo>
                    <a:pt x="0" y="0"/>
                  </a:moveTo>
                  <a:lnTo>
                    <a:pt x="3657600" y="0"/>
                  </a:lnTo>
                  <a:lnTo>
                    <a:pt x="3657600" y="585216"/>
                  </a:lnTo>
                  <a:lnTo>
                    <a:pt x="0" y="585216"/>
                  </a:lnTo>
                  <a:close/>
                </a:path>
              </a:pathLst>
            </a:custGeom>
            <a:blipFill>
              <a:blip r:embed="rId3">
                <a:alphaModFix amt="0"/>
              </a:blip>
              <a:stretch>
                <a:fillRect l="0" t="-71781" r="0" b="-71781"/>
              </a:stretch>
            </a:blipFill>
          </p:spPr>
        </p:sp>
        <p:sp>
          <p:nvSpPr>
            <p:cNvPr name="TextBox 37" id="37"/>
            <p:cNvSpPr txBox="true"/>
            <p:nvPr/>
          </p:nvSpPr>
          <p:spPr>
            <a:xfrm>
              <a:off x="0" y="-9525"/>
              <a:ext cx="3657600" cy="594741"/>
            </a:xfrm>
            <a:prstGeom prst="rect">
              <a:avLst/>
            </a:prstGeom>
          </p:spPr>
          <p:txBody>
            <a:bodyPr anchor="ctr" rtlCol="false" tIns="0" lIns="0" bIns="0" rIns="0"/>
            <a:lstStyle/>
            <a:p>
              <a:pPr algn="l">
                <a:lnSpc>
                  <a:spcPts val="1800"/>
                </a:lnSpc>
              </a:pPr>
              <a:r>
                <a:rPr lang="en-US" sz="1500">
                  <a:solidFill>
                    <a:srgbClr val="A3AEBB"/>
                  </a:solidFill>
                  <a:latin typeface="Courier New"/>
                  <a:ea typeface="Courier New"/>
                  <a:cs typeface="Courier New"/>
                  <a:sym typeface="Courier New"/>
                </a:rPr>
                <a:t>Terminal</a:t>
              </a:r>
            </a:p>
          </p:txBody>
        </p:sp>
      </p:grpSp>
      <p:grpSp>
        <p:nvGrpSpPr>
          <p:cNvPr name="Group 38" id="38"/>
          <p:cNvGrpSpPr/>
          <p:nvPr/>
        </p:nvGrpSpPr>
        <p:grpSpPr>
          <a:xfrm rot="0">
            <a:off x="10698480" y="7423205"/>
            <a:ext cx="6732746" cy="1847001"/>
            <a:chOff x="0" y="0"/>
            <a:chExt cx="8992870" cy="2467024"/>
          </a:xfrm>
        </p:grpSpPr>
        <p:sp>
          <p:nvSpPr>
            <p:cNvPr name="Freeform 39" id="39"/>
            <p:cNvSpPr/>
            <p:nvPr/>
          </p:nvSpPr>
          <p:spPr>
            <a:xfrm flipH="false" flipV="false" rot="0">
              <a:off x="0" y="0"/>
              <a:ext cx="8992870" cy="2467023"/>
            </a:xfrm>
            <a:custGeom>
              <a:avLst/>
              <a:gdLst/>
              <a:ahLst/>
              <a:cxnLst/>
              <a:rect r="r" b="b" t="t" l="l"/>
              <a:pathLst>
                <a:path h="2467023" w="8992870">
                  <a:moveTo>
                    <a:pt x="0" y="0"/>
                  </a:moveTo>
                  <a:lnTo>
                    <a:pt x="8992870" y="0"/>
                  </a:lnTo>
                  <a:lnTo>
                    <a:pt x="8992870" y="2467023"/>
                  </a:lnTo>
                  <a:lnTo>
                    <a:pt x="0" y="2467023"/>
                  </a:lnTo>
                  <a:close/>
                </a:path>
              </a:pathLst>
            </a:custGeom>
            <a:blipFill>
              <a:blip r:embed="rId4"/>
              <a:stretch>
                <a:fillRect l="0" t="-17485" r="0" b="-17485"/>
              </a:stretch>
            </a:blipFill>
            <a:ln w="23812" cap="sq">
              <a:solidFill>
                <a:srgbClr val="A3AEBB"/>
              </a:solidFill>
              <a:prstDash val="dash"/>
              <a:miter/>
            </a:ln>
          </p:spPr>
        </p:sp>
      </p:grpSp>
      <p:sp>
        <p:nvSpPr>
          <p:cNvPr name="TextBox 40" id="40"/>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02  SOLUTION</a:t>
            </a:r>
          </a:p>
        </p:txBody>
      </p:sp>
      <p:sp>
        <p:nvSpPr>
          <p:cNvPr name="TextBox 41" id="41"/>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A command-line tool with three inputs</a:t>
            </a:r>
          </a:p>
        </p:txBody>
      </p:sp>
      <p:sp>
        <p:nvSpPr>
          <p:cNvPr name="TextBox 42" id="42"/>
          <p:cNvSpPr txBox="true"/>
          <p:nvPr/>
        </p:nvSpPr>
        <p:spPr>
          <a:xfrm rot="0">
            <a:off x="822960" y="2322195"/>
            <a:ext cx="9326880" cy="969645"/>
          </a:xfrm>
          <a:prstGeom prst="rect">
            <a:avLst/>
          </a:prstGeom>
        </p:spPr>
        <p:txBody>
          <a:bodyPr anchor="t" rtlCol="false" tIns="0" lIns="0" bIns="0" rIns="0">
            <a:spAutoFit/>
          </a:bodyPr>
          <a:lstStyle/>
          <a:p>
            <a:pPr algn="l">
              <a:lnSpc>
                <a:spcPts val="5400"/>
              </a:lnSpc>
            </a:pPr>
            <a:r>
              <a:rPr lang="en-US" sz="4500" b="true">
                <a:solidFill>
                  <a:srgbClr val="EDF1F5"/>
                </a:solidFill>
                <a:latin typeface="Courier New Bold"/>
                <a:ea typeface="Courier New Bold"/>
                <a:cs typeface="Courier New Bold"/>
                <a:sym typeface="Courier New Bold"/>
              </a:rPr>
              <a:t>./stress-test </a:t>
            </a:r>
            <a:r>
              <a:rPr lang="en-US" sz="4500" b="true">
                <a:solidFill>
                  <a:srgbClr val="2F9BFF"/>
                </a:solidFill>
                <a:latin typeface="Courier New Bold"/>
                <a:ea typeface="Courier New Bold"/>
                <a:cs typeface="Courier New Bold"/>
                <a:sym typeface="Courier New Bold"/>
              </a:rPr>
              <a:t>30 </a:t>
            </a:r>
            <a:r>
              <a:rPr lang="en-US" sz="4500" b="true">
                <a:solidFill>
                  <a:srgbClr val="3FB67A"/>
                </a:solidFill>
                <a:latin typeface="Courier New Bold"/>
                <a:ea typeface="Courier New Bold"/>
                <a:cs typeface="Courier New Bold"/>
                <a:sym typeface="Courier New Bold"/>
              </a:rPr>
              <a:t>4 </a:t>
            </a:r>
            <a:r>
              <a:rPr lang="en-US" sz="4500" b="true">
                <a:solidFill>
                  <a:srgbClr val="8CC8FF"/>
                </a:solidFill>
                <a:latin typeface="Courier New Bold"/>
                <a:ea typeface="Courier New Bold"/>
                <a:cs typeface="Courier New Bold"/>
                <a:sym typeface="Courier New Bold"/>
              </a:rPr>
              <a:t>512</a:t>
            </a:r>
          </a:p>
        </p:txBody>
      </p:sp>
      <p:sp>
        <p:nvSpPr>
          <p:cNvPr name="TextBox 43" id="43"/>
          <p:cNvSpPr txBox="true"/>
          <p:nvPr/>
        </p:nvSpPr>
        <p:spPr>
          <a:xfrm rot="0">
            <a:off x="822960" y="5703570"/>
            <a:ext cx="9326880" cy="880110"/>
          </a:xfrm>
          <a:prstGeom prst="rect">
            <a:avLst/>
          </a:prstGeom>
        </p:spPr>
        <p:txBody>
          <a:bodyPr anchor="t" rtlCol="false" tIns="0" lIns="0" bIns="0" rIns="0">
            <a:spAutoFit/>
          </a:bodyPr>
          <a:lstStyle/>
          <a:p>
            <a:pPr algn="l">
              <a:lnSpc>
                <a:spcPts val="2700"/>
              </a:lnSpc>
            </a:pPr>
            <a:r>
              <a:rPr lang="en-US" sz="2250">
                <a:solidFill>
                  <a:srgbClr val="A3AEBB"/>
                </a:solidFill>
                <a:latin typeface="Calibri (MS)"/>
                <a:ea typeface="Calibri (MS)"/>
                <a:cs typeface="Calibri (MS)"/>
                <a:sym typeface="Calibri (MS)"/>
              </a:rPr>
              <a:t>The example runs up to 30 seconds with 4 CPU threads and a 512 MB memory region.</a:t>
            </a:r>
          </a:p>
        </p:txBody>
      </p:sp>
      <p:sp>
        <p:nvSpPr>
          <p:cNvPr name="TextBox 44" id="44"/>
          <p:cNvSpPr txBox="true"/>
          <p:nvPr/>
        </p:nvSpPr>
        <p:spPr>
          <a:xfrm rot="0">
            <a:off x="1165860" y="6957060"/>
            <a:ext cx="8778240" cy="2164080"/>
          </a:xfrm>
          <a:prstGeom prst="rect">
            <a:avLst/>
          </a:prstGeom>
        </p:spPr>
        <p:txBody>
          <a:bodyPr anchor="t" rtlCol="false" tIns="0" lIns="0" bIns="0" rIns="0">
            <a:spAutoFit/>
          </a:bodyPr>
          <a:lstStyle/>
          <a:p>
            <a:pPr algn="l">
              <a:lnSpc>
                <a:spcPts val="2879"/>
              </a:lnSpc>
            </a:pPr>
            <a:r>
              <a:rPr lang="en-US" sz="2400" b="true">
                <a:solidFill>
                  <a:srgbClr val="3FB67A"/>
                </a:solidFill>
                <a:latin typeface="Calibri (MS) Bold"/>
                <a:ea typeface="Calibri (MS) Bold"/>
                <a:cs typeface="Calibri (MS) Bold"/>
                <a:sym typeface="Calibri (MS) Bold"/>
              </a:rPr>
              <a:t>Choose settings for your machine</a:t>
            </a:r>
          </a:p>
          <a:p>
            <a:pPr algn="l" marL="380048" indent="-190024" lvl="1">
              <a:lnSpc>
                <a:spcPts val="2520"/>
              </a:lnSpc>
              <a:buFont typeface="Arial"/>
              <a:buChar char="•"/>
            </a:pPr>
            <a:r>
              <a:rPr lang="en-US" sz="2100">
                <a:solidFill>
                  <a:srgbClr val="EDF1F5"/>
                </a:solidFill>
                <a:latin typeface="Calibri (MS)"/>
                <a:ea typeface="Calibri (MS)"/>
                <a:cs typeface="Calibri (MS)"/>
                <a:sym typeface="Calibri (MS)"/>
              </a:rPr>
              <a:t>Threads should not exceed the CPU cores.</a:t>
            </a:r>
          </a:p>
          <a:p>
            <a:pPr algn="l" marL="380048" indent="-190024" lvl="1">
              <a:lnSpc>
                <a:spcPts val="2520"/>
              </a:lnSpc>
              <a:buFont typeface="Arial"/>
              <a:buChar char="•"/>
            </a:pPr>
            <a:r>
              <a:rPr lang="en-US" sz="2100">
                <a:solidFill>
                  <a:srgbClr val="EDF1F5"/>
                </a:solidFill>
                <a:latin typeface="Calibri (MS)"/>
                <a:ea typeface="Calibri (MS)"/>
                <a:cs typeface="Calibri (MS)"/>
                <a:sym typeface="Calibri (MS)"/>
              </a:rPr>
              <a:t>512 MB is accepted only if reported free RAM is at least 1024 MB.</a:t>
            </a:r>
          </a:p>
          <a:p>
            <a:pPr algn="l" marL="380048" indent="-190024" lvl="1">
              <a:lnSpc>
                <a:spcPts val="2520"/>
              </a:lnSpc>
              <a:buFont typeface="Arial"/>
              <a:buChar char="•"/>
            </a:pPr>
            <a:r>
              <a:rPr lang="en-US" sz="2100">
                <a:solidFill>
                  <a:srgbClr val="EDF1F5"/>
                </a:solidFill>
                <a:latin typeface="Calibri (MS)"/>
                <a:ea typeface="Calibri (MS)"/>
                <a:cs typeface="Calibri (MS)"/>
                <a:sym typeface="Calibri (MS)"/>
              </a:rPr>
              <a:t>Start short, and save your work first.</a:t>
            </a:r>
          </a:p>
        </p:txBody>
      </p:sp>
      <p:sp>
        <p:nvSpPr>
          <p:cNvPr name="TextBox 45" id="45"/>
          <p:cNvSpPr txBox="true"/>
          <p:nvPr/>
        </p:nvSpPr>
        <p:spPr>
          <a:xfrm rot="0">
            <a:off x="10972800" y="3007995"/>
            <a:ext cx="6172200" cy="3438525"/>
          </a:xfrm>
          <a:prstGeom prst="rect">
            <a:avLst/>
          </a:prstGeom>
        </p:spPr>
        <p:txBody>
          <a:bodyPr anchor="t" rtlCol="false" tIns="0" lIns="0" bIns="0" rIns="0">
            <a:spAutoFit/>
          </a:bodyPr>
          <a:lstStyle/>
          <a:p>
            <a:pPr algn="l">
              <a:lnSpc>
                <a:spcPts val="2520"/>
              </a:lnSpc>
            </a:pPr>
            <a:r>
              <a:rPr lang="en-US" sz="2100">
                <a:solidFill>
                  <a:srgbClr val="3FB67A"/>
                </a:solidFill>
                <a:latin typeface="Courier New"/>
                <a:ea typeface="Courier New"/>
                <a:cs typeface="Courier New"/>
                <a:sym typeface="Courier New"/>
              </a:rPr>
              <a:t>$ ./stress-test 30 4 512</a:t>
            </a:r>
          </a:p>
          <a:p>
            <a:pPr algn="l">
              <a:lnSpc>
                <a:spcPts val="2520"/>
              </a:lnSpc>
            </a:pPr>
            <a:r>
              <a:rPr lang="en-US" sz="2100">
                <a:solidFill>
                  <a:srgbClr val="EDF1F5"/>
                </a:solidFill>
                <a:latin typeface="Courier New"/>
                <a:ea typeface="Courier New"/>
                <a:cs typeface="Courier New"/>
                <a:sym typeface="Courier New"/>
              </a:rPr>
              <a:t>CPU and Memory Stress Testing Tool</a:t>
            </a:r>
          </a:p>
          <a:p>
            <a:pPr algn="l">
              <a:lnSpc>
                <a:spcPts val="2520"/>
              </a:lnSpc>
            </a:pPr>
            <a:r>
              <a:rPr lang="en-US" sz="2100">
                <a:solidFill>
                  <a:srgbClr val="EDF1F5"/>
                </a:solidFill>
                <a:latin typeface="Courier New"/>
                <a:ea typeface="Courier New"/>
                <a:cs typeface="Courier New"/>
                <a:sym typeface="Courier New"/>
              </a:rPr>
              <a:t>----------------------------------</a:t>
            </a:r>
          </a:p>
          <a:p>
            <a:pPr algn="l">
              <a:lnSpc>
                <a:spcPts val="2520"/>
              </a:lnSpc>
            </a:pPr>
            <a:r>
              <a:rPr lang="en-US" sz="2100">
                <a:solidFill>
                  <a:srgbClr val="EDF1F5"/>
                </a:solidFill>
                <a:latin typeface="Courier New"/>
                <a:ea typeface="Courier New"/>
                <a:cs typeface="Courier New"/>
                <a:sym typeface="Courier New"/>
              </a:rPr>
              <a:t>CPU threads : 4</a:t>
            </a:r>
          </a:p>
          <a:p>
            <a:pPr algn="l">
              <a:lnSpc>
                <a:spcPts val="2520"/>
              </a:lnSpc>
            </a:pPr>
            <a:r>
              <a:rPr lang="en-US" sz="2100">
                <a:solidFill>
                  <a:srgbClr val="EDF1F5"/>
                </a:solidFill>
                <a:latin typeface="Courier New"/>
                <a:ea typeface="Courier New"/>
                <a:cs typeface="Courier New"/>
                <a:sym typeface="Courier New"/>
              </a:rPr>
              <a:t>Memory      : 512 MB</a:t>
            </a:r>
          </a:p>
          <a:p>
            <a:pPr algn="l">
              <a:lnSpc>
                <a:spcPts val="2520"/>
              </a:lnSpc>
            </a:pPr>
            <a:r>
              <a:rPr lang="en-US" sz="2100">
                <a:solidFill>
                  <a:srgbClr val="EDF1F5"/>
                </a:solidFill>
                <a:latin typeface="Courier New"/>
                <a:ea typeface="Courier New"/>
                <a:cs typeface="Courier New"/>
                <a:sym typeface="Courier New"/>
              </a:rPr>
              <a:t>Duration    : 30 seconds</a:t>
            </a:r>
          </a:p>
          <a:p>
            <a:pPr algn="l">
              <a:lnSpc>
                <a:spcPts val="2520"/>
              </a:lnSpc>
            </a:pPr>
            <a:r>
              <a:rPr lang="en-US" sz="2100">
                <a:solidFill>
                  <a:srgbClr val="EDF1F5"/>
                </a:solidFill>
                <a:latin typeface="Courier New"/>
                <a:ea typeface="Courier New"/>
                <a:cs typeface="Courier New"/>
                <a:sym typeface="Courier New"/>
              </a:rPr>
              <a:t>Press Ctrl+C to stop early.</a:t>
            </a:r>
          </a:p>
        </p:txBody>
      </p:sp>
      <p:sp>
        <p:nvSpPr>
          <p:cNvPr name="TextBox 46" id="46"/>
          <p:cNvSpPr txBox="true"/>
          <p:nvPr/>
        </p:nvSpPr>
        <p:spPr>
          <a:xfrm rot="0">
            <a:off x="10698480" y="6692265"/>
            <a:ext cx="6720840" cy="851535"/>
          </a:xfrm>
          <a:prstGeom prst="rect">
            <a:avLst/>
          </a:prstGeom>
        </p:spPr>
        <p:txBody>
          <a:bodyPr anchor="t" rtlCol="false" tIns="0" lIns="0" bIns="0" rIns="0">
            <a:spAutoFit/>
          </a:bodyPr>
          <a:lstStyle/>
          <a:p>
            <a:pPr algn="l">
              <a:lnSpc>
                <a:spcPts val="1980"/>
              </a:lnSpc>
            </a:pPr>
            <a:r>
              <a:rPr lang="en-US" sz="1650">
                <a:solidFill>
                  <a:srgbClr val="A3AEBB"/>
                </a:solidFill>
                <a:latin typeface="Calibri (MS)"/>
                <a:ea typeface="Calibri (MS)"/>
                <a:cs typeface="Calibri (MS)"/>
                <a:sym typeface="Calibri (MS)"/>
              </a:rPr>
              <a:t>Startup banner as printed by main.c for this example. Progress and summary output will be added from a real run.</a:t>
            </a:r>
          </a:p>
        </p:txBody>
      </p:sp>
      <p:sp>
        <p:nvSpPr>
          <p:cNvPr name="TextBox 47" id="47"/>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sp>
        <p:nvSpPr>
          <p:cNvPr name="TextBox 5" id="5"/>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03  ARCHITECTURE</a:t>
            </a:r>
          </a:p>
        </p:txBody>
      </p:sp>
      <p:sp>
        <p:nvSpPr>
          <p:cNvPr name="TextBox 6" id="6"/>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How main.c is organised</a:t>
            </a:r>
          </a:p>
        </p:txBody>
      </p:sp>
      <p:grpSp>
        <p:nvGrpSpPr>
          <p:cNvPr name="Group 7" id="7"/>
          <p:cNvGrpSpPr/>
          <p:nvPr/>
        </p:nvGrpSpPr>
        <p:grpSpPr>
          <a:xfrm rot="0">
            <a:off x="808672" y="2454592"/>
            <a:ext cx="2497455" cy="1263015"/>
            <a:chOff x="0" y="0"/>
            <a:chExt cx="3329940" cy="1684020"/>
          </a:xfrm>
        </p:grpSpPr>
        <p:sp>
          <p:nvSpPr>
            <p:cNvPr name="Freeform 8" id="8"/>
            <p:cNvSpPr/>
            <p:nvPr/>
          </p:nvSpPr>
          <p:spPr>
            <a:xfrm flipH="false" flipV="false" rot="0">
              <a:off x="0" y="0"/>
              <a:ext cx="3329940" cy="1684020"/>
            </a:xfrm>
            <a:custGeom>
              <a:avLst/>
              <a:gdLst/>
              <a:ahLst/>
              <a:cxnLst/>
              <a:rect r="r" b="b" t="t" l="l"/>
              <a:pathLst>
                <a:path h="1684020" w="3329940">
                  <a:moveTo>
                    <a:pt x="0" y="149733"/>
                  </a:moveTo>
                  <a:cubicBezTo>
                    <a:pt x="0" y="67056"/>
                    <a:pt x="67056" y="0"/>
                    <a:pt x="149733" y="0"/>
                  </a:cubicBezTo>
                  <a:lnTo>
                    <a:pt x="3180207" y="0"/>
                  </a:lnTo>
                  <a:cubicBezTo>
                    <a:pt x="3262884" y="0"/>
                    <a:pt x="3329940" y="67056"/>
                    <a:pt x="3329940" y="149733"/>
                  </a:cubicBezTo>
                  <a:lnTo>
                    <a:pt x="3329940" y="1534287"/>
                  </a:lnTo>
                  <a:cubicBezTo>
                    <a:pt x="3329940" y="1616964"/>
                    <a:pt x="3262884" y="1684020"/>
                    <a:pt x="3180207" y="1684020"/>
                  </a:cubicBezTo>
                  <a:lnTo>
                    <a:pt x="149733" y="1684020"/>
                  </a:lnTo>
                  <a:cubicBezTo>
                    <a:pt x="67056" y="1684020"/>
                    <a:pt x="0" y="1616964"/>
                    <a:pt x="0" y="1534287"/>
                  </a:cubicBezTo>
                  <a:close/>
                </a:path>
              </a:pathLst>
            </a:custGeom>
            <a:solidFill>
              <a:srgbClr val="252B32"/>
            </a:solidFill>
            <a:ln w="28575" cap="sq">
              <a:solidFill>
                <a:srgbClr val="2F9BFF"/>
              </a:solidFill>
              <a:prstDash val="solid"/>
              <a:miter/>
            </a:ln>
          </p:spPr>
        </p:sp>
      </p:grpSp>
      <p:grpSp>
        <p:nvGrpSpPr>
          <p:cNvPr name="Group 9" id="9"/>
          <p:cNvGrpSpPr/>
          <p:nvPr/>
        </p:nvGrpSpPr>
        <p:grpSpPr>
          <a:xfrm rot="0">
            <a:off x="932688" y="2468880"/>
            <a:ext cx="2249424" cy="1234440"/>
            <a:chOff x="0" y="0"/>
            <a:chExt cx="2999232" cy="1645920"/>
          </a:xfrm>
        </p:grpSpPr>
        <p:sp>
          <p:nvSpPr>
            <p:cNvPr name="Freeform 10" id="10"/>
            <p:cNvSpPr/>
            <p:nvPr/>
          </p:nvSpPr>
          <p:spPr>
            <a:xfrm flipH="false" flipV="false" rot="0">
              <a:off x="0" y="0"/>
              <a:ext cx="2999232" cy="1645920"/>
            </a:xfrm>
            <a:custGeom>
              <a:avLst/>
              <a:gdLst/>
              <a:ahLst/>
              <a:cxnLst/>
              <a:rect r="r" b="b" t="t" l="l"/>
              <a:pathLst>
                <a:path h="1645920" w="2999232">
                  <a:moveTo>
                    <a:pt x="0" y="0"/>
                  </a:moveTo>
                  <a:lnTo>
                    <a:pt x="2999232" y="0"/>
                  </a:lnTo>
                  <a:lnTo>
                    <a:pt x="2999232" y="1645920"/>
                  </a:lnTo>
                  <a:lnTo>
                    <a:pt x="0" y="1645920"/>
                  </a:lnTo>
                  <a:close/>
                </a:path>
              </a:pathLst>
            </a:custGeom>
            <a:blipFill>
              <a:blip r:embed="rId3">
                <a:alphaModFix amt="0"/>
              </a:blip>
              <a:stretch>
                <a:fillRect l="-20410" t="0" r="-20410" b="0"/>
              </a:stretch>
            </a:blipFill>
          </p:spPr>
        </p:sp>
        <p:sp>
          <p:nvSpPr>
            <p:cNvPr name="TextBox 11" id="11"/>
            <p:cNvSpPr txBox="true"/>
            <p:nvPr/>
          </p:nvSpPr>
          <p:spPr>
            <a:xfrm>
              <a:off x="0" y="-57150"/>
              <a:ext cx="2999232" cy="170307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User input</a:t>
              </a:r>
            </a:p>
            <a:p>
              <a:pPr algn="ctr">
                <a:lnSpc>
                  <a:spcPts val="1980"/>
                </a:lnSpc>
              </a:pPr>
              <a:r>
                <a:rPr lang="en-US" sz="1650">
                  <a:solidFill>
                    <a:srgbClr val="A3AEBB"/>
                  </a:solidFill>
                  <a:latin typeface="Calibri (MS)"/>
                  <a:ea typeface="Calibri (MS)"/>
                  <a:cs typeface="Calibri (MS)"/>
                  <a:sym typeface="Calibri (MS)"/>
                </a:rPr>
                <a:t>argv</a:t>
              </a:r>
            </a:p>
          </p:txBody>
        </p:sp>
      </p:grpSp>
      <p:grpSp>
        <p:nvGrpSpPr>
          <p:cNvPr name="Group 12" id="12"/>
          <p:cNvGrpSpPr/>
          <p:nvPr/>
        </p:nvGrpSpPr>
        <p:grpSpPr>
          <a:xfrm rot="0">
            <a:off x="3963353" y="2454592"/>
            <a:ext cx="3320415" cy="1263015"/>
            <a:chOff x="0" y="0"/>
            <a:chExt cx="4427220" cy="1684020"/>
          </a:xfrm>
        </p:grpSpPr>
        <p:sp>
          <p:nvSpPr>
            <p:cNvPr name="Freeform 13" id="13"/>
            <p:cNvSpPr/>
            <p:nvPr/>
          </p:nvSpPr>
          <p:spPr>
            <a:xfrm flipH="false" flipV="false" rot="0">
              <a:off x="0" y="0"/>
              <a:ext cx="4427220" cy="1684020"/>
            </a:xfrm>
            <a:custGeom>
              <a:avLst/>
              <a:gdLst/>
              <a:ahLst/>
              <a:cxnLst/>
              <a:rect r="r" b="b" t="t" l="l"/>
              <a:pathLst>
                <a:path h="1684020" w="4427220">
                  <a:moveTo>
                    <a:pt x="0" y="149733"/>
                  </a:moveTo>
                  <a:cubicBezTo>
                    <a:pt x="0" y="67056"/>
                    <a:pt x="67056" y="0"/>
                    <a:pt x="149733" y="0"/>
                  </a:cubicBezTo>
                  <a:lnTo>
                    <a:pt x="4277487" y="0"/>
                  </a:lnTo>
                  <a:cubicBezTo>
                    <a:pt x="4360164" y="0"/>
                    <a:pt x="4427220" y="67056"/>
                    <a:pt x="4427220" y="149733"/>
                  </a:cubicBezTo>
                  <a:lnTo>
                    <a:pt x="4427220" y="1534287"/>
                  </a:lnTo>
                  <a:cubicBezTo>
                    <a:pt x="4427220" y="1616964"/>
                    <a:pt x="4360164" y="1684020"/>
                    <a:pt x="4277487" y="1684020"/>
                  </a:cubicBezTo>
                  <a:lnTo>
                    <a:pt x="149733" y="1684020"/>
                  </a:lnTo>
                  <a:cubicBezTo>
                    <a:pt x="67056" y="1684020"/>
                    <a:pt x="0" y="1616964"/>
                    <a:pt x="0" y="1534287"/>
                  </a:cubicBezTo>
                  <a:close/>
                </a:path>
              </a:pathLst>
            </a:custGeom>
            <a:solidFill>
              <a:srgbClr val="252B32"/>
            </a:solidFill>
            <a:ln w="28575" cap="sq">
              <a:solidFill>
                <a:srgbClr val="2F9BFF"/>
              </a:solidFill>
              <a:prstDash val="solid"/>
              <a:miter/>
            </a:ln>
          </p:spPr>
        </p:sp>
      </p:grpSp>
      <p:grpSp>
        <p:nvGrpSpPr>
          <p:cNvPr name="Group 14" id="14"/>
          <p:cNvGrpSpPr/>
          <p:nvPr/>
        </p:nvGrpSpPr>
        <p:grpSpPr>
          <a:xfrm rot="0">
            <a:off x="4087368" y="2468880"/>
            <a:ext cx="3072384" cy="1234440"/>
            <a:chOff x="0" y="0"/>
            <a:chExt cx="4096512" cy="1645920"/>
          </a:xfrm>
        </p:grpSpPr>
        <p:sp>
          <p:nvSpPr>
            <p:cNvPr name="Freeform 15" id="15"/>
            <p:cNvSpPr/>
            <p:nvPr/>
          </p:nvSpPr>
          <p:spPr>
            <a:xfrm flipH="false" flipV="false" rot="0">
              <a:off x="0" y="0"/>
              <a:ext cx="4096512" cy="1645920"/>
            </a:xfrm>
            <a:custGeom>
              <a:avLst/>
              <a:gdLst/>
              <a:ahLst/>
              <a:cxnLst/>
              <a:rect r="r" b="b" t="t" l="l"/>
              <a:pathLst>
                <a:path h="1645920" w="4096512">
                  <a:moveTo>
                    <a:pt x="0" y="0"/>
                  </a:moveTo>
                  <a:lnTo>
                    <a:pt x="4096512" y="0"/>
                  </a:lnTo>
                  <a:lnTo>
                    <a:pt x="4096512" y="1645920"/>
                  </a:lnTo>
                  <a:lnTo>
                    <a:pt x="0" y="1645920"/>
                  </a:lnTo>
                  <a:close/>
                </a:path>
              </a:pathLst>
            </a:custGeom>
            <a:blipFill>
              <a:blip r:embed="rId3">
                <a:alphaModFix amt="0"/>
              </a:blip>
              <a:stretch>
                <a:fillRect l="-1550" t="0" r="-1550" b="0"/>
              </a:stretch>
            </a:blipFill>
          </p:spPr>
        </p:sp>
        <p:sp>
          <p:nvSpPr>
            <p:cNvPr name="TextBox 16" id="16"/>
            <p:cNvSpPr txBox="true"/>
            <p:nvPr/>
          </p:nvSpPr>
          <p:spPr>
            <a:xfrm>
              <a:off x="0" y="-57150"/>
              <a:ext cx="4096512" cy="170307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Parse and validate</a:t>
              </a:r>
            </a:p>
            <a:p>
              <a:pPr algn="ctr">
                <a:lnSpc>
                  <a:spcPts val="1980"/>
                </a:lnSpc>
              </a:pPr>
              <a:r>
                <a:rPr lang="en-US" sz="1650">
                  <a:solidFill>
                    <a:srgbClr val="A3AEBB"/>
                  </a:solidFill>
                  <a:latin typeface="Calibri (MS)"/>
                  <a:ea typeface="Calibri (MS)"/>
                  <a:cs typeface="Calibri (MS)"/>
                  <a:sym typeface="Calibri (MS)"/>
                </a:rPr>
                <a:t>strtol, range checks</a:t>
              </a:r>
            </a:p>
          </p:txBody>
        </p:sp>
      </p:grpSp>
      <p:grpSp>
        <p:nvGrpSpPr>
          <p:cNvPr name="Group 17" id="17"/>
          <p:cNvGrpSpPr/>
          <p:nvPr/>
        </p:nvGrpSpPr>
        <p:grpSpPr>
          <a:xfrm rot="0">
            <a:off x="7940993" y="2454592"/>
            <a:ext cx="3320415" cy="1263015"/>
            <a:chOff x="0" y="0"/>
            <a:chExt cx="4427220" cy="1684020"/>
          </a:xfrm>
        </p:grpSpPr>
        <p:sp>
          <p:nvSpPr>
            <p:cNvPr name="Freeform 18" id="18"/>
            <p:cNvSpPr/>
            <p:nvPr/>
          </p:nvSpPr>
          <p:spPr>
            <a:xfrm flipH="false" flipV="false" rot="0">
              <a:off x="0" y="0"/>
              <a:ext cx="4427220" cy="1684020"/>
            </a:xfrm>
            <a:custGeom>
              <a:avLst/>
              <a:gdLst/>
              <a:ahLst/>
              <a:cxnLst/>
              <a:rect r="r" b="b" t="t" l="l"/>
              <a:pathLst>
                <a:path h="1684020" w="4427220">
                  <a:moveTo>
                    <a:pt x="0" y="149733"/>
                  </a:moveTo>
                  <a:cubicBezTo>
                    <a:pt x="0" y="67056"/>
                    <a:pt x="67056" y="0"/>
                    <a:pt x="149733" y="0"/>
                  </a:cubicBezTo>
                  <a:lnTo>
                    <a:pt x="4277487" y="0"/>
                  </a:lnTo>
                  <a:cubicBezTo>
                    <a:pt x="4360164" y="0"/>
                    <a:pt x="4427220" y="67056"/>
                    <a:pt x="4427220" y="149733"/>
                  </a:cubicBezTo>
                  <a:lnTo>
                    <a:pt x="4427220" y="1534287"/>
                  </a:lnTo>
                  <a:cubicBezTo>
                    <a:pt x="4427220" y="1616964"/>
                    <a:pt x="4360164" y="1684020"/>
                    <a:pt x="4277487" y="1684020"/>
                  </a:cubicBezTo>
                  <a:lnTo>
                    <a:pt x="149733" y="1684020"/>
                  </a:lnTo>
                  <a:cubicBezTo>
                    <a:pt x="67056" y="1684020"/>
                    <a:pt x="0" y="1616964"/>
                    <a:pt x="0" y="1534287"/>
                  </a:cubicBezTo>
                  <a:close/>
                </a:path>
              </a:pathLst>
            </a:custGeom>
            <a:solidFill>
              <a:srgbClr val="252B32"/>
            </a:solidFill>
            <a:ln w="28575" cap="sq">
              <a:solidFill>
                <a:srgbClr val="2F9BFF"/>
              </a:solidFill>
              <a:prstDash val="solid"/>
              <a:miter/>
            </a:ln>
          </p:spPr>
        </p:sp>
      </p:grpSp>
      <p:grpSp>
        <p:nvGrpSpPr>
          <p:cNvPr name="Group 19" id="19"/>
          <p:cNvGrpSpPr/>
          <p:nvPr/>
        </p:nvGrpSpPr>
        <p:grpSpPr>
          <a:xfrm rot="0">
            <a:off x="8065008" y="2468880"/>
            <a:ext cx="3072384" cy="1234440"/>
            <a:chOff x="0" y="0"/>
            <a:chExt cx="4096512" cy="1645920"/>
          </a:xfrm>
        </p:grpSpPr>
        <p:sp>
          <p:nvSpPr>
            <p:cNvPr name="Freeform 20" id="20"/>
            <p:cNvSpPr/>
            <p:nvPr/>
          </p:nvSpPr>
          <p:spPr>
            <a:xfrm flipH="false" flipV="false" rot="0">
              <a:off x="0" y="0"/>
              <a:ext cx="4096512" cy="1645920"/>
            </a:xfrm>
            <a:custGeom>
              <a:avLst/>
              <a:gdLst/>
              <a:ahLst/>
              <a:cxnLst/>
              <a:rect r="r" b="b" t="t" l="l"/>
              <a:pathLst>
                <a:path h="1645920" w="4096512">
                  <a:moveTo>
                    <a:pt x="0" y="0"/>
                  </a:moveTo>
                  <a:lnTo>
                    <a:pt x="4096512" y="0"/>
                  </a:lnTo>
                  <a:lnTo>
                    <a:pt x="4096512" y="1645920"/>
                  </a:lnTo>
                  <a:lnTo>
                    <a:pt x="0" y="1645920"/>
                  </a:lnTo>
                  <a:close/>
                </a:path>
              </a:pathLst>
            </a:custGeom>
            <a:blipFill>
              <a:blip r:embed="rId3">
                <a:alphaModFix amt="0"/>
              </a:blip>
              <a:stretch>
                <a:fillRect l="-1550" t="0" r="-1550" b="0"/>
              </a:stretch>
            </a:blipFill>
          </p:spPr>
        </p:sp>
        <p:sp>
          <p:nvSpPr>
            <p:cNvPr name="TextBox 21" id="21"/>
            <p:cNvSpPr txBox="true"/>
            <p:nvPr/>
          </p:nvSpPr>
          <p:spPr>
            <a:xfrm>
              <a:off x="0" y="-57150"/>
              <a:ext cx="4096512" cy="170307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Memory safety check</a:t>
              </a:r>
            </a:p>
            <a:p>
              <a:pPr algn="ctr">
                <a:lnSpc>
                  <a:spcPts val="1980"/>
                </a:lnSpc>
              </a:pPr>
              <a:r>
                <a:rPr lang="en-US" sz="1650">
                  <a:solidFill>
                    <a:srgbClr val="A3AEBB"/>
                  </a:solidFill>
                  <a:latin typeface="Calibri (MS)"/>
                  <a:ea typeface="Calibri (MS)"/>
                  <a:cs typeface="Calibri (MS)"/>
                  <a:sym typeface="Calibri (MS)"/>
                </a:rPr>
                <a:t>sysinfo free RAM</a:t>
              </a:r>
            </a:p>
          </p:txBody>
        </p:sp>
      </p:grpSp>
      <p:grpSp>
        <p:nvGrpSpPr>
          <p:cNvPr name="Group 22" id="22"/>
          <p:cNvGrpSpPr/>
          <p:nvPr/>
        </p:nvGrpSpPr>
        <p:grpSpPr>
          <a:xfrm rot="0">
            <a:off x="12330112" y="2043112"/>
            <a:ext cx="5103495" cy="1194435"/>
            <a:chOff x="0" y="0"/>
            <a:chExt cx="6804660" cy="1592580"/>
          </a:xfrm>
        </p:grpSpPr>
        <p:sp>
          <p:nvSpPr>
            <p:cNvPr name="Freeform 23" id="23"/>
            <p:cNvSpPr/>
            <p:nvPr/>
          </p:nvSpPr>
          <p:spPr>
            <a:xfrm flipH="false" flipV="false" rot="0">
              <a:off x="0" y="0"/>
              <a:ext cx="6804660" cy="1592580"/>
            </a:xfrm>
            <a:custGeom>
              <a:avLst/>
              <a:gdLst/>
              <a:ahLst/>
              <a:cxnLst/>
              <a:rect r="r" b="b" t="t" l="l"/>
              <a:pathLst>
                <a:path h="1592580" w="6804660">
                  <a:moveTo>
                    <a:pt x="0" y="149860"/>
                  </a:moveTo>
                  <a:cubicBezTo>
                    <a:pt x="0" y="67056"/>
                    <a:pt x="67056" y="0"/>
                    <a:pt x="149860" y="0"/>
                  </a:cubicBezTo>
                  <a:lnTo>
                    <a:pt x="6654800" y="0"/>
                  </a:lnTo>
                  <a:cubicBezTo>
                    <a:pt x="6737604" y="0"/>
                    <a:pt x="6804660" y="67056"/>
                    <a:pt x="6804660" y="149860"/>
                  </a:cubicBezTo>
                  <a:lnTo>
                    <a:pt x="6804660" y="1442720"/>
                  </a:lnTo>
                  <a:cubicBezTo>
                    <a:pt x="6804660" y="1525524"/>
                    <a:pt x="6737604" y="1592580"/>
                    <a:pt x="6654800" y="1592580"/>
                  </a:cubicBezTo>
                  <a:lnTo>
                    <a:pt x="149860" y="1592580"/>
                  </a:lnTo>
                  <a:cubicBezTo>
                    <a:pt x="67056" y="1592580"/>
                    <a:pt x="0" y="1525524"/>
                    <a:pt x="0" y="1442720"/>
                  </a:cubicBezTo>
                  <a:close/>
                </a:path>
              </a:pathLst>
            </a:custGeom>
            <a:solidFill>
              <a:srgbClr val="252B32"/>
            </a:solidFill>
            <a:ln w="28575" cap="sq">
              <a:solidFill>
                <a:srgbClr val="2F9BFF"/>
              </a:solidFill>
              <a:prstDash val="solid"/>
              <a:miter/>
            </a:ln>
          </p:spPr>
        </p:sp>
      </p:grpSp>
      <p:grpSp>
        <p:nvGrpSpPr>
          <p:cNvPr name="Group 24" id="24"/>
          <p:cNvGrpSpPr/>
          <p:nvPr/>
        </p:nvGrpSpPr>
        <p:grpSpPr>
          <a:xfrm rot="0">
            <a:off x="12454128" y="2057400"/>
            <a:ext cx="4855464" cy="1165860"/>
            <a:chOff x="0" y="0"/>
            <a:chExt cx="6473952" cy="1554480"/>
          </a:xfrm>
        </p:grpSpPr>
        <p:sp>
          <p:nvSpPr>
            <p:cNvPr name="Freeform 25" id="25"/>
            <p:cNvSpPr/>
            <p:nvPr/>
          </p:nvSpPr>
          <p:spPr>
            <a:xfrm flipH="false" flipV="false" rot="0">
              <a:off x="0" y="0"/>
              <a:ext cx="6473952" cy="1554480"/>
            </a:xfrm>
            <a:custGeom>
              <a:avLst/>
              <a:gdLst/>
              <a:ahLst/>
              <a:cxnLst/>
              <a:rect r="r" b="b" t="t" l="l"/>
              <a:pathLst>
                <a:path h="1554480" w="6473952">
                  <a:moveTo>
                    <a:pt x="0" y="0"/>
                  </a:moveTo>
                  <a:lnTo>
                    <a:pt x="6473952" y="0"/>
                  </a:lnTo>
                  <a:lnTo>
                    <a:pt x="6473952" y="1554480"/>
                  </a:lnTo>
                  <a:lnTo>
                    <a:pt x="0" y="1554480"/>
                  </a:lnTo>
                  <a:close/>
                </a:path>
              </a:pathLst>
            </a:custGeom>
            <a:blipFill>
              <a:blip r:embed="rId3">
                <a:alphaModFix amt="0"/>
              </a:blip>
              <a:stretch>
                <a:fillRect l="0" t="-31149" r="0" b="-31149"/>
              </a:stretch>
            </a:blipFill>
          </p:spPr>
        </p:sp>
        <p:sp>
          <p:nvSpPr>
            <p:cNvPr name="TextBox 26" id="26"/>
            <p:cNvSpPr txBox="true"/>
            <p:nvPr/>
          </p:nvSpPr>
          <p:spPr>
            <a:xfrm>
              <a:off x="0" y="-57150"/>
              <a:ext cx="6473952" cy="161163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CPU worker threads</a:t>
              </a:r>
            </a:p>
            <a:p>
              <a:pPr algn="ctr">
                <a:lnSpc>
                  <a:spcPts val="1980"/>
                </a:lnSpc>
              </a:pPr>
              <a:r>
                <a:rPr lang="en-US" sz="1650">
                  <a:solidFill>
                    <a:srgbClr val="A3AEBB"/>
                  </a:solidFill>
                  <a:latin typeface="Calibri (MS)"/>
                  <a:ea typeface="Calibri (MS)"/>
                  <a:cs typeface="Calibri (MS)"/>
                  <a:sym typeface="Calibri (MS)"/>
                </a:rPr>
                <a:t>N x pthread, arithmetic loop</a:t>
              </a:r>
            </a:p>
          </p:txBody>
        </p:sp>
      </p:grpSp>
      <p:grpSp>
        <p:nvGrpSpPr>
          <p:cNvPr name="Group 27" id="27"/>
          <p:cNvGrpSpPr/>
          <p:nvPr/>
        </p:nvGrpSpPr>
        <p:grpSpPr>
          <a:xfrm rot="0">
            <a:off x="12330112" y="3689033"/>
            <a:ext cx="5103495" cy="1194435"/>
            <a:chOff x="0" y="0"/>
            <a:chExt cx="6804660" cy="1592580"/>
          </a:xfrm>
        </p:grpSpPr>
        <p:sp>
          <p:nvSpPr>
            <p:cNvPr name="Freeform 28" id="28"/>
            <p:cNvSpPr/>
            <p:nvPr/>
          </p:nvSpPr>
          <p:spPr>
            <a:xfrm flipH="false" flipV="false" rot="0">
              <a:off x="0" y="0"/>
              <a:ext cx="6804660" cy="1592580"/>
            </a:xfrm>
            <a:custGeom>
              <a:avLst/>
              <a:gdLst/>
              <a:ahLst/>
              <a:cxnLst/>
              <a:rect r="r" b="b" t="t" l="l"/>
              <a:pathLst>
                <a:path h="1592580" w="6804660">
                  <a:moveTo>
                    <a:pt x="0" y="149860"/>
                  </a:moveTo>
                  <a:cubicBezTo>
                    <a:pt x="0" y="67056"/>
                    <a:pt x="67056" y="0"/>
                    <a:pt x="149860" y="0"/>
                  </a:cubicBezTo>
                  <a:lnTo>
                    <a:pt x="6654800" y="0"/>
                  </a:lnTo>
                  <a:cubicBezTo>
                    <a:pt x="6737604" y="0"/>
                    <a:pt x="6804660" y="67056"/>
                    <a:pt x="6804660" y="149860"/>
                  </a:cubicBezTo>
                  <a:lnTo>
                    <a:pt x="6804660" y="1442720"/>
                  </a:lnTo>
                  <a:cubicBezTo>
                    <a:pt x="6804660" y="1525524"/>
                    <a:pt x="6737604" y="1592580"/>
                    <a:pt x="6654800" y="1592580"/>
                  </a:cubicBezTo>
                  <a:lnTo>
                    <a:pt x="149860" y="1592580"/>
                  </a:lnTo>
                  <a:cubicBezTo>
                    <a:pt x="67056" y="1592580"/>
                    <a:pt x="0" y="1525524"/>
                    <a:pt x="0" y="1442720"/>
                  </a:cubicBezTo>
                  <a:close/>
                </a:path>
              </a:pathLst>
            </a:custGeom>
            <a:solidFill>
              <a:srgbClr val="252B32"/>
            </a:solidFill>
            <a:ln w="28575" cap="sq">
              <a:solidFill>
                <a:srgbClr val="2F9BFF"/>
              </a:solidFill>
              <a:prstDash val="solid"/>
              <a:miter/>
            </a:ln>
          </p:spPr>
        </p:sp>
      </p:grpSp>
      <p:grpSp>
        <p:nvGrpSpPr>
          <p:cNvPr name="Group 29" id="29"/>
          <p:cNvGrpSpPr/>
          <p:nvPr/>
        </p:nvGrpSpPr>
        <p:grpSpPr>
          <a:xfrm rot="0">
            <a:off x="12454128" y="3703320"/>
            <a:ext cx="4855464" cy="1165860"/>
            <a:chOff x="0" y="0"/>
            <a:chExt cx="6473952" cy="1554480"/>
          </a:xfrm>
        </p:grpSpPr>
        <p:sp>
          <p:nvSpPr>
            <p:cNvPr name="Freeform 30" id="30"/>
            <p:cNvSpPr/>
            <p:nvPr/>
          </p:nvSpPr>
          <p:spPr>
            <a:xfrm flipH="false" flipV="false" rot="0">
              <a:off x="0" y="0"/>
              <a:ext cx="6473952" cy="1554480"/>
            </a:xfrm>
            <a:custGeom>
              <a:avLst/>
              <a:gdLst/>
              <a:ahLst/>
              <a:cxnLst/>
              <a:rect r="r" b="b" t="t" l="l"/>
              <a:pathLst>
                <a:path h="1554480" w="6473952">
                  <a:moveTo>
                    <a:pt x="0" y="0"/>
                  </a:moveTo>
                  <a:lnTo>
                    <a:pt x="6473952" y="0"/>
                  </a:lnTo>
                  <a:lnTo>
                    <a:pt x="6473952" y="1554480"/>
                  </a:lnTo>
                  <a:lnTo>
                    <a:pt x="0" y="1554480"/>
                  </a:lnTo>
                  <a:close/>
                </a:path>
              </a:pathLst>
            </a:custGeom>
            <a:blipFill>
              <a:blip r:embed="rId3">
                <a:alphaModFix amt="0"/>
              </a:blip>
              <a:stretch>
                <a:fillRect l="0" t="-31149" r="0" b="-31149"/>
              </a:stretch>
            </a:blipFill>
          </p:spPr>
        </p:sp>
        <p:sp>
          <p:nvSpPr>
            <p:cNvPr name="TextBox 31" id="31"/>
            <p:cNvSpPr txBox="true"/>
            <p:nvPr/>
          </p:nvSpPr>
          <p:spPr>
            <a:xfrm>
              <a:off x="0" y="-57150"/>
              <a:ext cx="6473952" cy="161163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Memory workload</a:t>
              </a:r>
            </a:p>
            <a:p>
              <a:pPr algn="ctr">
                <a:lnSpc>
                  <a:spcPts val="1980"/>
                </a:lnSpc>
              </a:pPr>
              <a:r>
                <a:rPr lang="en-US" sz="1650">
                  <a:solidFill>
                    <a:srgbClr val="A3AEBB"/>
                  </a:solidFill>
                  <a:latin typeface="Calibri (MS)"/>
                  <a:ea typeface="Calibri (MS)"/>
                  <a:cs typeface="Calibri (MS)"/>
                  <a:sym typeface="Calibri (MS)"/>
                </a:rPr>
                <a:t>main thread: touch and read</a:t>
              </a:r>
            </a:p>
          </p:txBody>
        </p:sp>
      </p:grpSp>
      <p:sp>
        <p:nvSpPr>
          <p:cNvPr name="AutoShape 32" id="32"/>
          <p:cNvSpPr/>
          <p:nvPr/>
        </p:nvSpPr>
        <p:spPr>
          <a:xfrm flipV="true">
            <a:off x="3269780" y="3086100"/>
            <a:ext cx="729920" cy="0"/>
          </a:xfrm>
          <a:prstGeom prst="line">
            <a:avLst/>
          </a:prstGeom>
          <a:ln cap="rnd" w="19050">
            <a:solidFill>
              <a:srgbClr val="2F9BFF"/>
            </a:solidFill>
            <a:prstDash val="solid"/>
            <a:headEnd type="none" len="sm" w="sm"/>
            <a:tailEnd type="triangle" len="med" w="lg"/>
          </a:ln>
        </p:spPr>
      </p:sp>
      <p:sp>
        <p:nvSpPr>
          <p:cNvPr name="AutoShape 33" id="33"/>
          <p:cNvSpPr/>
          <p:nvPr/>
        </p:nvSpPr>
        <p:spPr>
          <a:xfrm>
            <a:off x="7247420" y="3086100"/>
            <a:ext cx="729920" cy="0"/>
          </a:xfrm>
          <a:prstGeom prst="line">
            <a:avLst/>
          </a:prstGeom>
          <a:ln cap="rnd" w="19050">
            <a:solidFill>
              <a:srgbClr val="2F9BFF"/>
            </a:solidFill>
            <a:prstDash val="solid"/>
            <a:headEnd type="none" len="sm" w="sm"/>
            <a:tailEnd type="triangle" len="med" w="lg"/>
          </a:ln>
        </p:spPr>
      </p:sp>
      <p:sp>
        <p:nvSpPr>
          <p:cNvPr name="AutoShape 34" id="34"/>
          <p:cNvSpPr/>
          <p:nvPr/>
        </p:nvSpPr>
        <p:spPr>
          <a:xfrm rot="-855540">
            <a:off x="11207572" y="2747391"/>
            <a:ext cx="1176385" cy="0"/>
          </a:xfrm>
          <a:prstGeom prst="line">
            <a:avLst/>
          </a:prstGeom>
          <a:ln cap="rnd" w="19050">
            <a:solidFill>
              <a:srgbClr val="2F9BFF"/>
            </a:solidFill>
            <a:prstDash val="solid"/>
            <a:headEnd type="none" len="sm" w="sm"/>
            <a:tailEnd type="triangle" len="med" w="lg"/>
          </a:ln>
        </p:spPr>
      </p:sp>
      <p:sp>
        <p:nvSpPr>
          <p:cNvPr name="AutoShape 35" id="35"/>
          <p:cNvSpPr/>
          <p:nvPr/>
        </p:nvSpPr>
        <p:spPr>
          <a:xfrm rot="2526360">
            <a:off x="11027369" y="3776091"/>
            <a:ext cx="1536773" cy="0"/>
          </a:xfrm>
          <a:prstGeom prst="line">
            <a:avLst/>
          </a:prstGeom>
          <a:ln cap="rnd" w="19050">
            <a:solidFill>
              <a:srgbClr val="2F9BFF"/>
            </a:solidFill>
            <a:prstDash val="solid"/>
            <a:headEnd type="none" len="sm" w="sm"/>
            <a:tailEnd type="triangle" len="med" w="lg"/>
          </a:ln>
        </p:spPr>
      </p:sp>
      <p:grpSp>
        <p:nvGrpSpPr>
          <p:cNvPr name="Group 36" id="36"/>
          <p:cNvGrpSpPr/>
          <p:nvPr/>
        </p:nvGrpSpPr>
        <p:grpSpPr>
          <a:xfrm rot="0">
            <a:off x="12330112" y="5609272"/>
            <a:ext cx="5103495" cy="1125855"/>
            <a:chOff x="0" y="0"/>
            <a:chExt cx="6804660" cy="1501140"/>
          </a:xfrm>
        </p:grpSpPr>
        <p:sp>
          <p:nvSpPr>
            <p:cNvPr name="Freeform 37" id="37"/>
            <p:cNvSpPr/>
            <p:nvPr/>
          </p:nvSpPr>
          <p:spPr>
            <a:xfrm flipH="false" flipV="false" rot="0">
              <a:off x="0" y="0"/>
              <a:ext cx="6804660" cy="1501140"/>
            </a:xfrm>
            <a:custGeom>
              <a:avLst/>
              <a:gdLst/>
              <a:ahLst/>
              <a:cxnLst/>
              <a:rect r="r" b="b" t="t" l="l"/>
              <a:pathLst>
                <a:path h="1501140" w="6804660">
                  <a:moveTo>
                    <a:pt x="0" y="150114"/>
                  </a:moveTo>
                  <a:cubicBezTo>
                    <a:pt x="0" y="67183"/>
                    <a:pt x="67183" y="0"/>
                    <a:pt x="150114" y="0"/>
                  </a:cubicBezTo>
                  <a:lnTo>
                    <a:pt x="6654546" y="0"/>
                  </a:lnTo>
                  <a:cubicBezTo>
                    <a:pt x="6737477" y="0"/>
                    <a:pt x="6804660" y="67183"/>
                    <a:pt x="6804660" y="150114"/>
                  </a:cubicBezTo>
                  <a:lnTo>
                    <a:pt x="6804660" y="1351026"/>
                  </a:lnTo>
                  <a:cubicBezTo>
                    <a:pt x="6804660" y="1433957"/>
                    <a:pt x="6737477" y="1501140"/>
                    <a:pt x="6654546" y="1501140"/>
                  </a:cubicBezTo>
                  <a:lnTo>
                    <a:pt x="150114" y="1501140"/>
                  </a:lnTo>
                  <a:cubicBezTo>
                    <a:pt x="67183" y="1501140"/>
                    <a:pt x="0" y="1433957"/>
                    <a:pt x="0" y="1351026"/>
                  </a:cubicBezTo>
                  <a:close/>
                </a:path>
              </a:pathLst>
            </a:custGeom>
            <a:solidFill>
              <a:srgbClr val="252B32"/>
            </a:solidFill>
            <a:ln w="28575" cap="sq">
              <a:solidFill>
                <a:srgbClr val="3FB67A"/>
              </a:solidFill>
              <a:prstDash val="solid"/>
              <a:miter/>
            </a:ln>
          </p:spPr>
        </p:sp>
      </p:grpSp>
      <p:grpSp>
        <p:nvGrpSpPr>
          <p:cNvPr name="Group 38" id="38"/>
          <p:cNvGrpSpPr/>
          <p:nvPr/>
        </p:nvGrpSpPr>
        <p:grpSpPr>
          <a:xfrm rot="0">
            <a:off x="12454128" y="5623560"/>
            <a:ext cx="4855464" cy="1097280"/>
            <a:chOff x="0" y="0"/>
            <a:chExt cx="6473952" cy="1463040"/>
          </a:xfrm>
        </p:grpSpPr>
        <p:sp>
          <p:nvSpPr>
            <p:cNvPr name="Freeform 39" id="39"/>
            <p:cNvSpPr/>
            <p:nvPr/>
          </p:nvSpPr>
          <p:spPr>
            <a:xfrm flipH="false" flipV="false" rot="0">
              <a:off x="0" y="0"/>
              <a:ext cx="6473952" cy="1463040"/>
            </a:xfrm>
            <a:custGeom>
              <a:avLst/>
              <a:gdLst/>
              <a:ahLst/>
              <a:cxnLst/>
              <a:rect r="r" b="b" t="t" l="l"/>
              <a:pathLst>
                <a:path h="1463040" w="6473952">
                  <a:moveTo>
                    <a:pt x="0" y="0"/>
                  </a:moveTo>
                  <a:lnTo>
                    <a:pt x="6473952" y="0"/>
                  </a:lnTo>
                  <a:lnTo>
                    <a:pt x="6473952" y="1463040"/>
                  </a:lnTo>
                  <a:lnTo>
                    <a:pt x="0" y="1463040"/>
                  </a:lnTo>
                  <a:close/>
                </a:path>
              </a:pathLst>
            </a:custGeom>
            <a:blipFill>
              <a:blip r:embed="rId3">
                <a:alphaModFix amt="0"/>
              </a:blip>
              <a:stretch>
                <a:fillRect l="0" t="-36221" r="0" b="-36221"/>
              </a:stretch>
            </a:blipFill>
          </p:spPr>
        </p:sp>
        <p:sp>
          <p:nvSpPr>
            <p:cNvPr name="TextBox 40" id="40"/>
            <p:cNvSpPr txBox="true"/>
            <p:nvPr/>
          </p:nvSpPr>
          <p:spPr>
            <a:xfrm>
              <a:off x="0" y="-57150"/>
              <a:ext cx="6473952" cy="152019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Shared atomics</a:t>
              </a:r>
            </a:p>
            <a:p>
              <a:pPr algn="ctr">
                <a:lnSpc>
                  <a:spcPts val="1980"/>
                </a:lnSpc>
              </a:pPr>
              <a:r>
                <a:rPr lang="en-US" sz="1650">
                  <a:solidFill>
                    <a:srgbClr val="A3AEBB"/>
                  </a:solidFill>
                  <a:latin typeface="Calibri (MS)"/>
                  <a:ea typeface="Calibri (MS)"/>
                  <a:cs typeface="Calibri (MS)"/>
                  <a:sym typeface="Calibri (MS)"/>
                </a:rPr>
                <a:t>stop_test, operations</a:t>
              </a:r>
            </a:p>
          </p:txBody>
        </p:sp>
      </p:grpSp>
      <p:grpSp>
        <p:nvGrpSpPr>
          <p:cNvPr name="Group 41" id="41"/>
          <p:cNvGrpSpPr/>
          <p:nvPr/>
        </p:nvGrpSpPr>
        <p:grpSpPr>
          <a:xfrm rot="0">
            <a:off x="7940993" y="5609272"/>
            <a:ext cx="3320415" cy="1125855"/>
            <a:chOff x="0" y="0"/>
            <a:chExt cx="4427220" cy="1501140"/>
          </a:xfrm>
        </p:grpSpPr>
        <p:sp>
          <p:nvSpPr>
            <p:cNvPr name="Freeform 42" id="42"/>
            <p:cNvSpPr/>
            <p:nvPr/>
          </p:nvSpPr>
          <p:spPr>
            <a:xfrm flipH="false" flipV="false" rot="0">
              <a:off x="0" y="0"/>
              <a:ext cx="4427220" cy="1501140"/>
            </a:xfrm>
            <a:custGeom>
              <a:avLst/>
              <a:gdLst/>
              <a:ahLst/>
              <a:cxnLst/>
              <a:rect r="r" b="b" t="t" l="l"/>
              <a:pathLst>
                <a:path h="1501140" w="4427220">
                  <a:moveTo>
                    <a:pt x="0" y="150114"/>
                  </a:moveTo>
                  <a:cubicBezTo>
                    <a:pt x="0" y="67183"/>
                    <a:pt x="67183" y="0"/>
                    <a:pt x="150114" y="0"/>
                  </a:cubicBezTo>
                  <a:lnTo>
                    <a:pt x="4277106" y="0"/>
                  </a:lnTo>
                  <a:cubicBezTo>
                    <a:pt x="4360037" y="0"/>
                    <a:pt x="4427220" y="67183"/>
                    <a:pt x="4427220" y="150114"/>
                  </a:cubicBezTo>
                  <a:lnTo>
                    <a:pt x="4427220" y="1351026"/>
                  </a:lnTo>
                  <a:cubicBezTo>
                    <a:pt x="4427220" y="1433957"/>
                    <a:pt x="4360037" y="1501140"/>
                    <a:pt x="4277106" y="1501140"/>
                  </a:cubicBezTo>
                  <a:lnTo>
                    <a:pt x="150114" y="1501140"/>
                  </a:lnTo>
                  <a:cubicBezTo>
                    <a:pt x="67183" y="1501140"/>
                    <a:pt x="0" y="1433957"/>
                    <a:pt x="0" y="1351026"/>
                  </a:cubicBezTo>
                  <a:close/>
                </a:path>
              </a:pathLst>
            </a:custGeom>
            <a:solidFill>
              <a:srgbClr val="252B32"/>
            </a:solidFill>
            <a:ln w="28575" cap="sq">
              <a:solidFill>
                <a:srgbClr val="2F9BFF"/>
              </a:solidFill>
              <a:prstDash val="solid"/>
              <a:miter/>
            </a:ln>
          </p:spPr>
        </p:sp>
      </p:grpSp>
      <p:grpSp>
        <p:nvGrpSpPr>
          <p:cNvPr name="Group 43" id="43"/>
          <p:cNvGrpSpPr/>
          <p:nvPr/>
        </p:nvGrpSpPr>
        <p:grpSpPr>
          <a:xfrm rot="0">
            <a:off x="8065008" y="5623560"/>
            <a:ext cx="3072384" cy="1097280"/>
            <a:chOff x="0" y="0"/>
            <a:chExt cx="4096512" cy="1463040"/>
          </a:xfrm>
        </p:grpSpPr>
        <p:sp>
          <p:nvSpPr>
            <p:cNvPr name="Freeform 44" id="44"/>
            <p:cNvSpPr/>
            <p:nvPr/>
          </p:nvSpPr>
          <p:spPr>
            <a:xfrm flipH="false" flipV="false" rot="0">
              <a:off x="0" y="0"/>
              <a:ext cx="4096512" cy="1463040"/>
            </a:xfrm>
            <a:custGeom>
              <a:avLst/>
              <a:gdLst/>
              <a:ahLst/>
              <a:cxnLst/>
              <a:rect r="r" b="b" t="t" l="l"/>
              <a:pathLst>
                <a:path h="1463040" w="4096512">
                  <a:moveTo>
                    <a:pt x="0" y="0"/>
                  </a:moveTo>
                  <a:lnTo>
                    <a:pt x="4096512" y="0"/>
                  </a:lnTo>
                  <a:lnTo>
                    <a:pt x="4096512" y="1463040"/>
                  </a:lnTo>
                  <a:lnTo>
                    <a:pt x="0" y="1463040"/>
                  </a:lnTo>
                  <a:close/>
                </a:path>
              </a:pathLst>
            </a:custGeom>
            <a:blipFill>
              <a:blip r:embed="rId3">
                <a:alphaModFix amt="0"/>
              </a:blip>
              <a:stretch>
                <a:fillRect l="0" t="-4558" r="0" b="-4558"/>
              </a:stretch>
            </a:blipFill>
          </p:spPr>
        </p:sp>
        <p:sp>
          <p:nvSpPr>
            <p:cNvPr name="TextBox 45" id="45"/>
            <p:cNvSpPr txBox="true"/>
            <p:nvPr/>
          </p:nvSpPr>
          <p:spPr>
            <a:xfrm>
              <a:off x="0" y="-57150"/>
              <a:ext cx="4096512" cy="152019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SIGINT / SIGTERM</a:t>
              </a:r>
            </a:p>
            <a:p>
              <a:pPr algn="ctr">
                <a:lnSpc>
                  <a:spcPts val="1980"/>
                </a:lnSpc>
              </a:pPr>
              <a:r>
                <a:rPr lang="en-US" sz="1650">
                  <a:solidFill>
                    <a:srgbClr val="A3AEBB"/>
                  </a:solidFill>
                  <a:latin typeface="Calibri (MS)"/>
                  <a:ea typeface="Calibri (MS)"/>
                  <a:cs typeface="Calibri (MS)"/>
                  <a:sym typeface="Calibri (MS)"/>
                </a:rPr>
                <a:t>handler sets flag</a:t>
              </a:r>
            </a:p>
          </p:txBody>
        </p:sp>
      </p:grpSp>
      <p:grpSp>
        <p:nvGrpSpPr>
          <p:cNvPr name="Group 46" id="46"/>
          <p:cNvGrpSpPr/>
          <p:nvPr/>
        </p:nvGrpSpPr>
        <p:grpSpPr>
          <a:xfrm rot="0">
            <a:off x="12330112" y="7529512"/>
            <a:ext cx="5103495" cy="1194435"/>
            <a:chOff x="0" y="0"/>
            <a:chExt cx="6804660" cy="1592580"/>
          </a:xfrm>
        </p:grpSpPr>
        <p:sp>
          <p:nvSpPr>
            <p:cNvPr name="Freeform 47" id="47"/>
            <p:cNvSpPr/>
            <p:nvPr/>
          </p:nvSpPr>
          <p:spPr>
            <a:xfrm flipH="false" flipV="false" rot="0">
              <a:off x="0" y="0"/>
              <a:ext cx="6804660" cy="1592580"/>
            </a:xfrm>
            <a:custGeom>
              <a:avLst/>
              <a:gdLst/>
              <a:ahLst/>
              <a:cxnLst/>
              <a:rect r="r" b="b" t="t" l="l"/>
              <a:pathLst>
                <a:path h="1592580" w="6804660">
                  <a:moveTo>
                    <a:pt x="0" y="149860"/>
                  </a:moveTo>
                  <a:cubicBezTo>
                    <a:pt x="0" y="67056"/>
                    <a:pt x="67056" y="0"/>
                    <a:pt x="149860" y="0"/>
                  </a:cubicBezTo>
                  <a:lnTo>
                    <a:pt x="6654800" y="0"/>
                  </a:lnTo>
                  <a:cubicBezTo>
                    <a:pt x="6737604" y="0"/>
                    <a:pt x="6804660" y="67056"/>
                    <a:pt x="6804660" y="149860"/>
                  </a:cubicBezTo>
                  <a:lnTo>
                    <a:pt x="6804660" y="1442720"/>
                  </a:lnTo>
                  <a:cubicBezTo>
                    <a:pt x="6804660" y="1525524"/>
                    <a:pt x="6737604" y="1592580"/>
                    <a:pt x="6654800" y="1592580"/>
                  </a:cubicBezTo>
                  <a:lnTo>
                    <a:pt x="149860" y="1592580"/>
                  </a:lnTo>
                  <a:cubicBezTo>
                    <a:pt x="67056" y="1592580"/>
                    <a:pt x="0" y="1525524"/>
                    <a:pt x="0" y="1442720"/>
                  </a:cubicBezTo>
                  <a:close/>
                </a:path>
              </a:pathLst>
            </a:custGeom>
            <a:solidFill>
              <a:srgbClr val="252B32"/>
            </a:solidFill>
            <a:ln w="28575" cap="sq">
              <a:solidFill>
                <a:srgbClr val="3FB67A"/>
              </a:solidFill>
              <a:prstDash val="solid"/>
              <a:miter/>
            </a:ln>
          </p:spPr>
        </p:sp>
      </p:grpSp>
      <p:grpSp>
        <p:nvGrpSpPr>
          <p:cNvPr name="Group 48" id="48"/>
          <p:cNvGrpSpPr/>
          <p:nvPr/>
        </p:nvGrpSpPr>
        <p:grpSpPr>
          <a:xfrm rot="0">
            <a:off x="12454128" y="7543800"/>
            <a:ext cx="4855464" cy="1165860"/>
            <a:chOff x="0" y="0"/>
            <a:chExt cx="6473952" cy="1554480"/>
          </a:xfrm>
        </p:grpSpPr>
        <p:sp>
          <p:nvSpPr>
            <p:cNvPr name="Freeform 49" id="49"/>
            <p:cNvSpPr/>
            <p:nvPr/>
          </p:nvSpPr>
          <p:spPr>
            <a:xfrm flipH="false" flipV="false" rot="0">
              <a:off x="0" y="0"/>
              <a:ext cx="6473952" cy="1554480"/>
            </a:xfrm>
            <a:custGeom>
              <a:avLst/>
              <a:gdLst/>
              <a:ahLst/>
              <a:cxnLst/>
              <a:rect r="r" b="b" t="t" l="l"/>
              <a:pathLst>
                <a:path h="1554480" w="6473952">
                  <a:moveTo>
                    <a:pt x="0" y="0"/>
                  </a:moveTo>
                  <a:lnTo>
                    <a:pt x="6473952" y="0"/>
                  </a:lnTo>
                  <a:lnTo>
                    <a:pt x="6473952" y="1554480"/>
                  </a:lnTo>
                  <a:lnTo>
                    <a:pt x="0" y="1554480"/>
                  </a:lnTo>
                  <a:close/>
                </a:path>
              </a:pathLst>
            </a:custGeom>
            <a:blipFill>
              <a:blip r:embed="rId3">
                <a:alphaModFix amt="0"/>
              </a:blip>
              <a:stretch>
                <a:fillRect l="0" t="-31149" r="0" b="-31149"/>
              </a:stretch>
            </a:blipFill>
          </p:spPr>
        </p:sp>
        <p:sp>
          <p:nvSpPr>
            <p:cNvPr name="TextBox 50" id="50"/>
            <p:cNvSpPr txBox="true"/>
            <p:nvPr/>
          </p:nvSpPr>
          <p:spPr>
            <a:xfrm>
              <a:off x="0" y="-57150"/>
              <a:ext cx="6473952" cy="161163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Progress and results</a:t>
              </a:r>
            </a:p>
            <a:p>
              <a:pPr algn="ctr">
                <a:lnSpc>
                  <a:spcPts val="1980"/>
                </a:lnSpc>
              </a:pPr>
              <a:r>
                <a:rPr lang="en-US" sz="1650">
                  <a:solidFill>
                    <a:srgbClr val="A3AEBB"/>
                  </a:solidFill>
                  <a:latin typeface="Calibri (MS)"/>
                  <a:ea typeface="Calibri (MS)"/>
                  <a:cs typeface="Calibri (MS)"/>
                  <a:sym typeface="Calibri (MS)"/>
                </a:rPr>
                <a:t>elapsed, operations, checksum</a:t>
              </a:r>
            </a:p>
          </p:txBody>
        </p:sp>
      </p:grpSp>
      <p:grpSp>
        <p:nvGrpSpPr>
          <p:cNvPr name="Group 51" id="51"/>
          <p:cNvGrpSpPr/>
          <p:nvPr/>
        </p:nvGrpSpPr>
        <p:grpSpPr>
          <a:xfrm rot="0">
            <a:off x="7940993" y="7529512"/>
            <a:ext cx="3320415" cy="1194435"/>
            <a:chOff x="0" y="0"/>
            <a:chExt cx="4427220" cy="1592580"/>
          </a:xfrm>
        </p:grpSpPr>
        <p:sp>
          <p:nvSpPr>
            <p:cNvPr name="Freeform 52" id="52"/>
            <p:cNvSpPr/>
            <p:nvPr/>
          </p:nvSpPr>
          <p:spPr>
            <a:xfrm flipH="false" flipV="false" rot="0">
              <a:off x="0" y="0"/>
              <a:ext cx="4427220" cy="1592580"/>
            </a:xfrm>
            <a:custGeom>
              <a:avLst/>
              <a:gdLst/>
              <a:ahLst/>
              <a:cxnLst/>
              <a:rect r="r" b="b" t="t" l="l"/>
              <a:pathLst>
                <a:path h="1592580" w="4427220">
                  <a:moveTo>
                    <a:pt x="0" y="149860"/>
                  </a:moveTo>
                  <a:cubicBezTo>
                    <a:pt x="0" y="67056"/>
                    <a:pt x="67056" y="0"/>
                    <a:pt x="149860" y="0"/>
                  </a:cubicBezTo>
                  <a:lnTo>
                    <a:pt x="4277360" y="0"/>
                  </a:lnTo>
                  <a:cubicBezTo>
                    <a:pt x="4360164" y="0"/>
                    <a:pt x="4427220" y="67056"/>
                    <a:pt x="4427220" y="149860"/>
                  </a:cubicBezTo>
                  <a:lnTo>
                    <a:pt x="4427220" y="1442720"/>
                  </a:lnTo>
                  <a:cubicBezTo>
                    <a:pt x="4427220" y="1525524"/>
                    <a:pt x="4360164" y="1592580"/>
                    <a:pt x="4277360" y="1592580"/>
                  </a:cubicBezTo>
                  <a:lnTo>
                    <a:pt x="149860" y="1592580"/>
                  </a:lnTo>
                  <a:cubicBezTo>
                    <a:pt x="67056" y="1592580"/>
                    <a:pt x="0" y="1525524"/>
                    <a:pt x="0" y="1442720"/>
                  </a:cubicBezTo>
                  <a:close/>
                </a:path>
              </a:pathLst>
            </a:custGeom>
            <a:solidFill>
              <a:srgbClr val="252B32"/>
            </a:solidFill>
            <a:ln w="28575" cap="sq">
              <a:solidFill>
                <a:srgbClr val="2F9BFF"/>
              </a:solidFill>
              <a:prstDash val="solid"/>
              <a:miter/>
            </a:ln>
          </p:spPr>
        </p:sp>
      </p:grpSp>
      <p:grpSp>
        <p:nvGrpSpPr>
          <p:cNvPr name="Group 53" id="53"/>
          <p:cNvGrpSpPr/>
          <p:nvPr/>
        </p:nvGrpSpPr>
        <p:grpSpPr>
          <a:xfrm rot="0">
            <a:off x="8065008" y="7543800"/>
            <a:ext cx="3072384" cy="1165860"/>
            <a:chOff x="0" y="0"/>
            <a:chExt cx="4096512" cy="1554480"/>
          </a:xfrm>
        </p:grpSpPr>
        <p:sp>
          <p:nvSpPr>
            <p:cNvPr name="Freeform 54" id="54"/>
            <p:cNvSpPr/>
            <p:nvPr/>
          </p:nvSpPr>
          <p:spPr>
            <a:xfrm flipH="false" flipV="false" rot="0">
              <a:off x="0" y="0"/>
              <a:ext cx="4096512" cy="1554480"/>
            </a:xfrm>
            <a:custGeom>
              <a:avLst/>
              <a:gdLst/>
              <a:ahLst/>
              <a:cxnLst/>
              <a:rect r="r" b="b" t="t" l="l"/>
              <a:pathLst>
                <a:path h="1554480" w="4096512">
                  <a:moveTo>
                    <a:pt x="0" y="0"/>
                  </a:moveTo>
                  <a:lnTo>
                    <a:pt x="4096512" y="0"/>
                  </a:lnTo>
                  <a:lnTo>
                    <a:pt x="4096512" y="1554480"/>
                  </a:lnTo>
                  <a:lnTo>
                    <a:pt x="0" y="1554480"/>
                  </a:lnTo>
                  <a:close/>
                </a:path>
              </a:pathLst>
            </a:custGeom>
            <a:blipFill>
              <a:blip r:embed="rId3">
                <a:alphaModFix amt="0"/>
              </a:blip>
              <a:stretch>
                <a:fillRect l="0" t="-1348" r="0" b="-1348"/>
              </a:stretch>
            </a:blipFill>
          </p:spPr>
        </p:sp>
        <p:sp>
          <p:nvSpPr>
            <p:cNvPr name="TextBox 55" id="55"/>
            <p:cNvSpPr txBox="true"/>
            <p:nvPr/>
          </p:nvSpPr>
          <p:spPr>
            <a:xfrm>
              <a:off x="0" y="-57150"/>
              <a:ext cx="4096512" cy="1611630"/>
            </a:xfrm>
            <a:prstGeom prst="rect">
              <a:avLst/>
            </a:prstGeom>
          </p:spPr>
          <p:txBody>
            <a:bodyPr anchor="ctr" rtlCol="false" tIns="0" lIns="0" bIns="0" rIns="0"/>
            <a:lstStyle/>
            <a:p>
              <a:pPr algn="ctr">
                <a:lnSpc>
                  <a:spcPts val="2700"/>
                </a:lnSpc>
              </a:pPr>
              <a:r>
                <a:rPr lang="en-US" sz="2250" b="true">
                  <a:solidFill>
                    <a:srgbClr val="EDF1F5"/>
                  </a:solidFill>
                  <a:latin typeface="Calibri (MS) Bold"/>
                  <a:ea typeface="Calibri (MS) Bold"/>
                  <a:cs typeface="Calibri (MS) Bold"/>
                  <a:sym typeface="Calibri (MS) Bold"/>
                </a:rPr>
                <a:t>Terminal output</a:t>
              </a:r>
            </a:p>
            <a:p>
              <a:pPr algn="ctr">
                <a:lnSpc>
                  <a:spcPts val="1980"/>
                </a:lnSpc>
              </a:pPr>
              <a:r>
                <a:rPr lang="en-US" sz="1650">
                  <a:solidFill>
                    <a:srgbClr val="A3AEBB"/>
                  </a:solidFill>
                  <a:latin typeface="Calibri (MS)"/>
                  <a:ea typeface="Calibri (MS)"/>
                  <a:cs typeface="Calibri (MS)"/>
                  <a:sym typeface="Calibri (MS)"/>
                </a:rPr>
                <a:t>printf, stdout</a:t>
              </a:r>
            </a:p>
          </p:txBody>
        </p:sp>
      </p:grpSp>
      <p:sp>
        <p:nvSpPr>
          <p:cNvPr name="AutoShape 56" id="56"/>
          <p:cNvSpPr/>
          <p:nvPr/>
        </p:nvSpPr>
        <p:spPr>
          <a:xfrm>
            <a:off x="14881865" y="4847172"/>
            <a:ext cx="0" cy="798395"/>
          </a:xfrm>
          <a:prstGeom prst="line">
            <a:avLst/>
          </a:prstGeom>
          <a:ln cap="rnd" w="19050">
            <a:solidFill>
              <a:srgbClr val="3FB67A"/>
            </a:solidFill>
            <a:prstDash val="solid"/>
            <a:headEnd type="none" len="sm" w="sm"/>
            <a:tailEnd type="triangle" len="med" w="lg"/>
          </a:ln>
        </p:spPr>
      </p:sp>
      <p:sp>
        <p:nvSpPr>
          <p:cNvPr name="AutoShape 57" id="57"/>
          <p:cNvSpPr/>
          <p:nvPr/>
        </p:nvSpPr>
        <p:spPr>
          <a:xfrm>
            <a:off x="11225289" y="6172200"/>
            <a:ext cx="1140952" cy="0"/>
          </a:xfrm>
          <a:prstGeom prst="line">
            <a:avLst/>
          </a:prstGeom>
          <a:ln cap="rnd" w="19050">
            <a:solidFill>
              <a:srgbClr val="2F9BFF"/>
            </a:solidFill>
            <a:prstDash val="solid"/>
            <a:headEnd type="none" len="sm" w="sm"/>
            <a:tailEnd type="triangle" len="med" w="lg"/>
          </a:ln>
        </p:spPr>
      </p:sp>
      <p:sp>
        <p:nvSpPr>
          <p:cNvPr name="AutoShape 58" id="58"/>
          <p:cNvSpPr/>
          <p:nvPr/>
        </p:nvSpPr>
        <p:spPr>
          <a:xfrm>
            <a:off x="14881855" y="6698880"/>
            <a:ext cx="0" cy="866880"/>
          </a:xfrm>
          <a:prstGeom prst="line">
            <a:avLst/>
          </a:prstGeom>
          <a:ln cap="rnd" w="19050">
            <a:solidFill>
              <a:srgbClr val="3FB67A"/>
            </a:solidFill>
            <a:prstDash val="solid"/>
            <a:headEnd type="none" len="sm" w="sm"/>
            <a:tailEnd type="triangle" len="med" w="lg"/>
          </a:ln>
        </p:spPr>
      </p:sp>
      <p:sp>
        <p:nvSpPr>
          <p:cNvPr name="AutoShape 59" id="59"/>
          <p:cNvSpPr/>
          <p:nvPr/>
        </p:nvSpPr>
        <p:spPr>
          <a:xfrm flipH="true">
            <a:off x="11225289" y="8119872"/>
            <a:ext cx="1140952" cy="0"/>
          </a:xfrm>
          <a:prstGeom prst="line">
            <a:avLst/>
          </a:prstGeom>
          <a:ln cap="rnd" w="19050">
            <a:solidFill>
              <a:srgbClr val="3FB67A"/>
            </a:solidFill>
            <a:prstDash val="solid"/>
            <a:headEnd type="none" len="sm" w="sm"/>
            <a:tailEnd type="triangle" len="med" w="lg"/>
          </a:ln>
        </p:spPr>
      </p:sp>
      <p:sp>
        <p:nvSpPr>
          <p:cNvPr name="TextBox 60" id="60"/>
          <p:cNvSpPr txBox="true"/>
          <p:nvPr/>
        </p:nvSpPr>
        <p:spPr>
          <a:xfrm rot="0">
            <a:off x="9738360" y="4968240"/>
            <a:ext cx="4937760" cy="449580"/>
          </a:xfrm>
          <a:prstGeom prst="rect">
            <a:avLst/>
          </a:prstGeom>
        </p:spPr>
        <p:txBody>
          <a:bodyPr anchor="t" rtlCol="false" tIns="0" lIns="0" bIns="0" rIns="0">
            <a:spAutoFit/>
          </a:bodyPr>
          <a:lstStyle/>
          <a:p>
            <a:pPr algn="r">
              <a:lnSpc>
                <a:spcPts val="1800"/>
              </a:lnSpc>
            </a:pPr>
            <a:r>
              <a:rPr lang="en-US" sz="1500">
                <a:solidFill>
                  <a:srgbClr val="A3AEBB"/>
                </a:solidFill>
                <a:latin typeface="Calibri (MS)"/>
                <a:ea typeface="Calibri (MS)"/>
                <a:cs typeface="Calibri (MS)"/>
                <a:sym typeface="Calibri (MS)"/>
              </a:rPr>
              <a:t>workers add to counter, read stop flag</a:t>
            </a:r>
          </a:p>
        </p:txBody>
      </p:sp>
      <p:sp>
        <p:nvSpPr>
          <p:cNvPr name="TextBox 61" id="61"/>
          <p:cNvSpPr txBox="true"/>
          <p:nvPr/>
        </p:nvSpPr>
        <p:spPr>
          <a:xfrm rot="0">
            <a:off x="822960" y="4625340"/>
            <a:ext cx="6720840" cy="4427220"/>
          </a:xfrm>
          <a:prstGeom prst="rect">
            <a:avLst/>
          </a:prstGeom>
        </p:spPr>
        <p:txBody>
          <a:bodyPr anchor="t" rtlCol="false" tIns="0" lIns="0" bIns="0" rIns="0">
            <a:spAutoFit/>
          </a:bodyPr>
          <a:lstStyle/>
          <a:p>
            <a:pPr algn="l">
              <a:lnSpc>
                <a:spcPts val="2879"/>
              </a:lnSpc>
            </a:pPr>
            <a:r>
              <a:rPr lang="en-US" sz="2400" b="true">
                <a:solidFill>
                  <a:srgbClr val="2F9BFF"/>
                </a:solidFill>
                <a:latin typeface="Calibri (MS) Bold"/>
                <a:ea typeface="Calibri (MS) Bold"/>
                <a:cs typeface="Calibri (MS) Bold"/>
                <a:sym typeface="Calibri (MS) Bold"/>
              </a:rPr>
              <a:t>Main thread</a:t>
            </a:r>
          </a:p>
          <a:p>
            <a:pPr algn="l">
              <a:lnSpc>
                <a:spcPts val="2520"/>
              </a:lnSpc>
            </a:pPr>
            <a:r>
              <a:rPr lang="en-US" sz="2100">
                <a:solidFill>
                  <a:srgbClr val="EDF1F5"/>
                </a:solidFill>
                <a:latin typeface="Calibri (MS)"/>
                <a:ea typeface="Calibri (MS)"/>
                <a:cs typeface="Calibri (MS)"/>
                <a:sym typeface="Calibri (MS)"/>
              </a:rPr>
              <a:t>Validates input, allocates memory, creates workers, sweeps memory, prints progress, joins workers and prints the summary.</a:t>
            </a:r>
          </a:p>
          <a:p>
            <a:pPr algn="l">
              <a:lnSpc>
                <a:spcPts val="1439"/>
              </a:lnSpc>
            </a:pPr>
            <a:r>
              <a:rPr lang="en-US" sz="1200">
                <a:solidFill>
                  <a:srgbClr val="EDF1F5"/>
                </a:solidFill>
                <a:latin typeface="Calibri (MS)"/>
                <a:ea typeface="Calibri (MS)"/>
                <a:cs typeface="Calibri (MS)"/>
                <a:sym typeface="Calibri (MS)"/>
              </a:rPr>
              <a:t> </a:t>
            </a:r>
          </a:p>
          <a:p>
            <a:pPr algn="l">
              <a:lnSpc>
                <a:spcPts val="2879"/>
              </a:lnSpc>
            </a:pPr>
            <a:r>
              <a:rPr lang="en-US" sz="2400" b="true">
                <a:solidFill>
                  <a:srgbClr val="3FB67A"/>
                </a:solidFill>
                <a:latin typeface="Calibri (MS) Bold"/>
                <a:ea typeface="Calibri (MS) Bold"/>
                <a:cs typeface="Calibri (MS) Bold"/>
                <a:sym typeface="Calibri (MS) Bold"/>
              </a:rPr>
              <a:t>Worker threads</a:t>
            </a:r>
          </a:p>
          <a:p>
            <a:pPr algn="l">
              <a:lnSpc>
                <a:spcPts val="2520"/>
              </a:lnSpc>
            </a:pPr>
            <a:r>
              <a:rPr lang="en-US" sz="2100">
                <a:solidFill>
                  <a:srgbClr val="EDF1F5"/>
                </a:solidFill>
                <a:latin typeface="Calibri (MS)"/>
                <a:ea typeface="Calibri (MS)"/>
                <a:cs typeface="Calibri (MS)"/>
                <a:sym typeface="Calibri (MS)"/>
              </a:rPr>
              <a:t>Run only cpu_stress(): integer arithmetic until the stop flag is set.</a:t>
            </a:r>
          </a:p>
        </p:txBody>
      </p:sp>
      <p:sp>
        <p:nvSpPr>
          <p:cNvPr name="TextBox 62" id="62"/>
          <p:cNvSpPr txBox="true"/>
          <p:nvPr/>
        </p:nvSpPr>
        <p:spPr>
          <a:xfrm rot="0">
            <a:off x="7955280" y="9161145"/>
            <a:ext cx="9464040" cy="371475"/>
          </a:xfrm>
          <a:prstGeom prst="rect">
            <a:avLst/>
          </a:prstGeom>
        </p:spPr>
        <p:txBody>
          <a:bodyPr anchor="t" rtlCol="false" tIns="0" lIns="0" bIns="0" rIns="0">
            <a:spAutoFit/>
          </a:bodyPr>
          <a:lstStyle/>
          <a:p>
            <a:pPr algn="l">
              <a:lnSpc>
                <a:spcPts val="1980"/>
              </a:lnSpc>
            </a:pPr>
            <a:r>
              <a:rPr lang="en-US" sz="1650">
                <a:solidFill>
                  <a:srgbClr val="A3AEBB"/>
                </a:solidFill>
                <a:latin typeface="Calibri (MS)"/>
                <a:ea typeface="Calibri (MS)"/>
                <a:cs typeface="Calibri (MS)"/>
                <a:sym typeface="Calibri (MS)"/>
              </a:rPr>
              <a:t>Blue: control flow    Green: counters and results</a:t>
            </a:r>
          </a:p>
        </p:txBody>
      </p:sp>
      <p:sp>
        <p:nvSpPr>
          <p:cNvPr name="TextBox 63" id="63"/>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sp>
        <p:nvSpPr>
          <p:cNvPr name="TextBox 5" id="5"/>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04  METHODOLOGY</a:t>
            </a:r>
          </a:p>
        </p:txBody>
      </p:sp>
      <p:sp>
        <p:nvSpPr>
          <p:cNvPr name="TextBox 6" id="6"/>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Execution workflow of main.c</a:t>
            </a:r>
          </a:p>
        </p:txBody>
      </p:sp>
      <p:grpSp>
        <p:nvGrpSpPr>
          <p:cNvPr name="Group 7" id="7"/>
          <p:cNvGrpSpPr/>
          <p:nvPr/>
        </p:nvGrpSpPr>
        <p:grpSpPr>
          <a:xfrm rot="0">
            <a:off x="808672" y="2454592"/>
            <a:ext cx="3594735" cy="2703195"/>
            <a:chOff x="0" y="0"/>
            <a:chExt cx="4792980" cy="3604260"/>
          </a:xfrm>
        </p:grpSpPr>
        <p:sp>
          <p:nvSpPr>
            <p:cNvPr name="Freeform 8" id="8"/>
            <p:cNvSpPr/>
            <p:nvPr/>
          </p:nvSpPr>
          <p:spPr>
            <a:xfrm flipH="false" flipV="false" rot="0">
              <a:off x="0" y="0"/>
              <a:ext cx="4792980" cy="3604260"/>
            </a:xfrm>
            <a:custGeom>
              <a:avLst/>
              <a:gdLst/>
              <a:ahLst/>
              <a:cxnLst/>
              <a:rect r="r" b="b" t="t" l="l"/>
              <a:pathLst>
                <a:path h="3604260" w="4792980">
                  <a:moveTo>
                    <a:pt x="0" y="147828"/>
                  </a:moveTo>
                  <a:cubicBezTo>
                    <a:pt x="0" y="66167"/>
                    <a:pt x="66167" y="0"/>
                    <a:pt x="147828" y="0"/>
                  </a:cubicBezTo>
                  <a:lnTo>
                    <a:pt x="4645152" y="0"/>
                  </a:lnTo>
                  <a:cubicBezTo>
                    <a:pt x="4726813" y="0"/>
                    <a:pt x="4792980" y="66167"/>
                    <a:pt x="4792980" y="147828"/>
                  </a:cubicBezTo>
                  <a:lnTo>
                    <a:pt x="4792980" y="3456432"/>
                  </a:lnTo>
                  <a:cubicBezTo>
                    <a:pt x="4792980" y="3538093"/>
                    <a:pt x="4726813" y="3604260"/>
                    <a:pt x="4645152" y="3604260"/>
                  </a:cubicBezTo>
                  <a:lnTo>
                    <a:pt x="147828" y="3604260"/>
                  </a:lnTo>
                  <a:cubicBezTo>
                    <a:pt x="66167" y="3604260"/>
                    <a:pt x="0" y="3538093"/>
                    <a:pt x="0" y="3456432"/>
                  </a:cubicBezTo>
                  <a:close/>
                </a:path>
              </a:pathLst>
            </a:custGeom>
            <a:solidFill>
              <a:srgbClr val="252B32"/>
            </a:solidFill>
            <a:ln w="28575" cap="sq">
              <a:solidFill>
                <a:srgbClr val="2F9BFF"/>
              </a:solidFill>
              <a:prstDash val="solid"/>
              <a:miter/>
            </a:ln>
          </p:spPr>
        </p:sp>
      </p:grpSp>
      <p:sp>
        <p:nvSpPr>
          <p:cNvPr name="TextBox 9" id="9"/>
          <p:cNvSpPr txBox="true"/>
          <p:nvPr/>
        </p:nvSpPr>
        <p:spPr>
          <a:xfrm rot="0">
            <a:off x="1097280" y="2655570"/>
            <a:ext cx="822960" cy="704850"/>
          </a:xfrm>
          <a:prstGeom prst="rect">
            <a:avLst/>
          </a:prstGeom>
        </p:spPr>
        <p:txBody>
          <a:bodyPr anchor="t" rtlCol="false" tIns="0" lIns="0" bIns="0" rIns="0">
            <a:spAutoFit/>
          </a:bodyPr>
          <a:lstStyle/>
          <a:p>
            <a:pPr algn="l">
              <a:lnSpc>
                <a:spcPts val="4320"/>
              </a:lnSpc>
            </a:pPr>
            <a:r>
              <a:rPr lang="en-US" sz="3600" b="true">
                <a:solidFill>
                  <a:srgbClr val="2F9BFF"/>
                </a:solidFill>
                <a:latin typeface="Courier New Bold"/>
                <a:ea typeface="Courier New Bold"/>
                <a:cs typeface="Courier New Bold"/>
                <a:sym typeface="Courier New Bold"/>
              </a:rPr>
              <a:t>1</a:t>
            </a:r>
          </a:p>
        </p:txBody>
      </p:sp>
      <p:sp>
        <p:nvSpPr>
          <p:cNvPr name="TextBox 10" id="10"/>
          <p:cNvSpPr txBox="true"/>
          <p:nvPr/>
        </p:nvSpPr>
        <p:spPr>
          <a:xfrm rot="0">
            <a:off x="1097280" y="3390900"/>
            <a:ext cx="3017520" cy="58674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Parse arguments</a:t>
            </a:r>
          </a:p>
        </p:txBody>
      </p:sp>
      <p:sp>
        <p:nvSpPr>
          <p:cNvPr name="TextBox 11" id="11"/>
          <p:cNvSpPr txBox="true"/>
          <p:nvPr/>
        </p:nvSpPr>
        <p:spPr>
          <a:xfrm rot="0">
            <a:off x="1097280" y="3939540"/>
            <a:ext cx="3017520" cy="1135380"/>
          </a:xfrm>
          <a:prstGeom prst="rect">
            <a:avLst/>
          </a:prstGeom>
        </p:spPr>
        <p:txBody>
          <a:bodyPr anchor="t" rtlCol="false" tIns="0" lIns="0" bIns="0" rIns="0">
            <a:spAutoFit/>
          </a:bodyPr>
          <a:lstStyle/>
          <a:p>
            <a:pPr algn="l">
              <a:lnSpc>
                <a:spcPts val="2160"/>
              </a:lnSpc>
            </a:pPr>
            <a:r>
              <a:rPr lang="en-US" sz="1800">
                <a:solidFill>
                  <a:srgbClr val="A3AEBB"/>
                </a:solidFill>
                <a:latin typeface="Calibri (MS)"/>
                <a:ea typeface="Calibri (MS)"/>
                <a:cs typeface="Calibri (MS)"/>
                <a:sym typeface="Calibri (MS)"/>
              </a:rPr>
              <a:t>argc must be 4; strtol on each value</a:t>
            </a:r>
          </a:p>
        </p:txBody>
      </p:sp>
      <p:grpSp>
        <p:nvGrpSpPr>
          <p:cNvPr name="Group 12" id="12"/>
          <p:cNvGrpSpPr/>
          <p:nvPr/>
        </p:nvGrpSpPr>
        <p:grpSpPr>
          <a:xfrm rot="0">
            <a:off x="5129212" y="2454592"/>
            <a:ext cx="3594735" cy="2703195"/>
            <a:chOff x="0" y="0"/>
            <a:chExt cx="4792980" cy="3604260"/>
          </a:xfrm>
        </p:grpSpPr>
        <p:sp>
          <p:nvSpPr>
            <p:cNvPr name="Freeform 13" id="13"/>
            <p:cNvSpPr/>
            <p:nvPr/>
          </p:nvSpPr>
          <p:spPr>
            <a:xfrm flipH="false" flipV="false" rot="0">
              <a:off x="0" y="0"/>
              <a:ext cx="4792980" cy="3604260"/>
            </a:xfrm>
            <a:custGeom>
              <a:avLst/>
              <a:gdLst/>
              <a:ahLst/>
              <a:cxnLst/>
              <a:rect r="r" b="b" t="t" l="l"/>
              <a:pathLst>
                <a:path h="3604260" w="4792980">
                  <a:moveTo>
                    <a:pt x="0" y="147828"/>
                  </a:moveTo>
                  <a:cubicBezTo>
                    <a:pt x="0" y="66167"/>
                    <a:pt x="66167" y="0"/>
                    <a:pt x="147828" y="0"/>
                  </a:cubicBezTo>
                  <a:lnTo>
                    <a:pt x="4645152" y="0"/>
                  </a:lnTo>
                  <a:cubicBezTo>
                    <a:pt x="4726813" y="0"/>
                    <a:pt x="4792980" y="66167"/>
                    <a:pt x="4792980" y="147828"/>
                  </a:cubicBezTo>
                  <a:lnTo>
                    <a:pt x="4792980" y="3456432"/>
                  </a:lnTo>
                  <a:cubicBezTo>
                    <a:pt x="4792980" y="3538093"/>
                    <a:pt x="4726813" y="3604260"/>
                    <a:pt x="4645152" y="3604260"/>
                  </a:cubicBezTo>
                  <a:lnTo>
                    <a:pt x="147828" y="3604260"/>
                  </a:lnTo>
                  <a:cubicBezTo>
                    <a:pt x="66167" y="3604260"/>
                    <a:pt x="0" y="3538093"/>
                    <a:pt x="0" y="3456432"/>
                  </a:cubicBezTo>
                  <a:close/>
                </a:path>
              </a:pathLst>
            </a:custGeom>
            <a:solidFill>
              <a:srgbClr val="252B32"/>
            </a:solidFill>
            <a:ln w="28575" cap="sq">
              <a:solidFill>
                <a:srgbClr val="2F9BFF"/>
              </a:solidFill>
              <a:prstDash val="solid"/>
              <a:miter/>
            </a:ln>
          </p:spPr>
        </p:sp>
      </p:grpSp>
      <p:sp>
        <p:nvSpPr>
          <p:cNvPr name="TextBox 14" id="14"/>
          <p:cNvSpPr txBox="true"/>
          <p:nvPr/>
        </p:nvSpPr>
        <p:spPr>
          <a:xfrm rot="0">
            <a:off x="5417820" y="2655570"/>
            <a:ext cx="822960" cy="704850"/>
          </a:xfrm>
          <a:prstGeom prst="rect">
            <a:avLst/>
          </a:prstGeom>
        </p:spPr>
        <p:txBody>
          <a:bodyPr anchor="t" rtlCol="false" tIns="0" lIns="0" bIns="0" rIns="0">
            <a:spAutoFit/>
          </a:bodyPr>
          <a:lstStyle/>
          <a:p>
            <a:pPr algn="l">
              <a:lnSpc>
                <a:spcPts val="4320"/>
              </a:lnSpc>
            </a:pPr>
            <a:r>
              <a:rPr lang="en-US" sz="3600" b="true">
                <a:solidFill>
                  <a:srgbClr val="2F9BFF"/>
                </a:solidFill>
                <a:latin typeface="Courier New Bold"/>
                <a:ea typeface="Courier New Bold"/>
                <a:cs typeface="Courier New Bold"/>
                <a:sym typeface="Courier New Bold"/>
              </a:rPr>
              <a:t>2</a:t>
            </a:r>
          </a:p>
        </p:txBody>
      </p:sp>
      <p:sp>
        <p:nvSpPr>
          <p:cNvPr name="TextBox 15" id="15"/>
          <p:cNvSpPr txBox="true"/>
          <p:nvPr/>
        </p:nvSpPr>
        <p:spPr>
          <a:xfrm rot="0">
            <a:off x="5417820" y="3390900"/>
            <a:ext cx="3017520" cy="58674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Validate settings</a:t>
            </a:r>
          </a:p>
        </p:txBody>
      </p:sp>
      <p:sp>
        <p:nvSpPr>
          <p:cNvPr name="TextBox 16" id="16"/>
          <p:cNvSpPr txBox="true"/>
          <p:nvPr/>
        </p:nvSpPr>
        <p:spPr>
          <a:xfrm rot="0">
            <a:off x="5417820" y="3939540"/>
            <a:ext cx="3017520" cy="1135380"/>
          </a:xfrm>
          <a:prstGeom prst="rect">
            <a:avLst/>
          </a:prstGeom>
        </p:spPr>
        <p:txBody>
          <a:bodyPr anchor="t" rtlCol="false" tIns="0" lIns="0" bIns="0" rIns="0">
            <a:spAutoFit/>
          </a:bodyPr>
          <a:lstStyle/>
          <a:p>
            <a:pPr algn="l">
              <a:lnSpc>
                <a:spcPts val="2160"/>
              </a:lnSpc>
            </a:pPr>
            <a:r>
              <a:rPr lang="en-US" sz="1800">
                <a:solidFill>
                  <a:srgbClr val="A3AEBB"/>
                </a:solidFill>
                <a:latin typeface="Calibri (MS)"/>
                <a:ea typeface="Calibri (MS)"/>
                <a:cs typeface="Calibri (MS)"/>
                <a:sym typeface="Calibri (MS)"/>
              </a:rPr>
              <a:t>1-3600 s; 1 to online CPUs; 0-1048576 MB</a:t>
            </a:r>
          </a:p>
        </p:txBody>
      </p:sp>
      <p:grpSp>
        <p:nvGrpSpPr>
          <p:cNvPr name="Group 17" id="17"/>
          <p:cNvGrpSpPr/>
          <p:nvPr/>
        </p:nvGrpSpPr>
        <p:grpSpPr>
          <a:xfrm rot="0">
            <a:off x="9449752" y="2454592"/>
            <a:ext cx="3594735" cy="2703195"/>
            <a:chOff x="0" y="0"/>
            <a:chExt cx="4792980" cy="3604260"/>
          </a:xfrm>
        </p:grpSpPr>
        <p:sp>
          <p:nvSpPr>
            <p:cNvPr name="Freeform 18" id="18"/>
            <p:cNvSpPr/>
            <p:nvPr/>
          </p:nvSpPr>
          <p:spPr>
            <a:xfrm flipH="false" flipV="false" rot="0">
              <a:off x="0" y="0"/>
              <a:ext cx="4792980" cy="3604260"/>
            </a:xfrm>
            <a:custGeom>
              <a:avLst/>
              <a:gdLst/>
              <a:ahLst/>
              <a:cxnLst/>
              <a:rect r="r" b="b" t="t" l="l"/>
              <a:pathLst>
                <a:path h="3604260" w="4792980">
                  <a:moveTo>
                    <a:pt x="0" y="147828"/>
                  </a:moveTo>
                  <a:cubicBezTo>
                    <a:pt x="0" y="66167"/>
                    <a:pt x="66167" y="0"/>
                    <a:pt x="147828" y="0"/>
                  </a:cubicBezTo>
                  <a:lnTo>
                    <a:pt x="4645152" y="0"/>
                  </a:lnTo>
                  <a:cubicBezTo>
                    <a:pt x="4726813" y="0"/>
                    <a:pt x="4792980" y="66167"/>
                    <a:pt x="4792980" y="147828"/>
                  </a:cubicBezTo>
                  <a:lnTo>
                    <a:pt x="4792980" y="3456432"/>
                  </a:lnTo>
                  <a:cubicBezTo>
                    <a:pt x="4792980" y="3538093"/>
                    <a:pt x="4726813" y="3604260"/>
                    <a:pt x="4645152" y="3604260"/>
                  </a:cubicBezTo>
                  <a:lnTo>
                    <a:pt x="147828" y="3604260"/>
                  </a:lnTo>
                  <a:cubicBezTo>
                    <a:pt x="66167" y="3604260"/>
                    <a:pt x="0" y="3538093"/>
                    <a:pt x="0" y="3456432"/>
                  </a:cubicBezTo>
                  <a:close/>
                </a:path>
              </a:pathLst>
            </a:custGeom>
            <a:solidFill>
              <a:srgbClr val="252B32"/>
            </a:solidFill>
            <a:ln w="28575" cap="sq">
              <a:solidFill>
                <a:srgbClr val="2F9BFF"/>
              </a:solidFill>
              <a:prstDash val="solid"/>
              <a:miter/>
            </a:ln>
          </p:spPr>
        </p:sp>
      </p:grpSp>
      <p:sp>
        <p:nvSpPr>
          <p:cNvPr name="TextBox 19" id="19"/>
          <p:cNvSpPr txBox="true"/>
          <p:nvPr/>
        </p:nvSpPr>
        <p:spPr>
          <a:xfrm rot="0">
            <a:off x="9738360" y="2655570"/>
            <a:ext cx="822960" cy="704850"/>
          </a:xfrm>
          <a:prstGeom prst="rect">
            <a:avLst/>
          </a:prstGeom>
        </p:spPr>
        <p:txBody>
          <a:bodyPr anchor="t" rtlCol="false" tIns="0" lIns="0" bIns="0" rIns="0">
            <a:spAutoFit/>
          </a:bodyPr>
          <a:lstStyle/>
          <a:p>
            <a:pPr algn="l">
              <a:lnSpc>
                <a:spcPts val="4320"/>
              </a:lnSpc>
            </a:pPr>
            <a:r>
              <a:rPr lang="en-US" sz="3600" b="true">
                <a:solidFill>
                  <a:srgbClr val="2F9BFF"/>
                </a:solidFill>
                <a:latin typeface="Courier New Bold"/>
                <a:ea typeface="Courier New Bold"/>
                <a:cs typeface="Courier New Bold"/>
                <a:sym typeface="Courier New Bold"/>
              </a:rPr>
              <a:t>3</a:t>
            </a:r>
          </a:p>
        </p:txBody>
      </p:sp>
      <p:sp>
        <p:nvSpPr>
          <p:cNvPr name="TextBox 20" id="20"/>
          <p:cNvSpPr txBox="true"/>
          <p:nvPr/>
        </p:nvSpPr>
        <p:spPr>
          <a:xfrm rot="0">
            <a:off x="9738360" y="3247736"/>
            <a:ext cx="3017520" cy="58674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Check available memory</a:t>
            </a:r>
          </a:p>
        </p:txBody>
      </p:sp>
      <p:sp>
        <p:nvSpPr>
          <p:cNvPr name="TextBox 21" id="21"/>
          <p:cNvSpPr txBox="true"/>
          <p:nvPr/>
        </p:nvSpPr>
        <p:spPr>
          <a:xfrm rot="0">
            <a:off x="9743122" y="4076700"/>
            <a:ext cx="3017520" cy="1135380"/>
          </a:xfrm>
          <a:prstGeom prst="rect">
            <a:avLst/>
          </a:prstGeom>
        </p:spPr>
        <p:txBody>
          <a:bodyPr anchor="t" rtlCol="false" tIns="0" lIns="0" bIns="0" rIns="0">
            <a:spAutoFit/>
          </a:bodyPr>
          <a:lstStyle/>
          <a:p>
            <a:pPr algn="l">
              <a:lnSpc>
                <a:spcPts val="2160"/>
              </a:lnSpc>
            </a:pPr>
            <a:r>
              <a:rPr lang="en-US" sz="1800">
                <a:solidFill>
                  <a:srgbClr val="A3AEBB"/>
                </a:solidFill>
                <a:latin typeface="Calibri (MS)"/>
                <a:ea typeface="Calibri (MS)"/>
                <a:cs typeface="Calibri (MS)"/>
                <a:sym typeface="Calibri (MS)"/>
              </a:rPr>
              <a:t>Reject if request exceeds half of free RAM</a:t>
            </a:r>
          </a:p>
        </p:txBody>
      </p:sp>
      <p:grpSp>
        <p:nvGrpSpPr>
          <p:cNvPr name="Group 22" id="22"/>
          <p:cNvGrpSpPr/>
          <p:nvPr/>
        </p:nvGrpSpPr>
        <p:grpSpPr>
          <a:xfrm rot="0">
            <a:off x="13770293" y="2454592"/>
            <a:ext cx="3594735" cy="2703195"/>
            <a:chOff x="0" y="0"/>
            <a:chExt cx="4792980" cy="3604260"/>
          </a:xfrm>
        </p:grpSpPr>
        <p:sp>
          <p:nvSpPr>
            <p:cNvPr name="Freeform 23" id="23"/>
            <p:cNvSpPr/>
            <p:nvPr/>
          </p:nvSpPr>
          <p:spPr>
            <a:xfrm flipH="false" flipV="false" rot="0">
              <a:off x="0" y="0"/>
              <a:ext cx="4792980" cy="3604260"/>
            </a:xfrm>
            <a:custGeom>
              <a:avLst/>
              <a:gdLst/>
              <a:ahLst/>
              <a:cxnLst/>
              <a:rect r="r" b="b" t="t" l="l"/>
              <a:pathLst>
                <a:path h="3604260" w="4792980">
                  <a:moveTo>
                    <a:pt x="0" y="147828"/>
                  </a:moveTo>
                  <a:cubicBezTo>
                    <a:pt x="0" y="66167"/>
                    <a:pt x="66167" y="0"/>
                    <a:pt x="147828" y="0"/>
                  </a:cubicBezTo>
                  <a:lnTo>
                    <a:pt x="4645152" y="0"/>
                  </a:lnTo>
                  <a:cubicBezTo>
                    <a:pt x="4726813" y="0"/>
                    <a:pt x="4792980" y="66167"/>
                    <a:pt x="4792980" y="147828"/>
                  </a:cubicBezTo>
                  <a:lnTo>
                    <a:pt x="4792980" y="3456432"/>
                  </a:lnTo>
                  <a:cubicBezTo>
                    <a:pt x="4792980" y="3538093"/>
                    <a:pt x="4726813" y="3604260"/>
                    <a:pt x="4645152" y="3604260"/>
                  </a:cubicBezTo>
                  <a:lnTo>
                    <a:pt x="147828" y="3604260"/>
                  </a:lnTo>
                  <a:cubicBezTo>
                    <a:pt x="66167" y="3604260"/>
                    <a:pt x="0" y="3538093"/>
                    <a:pt x="0" y="3456432"/>
                  </a:cubicBezTo>
                  <a:close/>
                </a:path>
              </a:pathLst>
            </a:custGeom>
            <a:solidFill>
              <a:srgbClr val="252B32"/>
            </a:solidFill>
            <a:ln w="28575" cap="sq">
              <a:solidFill>
                <a:srgbClr val="2F9BFF"/>
              </a:solidFill>
              <a:prstDash val="solid"/>
              <a:miter/>
            </a:ln>
          </p:spPr>
        </p:sp>
      </p:grpSp>
      <p:sp>
        <p:nvSpPr>
          <p:cNvPr name="TextBox 24" id="24"/>
          <p:cNvSpPr txBox="true"/>
          <p:nvPr/>
        </p:nvSpPr>
        <p:spPr>
          <a:xfrm rot="0">
            <a:off x="14058900" y="2655570"/>
            <a:ext cx="822960" cy="704850"/>
          </a:xfrm>
          <a:prstGeom prst="rect">
            <a:avLst/>
          </a:prstGeom>
        </p:spPr>
        <p:txBody>
          <a:bodyPr anchor="t" rtlCol="false" tIns="0" lIns="0" bIns="0" rIns="0">
            <a:spAutoFit/>
          </a:bodyPr>
          <a:lstStyle/>
          <a:p>
            <a:pPr algn="l">
              <a:lnSpc>
                <a:spcPts val="4320"/>
              </a:lnSpc>
            </a:pPr>
            <a:r>
              <a:rPr lang="en-US" sz="3600" b="true">
                <a:solidFill>
                  <a:srgbClr val="2F9BFF"/>
                </a:solidFill>
                <a:latin typeface="Courier New Bold"/>
                <a:ea typeface="Courier New Bold"/>
                <a:cs typeface="Courier New Bold"/>
                <a:sym typeface="Courier New Bold"/>
              </a:rPr>
              <a:t>4</a:t>
            </a:r>
          </a:p>
        </p:txBody>
      </p:sp>
      <p:sp>
        <p:nvSpPr>
          <p:cNvPr name="TextBox 25" id="25"/>
          <p:cNvSpPr txBox="true"/>
          <p:nvPr/>
        </p:nvSpPr>
        <p:spPr>
          <a:xfrm rot="0">
            <a:off x="14058900" y="3390900"/>
            <a:ext cx="3017520" cy="58674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Allocate and initialize</a:t>
            </a:r>
          </a:p>
        </p:txBody>
      </p:sp>
      <p:sp>
        <p:nvSpPr>
          <p:cNvPr name="TextBox 26" id="26"/>
          <p:cNvSpPr txBox="true"/>
          <p:nvPr/>
        </p:nvSpPr>
        <p:spPr>
          <a:xfrm rot="0">
            <a:off x="14058900" y="3939540"/>
            <a:ext cx="3017520" cy="1135380"/>
          </a:xfrm>
          <a:prstGeom prst="rect">
            <a:avLst/>
          </a:prstGeom>
        </p:spPr>
        <p:txBody>
          <a:bodyPr anchor="t" rtlCol="false" tIns="0" lIns="0" bIns="0" rIns="0">
            <a:spAutoFit/>
          </a:bodyPr>
          <a:lstStyle/>
          <a:p>
            <a:pPr algn="l">
              <a:lnSpc>
                <a:spcPts val="2160"/>
              </a:lnSpc>
            </a:pPr>
            <a:r>
              <a:rPr lang="en-US" sz="1800">
                <a:solidFill>
                  <a:srgbClr val="A3AEBB"/>
                </a:solidFill>
                <a:latin typeface="Calibri (MS)"/>
                <a:ea typeface="Calibri (MS)"/>
                <a:cs typeface="Calibri (MS)"/>
                <a:sym typeface="Calibri (MS)"/>
              </a:rPr>
              <a:t>malloc, then fill every byte of the region</a:t>
            </a:r>
          </a:p>
        </p:txBody>
      </p:sp>
      <p:grpSp>
        <p:nvGrpSpPr>
          <p:cNvPr name="Group 27" id="27"/>
          <p:cNvGrpSpPr/>
          <p:nvPr/>
        </p:nvGrpSpPr>
        <p:grpSpPr>
          <a:xfrm rot="0">
            <a:off x="13770293" y="5746432"/>
            <a:ext cx="3594735" cy="2703195"/>
            <a:chOff x="0" y="0"/>
            <a:chExt cx="4792980" cy="3604260"/>
          </a:xfrm>
        </p:grpSpPr>
        <p:sp>
          <p:nvSpPr>
            <p:cNvPr name="Freeform 28" id="28"/>
            <p:cNvSpPr/>
            <p:nvPr/>
          </p:nvSpPr>
          <p:spPr>
            <a:xfrm flipH="false" flipV="false" rot="0">
              <a:off x="0" y="0"/>
              <a:ext cx="4792980" cy="3604260"/>
            </a:xfrm>
            <a:custGeom>
              <a:avLst/>
              <a:gdLst/>
              <a:ahLst/>
              <a:cxnLst/>
              <a:rect r="r" b="b" t="t" l="l"/>
              <a:pathLst>
                <a:path h="3604260" w="4792980">
                  <a:moveTo>
                    <a:pt x="0" y="147828"/>
                  </a:moveTo>
                  <a:cubicBezTo>
                    <a:pt x="0" y="66167"/>
                    <a:pt x="66167" y="0"/>
                    <a:pt x="147828" y="0"/>
                  </a:cubicBezTo>
                  <a:lnTo>
                    <a:pt x="4645152" y="0"/>
                  </a:lnTo>
                  <a:cubicBezTo>
                    <a:pt x="4726813" y="0"/>
                    <a:pt x="4792980" y="66167"/>
                    <a:pt x="4792980" y="147828"/>
                  </a:cubicBezTo>
                  <a:lnTo>
                    <a:pt x="4792980" y="3456432"/>
                  </a:lnTo>
                  <a:cubicBezTo>
                    <a:pt x="4792980" y="3538093"/>
                    <a:pt x="4726813" y="3604260"/>
                    <a:pt x="4645152" y="3604260"/>
                  </a:cubicBezTo>
                  <a:lnTo>
                    <a:pt x="147828" y="3604260"/>
                  </a:lnTo>
                  <a:cubicBezTo>
                    <a:pt x="66167" y="3604260"/>
                    <a:pt x="0" y="3538093"/>
                    <a:pt x="0" y="3456432"/>
                  </a:cubicBezTo>
                  <a:close/>
                </a:path>
              </a:pathLst>
            </a:custGeom>
            <a:solidFill>
              <a:srgbClr val="252B32"/>
            </a:solidFill>
            <a:ln w="28575" cap="sq">
              <a:solidFill>
                <a:srgbClr val="2F9BFF"/>
              </a:solidFill>
              <a:prstDash val="solid"/>
              <a:miter/>
            </a:ln>
          </p:spPr>
        </p:sp>
      </p:grpSp>
      <p:sp>
        <p:nvSpPr>
          <p:cNvPr name="TextBox 29" id="29"/>
          <p:cNvSpPr txBox="true"/>
          <p:nvPr/>
        </p:nvSpPr>
        <p:spPr>
          <a:xfrm rot="0">
            <a:off x="14058900" y="5947410"/>
            <a:ext cx="822960" cy="704850"/>
          </a:xfrm>
          <a:prstGeom prst="rect">
            <a:avLst/>
          </a:prstGeom>
        </p:spPr>
        <p:txBody>
          <a:bodyPr anchor="t" rtlCol="false" tIns="0" lIns="0" bIns="0" rIns="0">
            <a:spAutoFit/>
          </a:bodyPr>
          <a:lstStyle/>
          <a:p>
            <a:pPr algn="l">
              <a:lnSpc>
                <a:spcPts val="4320"/>
              </a:lnSpc>
            </a:pPr>
            <a:r>
              <a:rPr lang="en-US" sz="3600" b="true">
                <a:solidFill>
                  <a:srgbClr val="2F9BFF"/>
                </a:solidFill>
                <a:latin typeface="Courier New Bold"/>
                <a:ea typeface="Courier New Bold"/>
                <a:cs typeface="Courier New Bold"/>
                <a:sym typeface="Courier New Bold"/>
              </a:rPr>
              <a:t>5</a:t>
            </a:r>
          </a:p>
        </p:txBody>
      </p:sp>
      <p:sp>
        <p:nvSpPr>
          <p:cNvPr name="TextBox 30" id="30"/>
          <p:cNvSpPr txBox="true"/>
          <p:nvPr/>
        </p:nvSpPr>
        <p:spPr>
          <a:xfrm rot="0">
            <a:off x="14058900" y="6682740"/>
            <a:ext cx="3017520" cy="58674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Create CPU workers</a:t>
            </a:r>
          </a:p>
        </p:txBody>
      </p:sp>
      <p:sp>
        <p:nvSpPr>
          <p:cNvPr name="TextBox 31" id="31"/>
          <p:cNvSpPr txBox="true"/>
          <p:nvPr/>
        </p:nvSpPr>
        <p:spPr>
          <a:xfrm rot="0">
            <a:off x="14058900" y="7231380"/>
            <a:ext cx="3017520" cy="1135380"/>
          </a:xfrm>
          <a:prstGeom prst="rect">
            <a:avLst/>
          </a:prstGeom>
        </p:spPr>
        <p:txBody>
          <a:bodyPr anchor="t" rtlCol="false" tIns="0" lIns="0" bIns="0" rIns="0">
            <a:spAutoFit/>
          </a:bodyPr>
          <a:lstStyle/>
          <a:p>
            <a:pPr algn="l">
              <a:lnSpc>
                <a:spcPts val="2160"/>
              </a:lnSpc>
            </a:pPr>
            <a:r>
              <a:rPr lang="en-US" sz="1800">
                <a:solidFill>
                  <a:srgbClr val="A3AEBB"/>
                </a:solidFill>
                <a:latin typeface="Calibri (MS)"/>
                <a:ea typeface="Calibri (MS)"/>
                <a:cs typeface="Calibri (MS)"/>
                <a:sym typeface="Calibri (MS)"/>
              </a:rPr>
              <a:t>Install signal handler, pthread_create per worker</a:t>
            </a:r>
          </a:p>
        </p:txBody>
      </p:sp>
      <p:grpSp>
        <p:nvGrpSpPr>
          <p:cNvPr name="Group 32" id="32"/>
          <p:cNvGrpSpPr/>
          <p:nvPr/>
        </p:nvGrpSpPr>
        <p:grpSpPr>
          <a:xfrm rot="0">
            <a:off x="9449752" y="5746432"/>
            <a:ext cx="3594735" cy="2703195"/>
            <a:chOff x="0" y="0"/>
            <a:chExt cx="4792980" cy="3604260"/>
          </a:xfrm>
        </p:grpSpPr>
        <p:sp>
          <p:nvSpPr>
            <p:cNvPr name="Freeform 33" id="33"/>
            <p:cNvSpPr/>
            <p:nvPr/>
          </p:nvSpPr>
          <p:spPr>
            <a:xfrm flipH="false" flipV="false" rot="0">
              <a:off x="0" y="0"/>
              <a:ext cx="4792980" cy="3604260"/>
            </a:xfrm>
            <a:custGeom>
              <a:avLst/>
              <a:gdLst/>
              <a:ahLst/>
              <a:cxnLst/>
              <a:rect r="r" b="b" t="t" l="l"/>
              <a:pathLst>
                <a:path h="3604260" w="4792980">
                  <a:moveTo>
                    <a:pt x="0" y="147828"/>
                  </a:moveTo>
                  <a:cubicBezTo>
                    <a:pt x="0" y="66167"/>
                    <a:pt x="66167" y="0"/>
                    <a:pt x="147828" y="0"/>
                  </a:cubicBezTo>
                  <a:lnTo>
                    <a:pt x="4645152" y="0"/>
                  </a:lnTo>
                  <a:cubicBezTo>
                    <a:pt x="4726813" y="0"/>
                    <a:pt x="4792980" y="66167"/>
                    <a:pt x="4792980" y="147828"/>
                  </a:cubicBezTo>
                  <a:lnTo>
                    <a:pt x="4792980" y="3456432"/>
                  </a:lnTo>
                  <a:cubicBezTo>
                    <a:pt x="4792980" y="3538093"/>
                    <a:pt x="4726813" y="3604260"/>
                    <a:pt x="4645152" y="3604260"/>
                  </a:cubicBezTo>
                  <a:lnTo>
                    <a:pt x="147828" y="3604260"/>
                  </a:lnTo>
                  <a:cubicBezTo>
                    <a:pt x="66167" y="3604260"/>
                    <a:pt x="0" y="3538093"/>
                    <a:pt x="0" y="3456432"/>
                  </a:cubicBezTo>
                  <a:close/>
                </a:path>
              </a:pathLst>
            </a:custGeom>
            <a:solidFill>
              <a:srgbClr val="252B32"/>
            </a:solidFill>
            <a:ln w="28575" cap="sq">
              <a:solidFill>
                <a:srgbClr val="3FB67A"/>
              </a:solidFill>
              <a:prstDash val="solid"/>
              <a:miter/>
            </a:ln>
          </p:spPr>
        </p:sp>
      </p:grpSp>
      <p:sp>
        <p:nvSpPr>
          <p:cNvPr name="TextBox 34" id="34"/>
          <p:cNvSpPr txBox="true"/>
          <p:nvPr/>
        </p:nvSpPr>
        <p:spPr>
          <a:xfrm rot="0">
            <a:off x="9738360" y="5947410"/>
            <a:ext cx="822960" cy="704850"/>
          </a:xfrm>
          <a:prstGeom prst="rect">
            <a:avLst/>
          </a:prstGeom>
        </p:spPr>
        <p:txBody>
          <a:bodyPr anchor="t" rtlCol="false" tIns="0" lIns="0" bIns="0" rIns="0">
            <a:spAutoFit/>
          </a:bodyPr>
          <a:lstStyle/>
          <a:p>
            <a:pPr algn="l">
              <a:lnSpc>
                <a:spcPts val="4320"/>
              </a:lnSpc>
            </a:pPr>
            <a:r>
              <a:rPr lang="en-US" sz="3600" b="true">
                <a:solidFill>
                  <a:srgbClr val="3FB67A"/>
                </a:solidFill>
                <a:latin typeface="Courier New Bold"/>
                <a:ea typeface="Courier New Bold"/>
                <a:cs typeface="Courier New Bold"/>
                <a:sym typeface="Courier New Bold"/>
              </a:rPr>
              <a:t>6</a:t>
            </a:r>
          </a:p>
        </p:txBody>
      </p:sp>
      <p:sp>
        <p:nvSpPr>
          <p:cNvPr name="TextBox 35" id="35"/>
          <p:cNvSpPr txBox="true"/>
          <p:nvPr/>
        </p:nvSpPr>
        <p:spPr>
          <a:xfrm rot="0">
            <a:off x="9738360" y="6682740"/>
            <a:ext cx="3017520" cy="58674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Execute workloads</a:t>
            </a:r>
          </a:p>
        </p:txBody>
      </p:sp>
      <p:sp>
        <p:nvSpPr>
          <p:cNvPr name="TextBox 36" id="36"/>
          <p:cNvSpPr txBox="true"/>
          <p:nvPr/>
        </p:nvSpPr>
        <p:spPr>
          <a:xfrm rot="0">
            <a:off x="9738360" y="7231380"/>
            <a:ext cx="3017520" cy="1135380"/>
          </a:xfrm>
          <a:prstGeom prst="rect">
            <a:avLst/>
          </a:prstGeom>
        </p:spPr>
        <p:txBody>
          <a:bodyPr anchor="t" rtlCol="false" tIns="0" lIns="0" bIns="0" rIns="0">
            <a:spAutoFit/>
          </a:bodyPr>
          <a:lstStyle/>
          <a:p>
            <a:pPr algn="l">
              <a:lnSpc>
                <a:spcPts val="2160"/>
              </a:lnSpc>
            </a:pPr>
            <a:r>
              <a:rPr lang="en-US" sz="1800">
                <a:solidFill>
                  <a:srgbClr val="A3AEBB"/>
                </a:solidFill>
                <a:latin typeface="Calibri (MS)"/>
                <a:ea typeface="Calibri (MS)"/>
                <a:cs typeface="Calibri (MS)"/>
                <a:sym typeface="Calibri (MS)"/>
              </a:rPr>
              <a:t>Workers count; main sweeps memory, prints each second</a:t>
            </a:r>
          </a:p>
        </p:txBody>
      </p:sp>
      <p:grpSp>
        <p:nvGrpSpPr>
          <p:cNvPr name="Group 37" id="37"/>
          <p:cNvGrpSpPr/>
          <p:nvPr/>
        </p:nvGrpSpPr>
        <p:grpSpPr>
          <a:xfrm rot="0">
            <a:off x="5129212" y="5746432"/>
            <a:ext cx="3594735" cy="2703195"/>
            <a:chOff x="0" y="0"/>
            <a:chExt cx="4792980" cy="3604260"/>
          </a:xfrm>
        </p:grpSpPr>
        <p:sp>
          <p:nvSpPr>
            <p:cNvPr name="Freeform 38" id="38"/>
            <p:cNvSpPr/>
            <p:nvPr/>
          </p:nvSpPr>
          <p:spPr>
            <a:xfrm flipH="false" flipV="false" rot="0">
              <a:off x="0" y="0"/>
              <a:ext cx="4792980" cy="3604260"/>
            </a:xfrm>
            <a:custGeom>
              <a:avLst/>
              <a:gdLst/>
              <a:ahLst/>
              <a:cxnLst/>
              <a:rect r="r" b="b" t="t" l="l"/>
              <a:pathLst>
                <a:path h="3604260" w="4792980">
                  <a:moveTo>
                    <a:pt x="0" y="147828"/>
                  </a:moveTo>
                  <a:cubicBezTo>
                    <a:pt x="0" y="66167"/>
                    <a:pt x="66167" y="0"/>
                    <a:pt x="147828" y="0"/>
                  </a:cubicBezTo>
                  <a:lnTo>
                    <a:pt x="4645152" y="0"/>
                  </a:lnTo>
                  <a:cubicBezTo>
                    <a:pt x="4726813" y="0"/>
                    <a:pt x="4792980" y="66167"/>
                    <a:pt x="4792980" y="147828"/>
                  </a:cubicBezTo>
                  <a:lnTo>
                    <a:pt x="4792980" y="3456432"/>
                  </a:lnTo>
                  <a:cubicBezTo>
                    <a:pt x="4792980" y="3538093"/>
                    <a:pt x="4726813" y="3604260"/>
                    <a:pt x="4645152" y="3604260"/>
                  </a:cubicBezTo>
                  <a:lnTo>
                    <a:pt x="147828" y="3604260"/>
                  </a:lnTo>
                  <a:cubicBezTo>
                    <a:pt x="66167" y="3604260"/>
                    <a:pt x="0" y="3538093"/>
                    <a:pt x="0" y="3456432"/>
                  </a:cubicBezTo>
                  <a:close/>
                </a:path>
              </a:pathLst>
            </a:custGeom>
            <a:solidFill>
              <a:srgbClr val="252B32"/>
            </a:solidFill>
            <a:ln w="28575" cap="sq">
              <a:solidFill>
                <a:srgbClr val="2F9BFF"/>
              </a:solidFill>
              <a:prstDash val="solid"/>
              <a:miter/>
            </a:ln>
          </p:spPr>
        </p:sp>
      </p:grpSp>
      <p:sp>
        <p:nvSpPr>
          <p:cNvPr name="TextBox 39" id="39"/>
          <p:cNvSpPr txBox="true"/>
          <p:nvPr/>
        </p:nvSpPr>
        <p:spPr>
          <a:xfrm rot="0">
            <a:off x="5417820" y="5947410"/>
            <a:ext cx="822960" cy="704850"/>
          </a:xfrm>
          <a:prstGeom prst="rect">
            <a:avLst/>
          </a:prstGeom>
        </p:spPr>
        <p:txBody>
          <a:bodyPr anchor="t" rtlCol="false" tIns="0" lIns="0" bIns="0" rIns="0">
            <a:spAutoFit/>
          </a:bodyPr>
          <a:lstStyle/>
          <a:p>
            <a:pPr algn="l">
              <a:lnSpc>
                <a:spcPts val="4320"/>
              </a:lnSpc>
            </a:pPr>
            <a:r>
              <a:rPr lang="en-US" sz="3600" b="true">
                <a:solidFill>
                  <a:srgbClr val="2F9BFF"/>
                </a:solidFill>
                <a:latin typeface="Courier New Bold"/>
                <a:ea typeface="Courier New Bold"/>
                <a:cs typeface="Courier New Bold"/>
                <a:sym typeface="Courier New Bold"/>
              </a:rPr>
              <a:t>7</a:t>
            </a:r>
          </a:p>
        </p:txBody>
      </p:sp>
      <p:sp>
        <p:nvSpPr>
          <p:cNvPr name="TextBox 40" id="40"/>
          <p:cNvSpPr txBox="true"/>
          <p:nvPr/>
        </p:nvSpPr>
        <p:spPr>
          <a:xfrm rot="0">
            <a:off x="5417820" y="6682740"/>
            <a:ext cx="3017520" cy="58674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Stop workers</a:t>
            </a:r>
          </a:p>
        </p:txBody>
      </p:sp>
      <p:sp>
        <p:nvSpPr>
          <p:cNvPr name="TextBox 41" id="41"/>
          <p:cNvSpPr txBox="true"/>
          <p:nvPr/>
        </p:nvSpPr>
        <p:spPr>
          <a:xfrm rot="0">
            <a:off x="5417820" y="7231380"/>
            <a:ext cx="3017520" cy="1135380"/>
          </a:xfrm>
          <a:prstGeom prst="rect">
            <a:avLst/>
          </a:prstGeom>
        </p:spPr>
        <p:txBody>
          <a:bodyPr anchor="t" rtlCol="false" tIns="0" lIns="0" bIns="0" rIns="0">
            <a:spAutoFit/>
          </a:bodyPr>
          <a:lstStyle/>
          <a:p>
            <a:pPr algn="l">
              <a:lnSpc>
                <a:spcPts val="2160"/>
              </a:lnSpc>
            </a:pPr>
            <a:r>
              <a:rPr lang="en-US" sz="1800">
                <a:solidFill>
                  <a:srgbClr val="A3AEBB"/>
                </a:solidFill>
                <a:latin typeface="Calibri (MS)"/>
                <a:ea typeface="Calibri (MS)"/>
                <a:cs typeface="Calibri (MS)"/>
                <a:sym typeface="Calibri (MS)"/>
              </a:rPr>
              <a:t>Set stop flag, pthread_join each worker</a:t>
            </a:r>
          </a:p>
        </p:txBody>
      </p:sp>
      <p:grpSp>
        <p:nvGrpSpPr>
          <p:cNvPr name="Group 42" id="42"/>
          <p:cNvGrpSpPr/>
          <p:nvPr/>
        </p:nvGrpSpPr>
        <p:grpSpPr>
          <a:xfrm rot="0">
            <a:off x="808672" y="5746432"/>
            <a:ext cx="3594735" cy="2703195"/>
            <a:chOff x="0" y="0"/>
            <a:chExt cx="4792980" cy="3604260"/>
          </a:xfrm>
        </p:grpSpPr>
        <p:sp>
          <p:nvSpPr>
            <p:cNvPr name="Freeform 43" id="43"/>
            <p:cNvSpPr/>
            <p:nvPr/>
          </p:nvSpPr>
          <p:spPr>
            <a:xfrm flipH="false" flipV="false" rot="0">
              <a:off x="0" y="0"/>
              <a:ext cx="4792980" cy="3604260"/>
            </a:xfrm>
            <a:custGeom>
              <a:avLst/>
              <a:gdLst/>
              <a:ahLst/>
              <a:cxnLst/>
              <a:rect r="r" b="b" t="t" l="l"/>
              <a:pathLst>
                <a:path h="3604260" w="4792980">
                  <a:moveTo>
                    <a:pt x="0" y="147828"/>
                  </a:moveTo>
                  <a:cubicBezTo>
                    <a:pt x="0" y="66167"/>
                    <a:pt x="66167" y="0"/>
                    <a:pt x="147828" y="0"/>
                  </a:cubicBezTo>
                  <a:lnTo>
                    <a:pt x="4645152" y="0"/>
                  </a:lnTo>
                  <a:cubicBezTo>
                    <a:pt x="4726813" y="0"/>
                    <a:pt x="4792980" y="66167"/>
                    <a:pt x="4792980" y="147828"/>
                  </a:cubicBezTo>
                  <a:lnTo>
                    <a:pt x="4792980" y="3456432"/>
                  </a:lnTo>
                  <a:cubicBezTo>
                    <a:pt x="4792980" y="3538093"/>
                    <a:pt x="4726813" y="3604260"/>
                    <a:pt x="4645152" y="3604260"/>
                  </a:cubicBezTo>
                  <a:lnTo>
                    <a:pt x="147828" y="3604260"/>
                  </a:lnTo>
                  <a:cubicBezTo>
                    <a:pt x="66167" y="3604260"/>
                    <a:pt x="0" y="3538093"/>
                    <a:pt x="0" y="3456432"/>
                  </a:cubicBezTo>
                  <a:close/>
                </a:path>
              </a:pathLst>
            </a:custGeom>
            <a:solidFill>
              <a:srgbClr val="252B32"/>
            </a:solidFill>
            <a:ln w="28575" cap="sq">
              <a:solidFill>
                <a:srgbClr val="2F9BFF"/>
              </a:solidFill>
              <a:prstDash val="solid"/>
              <a:miter/>
            </a:ln>
          </p:spPr>
        </p:sp>
      </p:grpSp>
      <p:sp>
        <p:nvSpPr>
          <p:cNvPr name="TextBox 44" id="44"/>
          <p:cNvSpPr txBox="true"/>
          <p:nvPr/>
        </p:nvSpPr>
        <p:spPr>
          <a:xfrm rot="0">
            <a:off x="1097280" y="5947410"/>
            <a:ext cx="822960" cy="704850"/>
          </a:xfrm>
          <a:prstGeom prst="rect">
            <a:avLst/>
          </a:prstGeom>
        </p:spPr>
        <p:txBody>
          <a:bodyPr anchor="t" rtlCol="false" tIns="0" lIns="0" bIns="0" rIns="0">
            <a:spAutoFit/>
          </a:bodyPr>
          <a:lstStyle/>
          <a:p>
            <a:pPr algn="l">
              <a:lnSpc>
                <a:spcPts val="4320"/>
              </a:lnSpc>
            </a:pPr>
            <a:r>
              <a:rPr lang="en-US" sz="3600" b="true">
                <a:solidFill>
                  <a:srgbClr val="2F9BFF"/>
                </a:solidFill>
                <a:latin typeface="Courier New Bold"/>
                <a:ea typeface="Courier New Bold"/>
                <a:cs typeface="Courier New Bold"/>
                <a:sym typeface="Courier New Bold"/>
              </a:rPr>
              <a:t>8</a:t>
            </a:r>
          </a:p>
        </p:txBody>
      </p:sp>
      <p:sp>
        <p:nvSpPr>
          <p:cNvPr name="TextBox 45" id="45"/>
          <p:cNvSpPr txBox="true"/>
          <p:nvPr/>
        </p:nvSpPr>
        <p:spPr>
          <a:xfrm rot="0">
            <a:off x="1097280" y="6682740"/>
            <a:ext cx="3017520" cy="58674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Summary and cleanup</a:t>
            </a:r>
          </a:p>
        </p:txBody>
      </p:sp>
      <p:sp>
        <p:nvSpPr>
          <p:cNvPr name="TextBox 46" id="46"/>
          <p:cNvSpPr txBox="true"/>
          <p:nvPr/>
        </p:nvSpPr>
        <p:spPr>
          <a:xfrm rot="0">
            <a:off x="1097280" y="7231380"/>
            <a:ext cx="3017520" cy="1135380"/>
          </a:xfrm>
          <a:prstGeom prst="rect">
            <a:avLst/>
          </a:prstGeom>
        </p:spPr>
        <p:txBody>
          <a:bodyPr anchor="t" rtlCol="false" tIns="0" lIns="0" bIns="0" rIns="0">
            <a:spAutoFit/>
          </a:bodyPr>
          <a:lstStyle/>
          <a:p>
            <a:pPr algn="l">
              <a:lnSpc>
                <a:spcPts val="2160"/>
              </a:lnSpc>
            </a:pPr>
            <a:r>
              <a:rPr lang="en-US" sz="1800">
                <a:solidFill>
                  <a:srgbClr val="A3AEBB"/>
                </a:solidFill>
                <a:latin typeface="Calibri (MS)"/>
                <a:ea typeface="Calibri (MS)"/>
                <a:cs typeface="Calibri (MS)"/>
                <a:sym typeface="Calibri (MS)"/>
              </a:rPr>
              <a:t>Print results, free memory and worker array</a:t>
            </a:r>
          </a:p>
        </p:txBody>
      </p:sp>
      <p:sp>
        <p:nvSpPr>
          <p:cNvPr name="AutoShape 47" id="47"/>
          <p:cNvSpPr/>
          <p:nvPr/>
        </p:nvSpPr>
        <p:spPr>
          <a:xfrm>
            <a:off x="4367117" y="3813048"/>
            <a:ext cx="798395" cy="0"/>
          </a:xfrm>
          <a:prstGeom prst="line">
            <a:avLst/>
          </a:prstGeom>
          <a:ln cap="rnd" w="19050">
            <a:solidFill>
              <a:srgbClr val="A3AEBB"/>
            </a:solidFill>
            <a:prstDash val="solid"/>
            <a:headEnd type="none" len="sm" w="sm"/>
            <a:tailEnd type="triangle" len="med" w="lg"/>
          </a:ln>
        </p:spPr>
      </p:sp>
      <p:sp>
        <p:nvSpPr>
          <p:cNvPr name="AutoShape 48" id="48"/>
          <p:cNvSpPr/>
          <p:nvPr/>
        </p:nvSpPr>
        <p:spPr>
          <a:xfrm>
            <a:off x="8687657" y="3813048"/>
            <a:ext cx="798395" cy="0"/>
          </a:xfrm>
          <a:prstGeom prst="line">
            <a:avLst/>
          </a:prstGeom>
          <a:ln cap="rnd" w="19050">
            <a:solidFill>
              <a:srgbClr val="A3AEBB"/>
            </a:solidFill>
            <a:prstDash val="solid"/>
            <a:headEnd type="none" len="sm" w="sm"/>
            <a:tailEnd type="triangle" len="med" w="lg"/>
          </a:ln>
        </p:spPr>
      </p:sp>
      <p:sp>
        <p:nvSpPr>
          <p:cNvPr name="AutoShape 49" id="49"/>
          <p:cNvSpPr/>
          <p:nvPr/>
        </p:nvSpPr>
        <p:spPr>
          <a:xfrm>
            <a:off x="13008197" y="3813048"/>
            <a:ext cx="798395" cy="0"/>
          </a:xfrm>
          <a:prstGeom prst="line">
            <a:avLst/>
          </a:prstGeom>
          <a:ln cap="rnd" w="19050">
            <a:solidFill>
              <a:srgbClr val="A3AEBB"/>
            </a:solidFill>
            <a:prstDash val="solid"/>
            <a:headEnd type="none" len="sm" w="sm"/>
            <a:tailEnd type="triangle" len="med" w="lg"/>
          </a:ln>
        </p:spPr>
      </p:sp>
      <p:sp>
        <p:nvSpPr>
          <p:cNvPr name="AutoShape 50" id="50"/>
          <p:cNvSpPr/>
          <p:nvPr/>
        </p:nvSpPr>
        <p:spPr>
          <a:xfrm>
            <a:off x="15567660" y="5121373"/>
            <a:ext cx="0" cy="661473"/>
          </a:xfrm>
          <a:prstGeom prst="line">
            <a:avLst/>
          </a:prstGeom>
          <a:ln cap="rnd" w="19050">
            <a:solidFill>
              <a:srgbClr val="A3AEBB"/>
            </a:solidFill>
            <a:prstDash val="solid"/>
            <a:headEnd type="none" len="sm" w="sm"/>
            <a:tailEnd type="triangle" len="med" w="lg"/>
          </a:ln>
        </p:spPr>
      </p:sp>
      <p:sp>
        <p:nvSpPr>
          <p:cNvPr name="AutoShape 51" id="51"/>
          <p:cNvSpPr/>
          <p:nvPr/>
        </p:nvSpPr>
        <p:spPr>
          <a:xfrm flipH="true">
            <a:off x="13008197" y="7104888"/>
            <a:ext cx="798395" cy="0"/>
          </a:xfrm>
          <a:prstGeom prst="line">
            <a:avLst/>
          </a:prstGeom>
          <a:ln cap="rnd" w="19050">
            <a:solidFill>
              <a:srgbClr val="A3AEBB"/>
            </a:solidFill>
            <a:prstDash val="solid"/>
            <a:headEnd type="none" len="sm" w="sm"/>
            <a:tailEnd type="triangle" len="med" w="lg"/>
          </a:ln>
        </p:spPr>
      </p:sp>
      <p:sp>
        <p:nvSpPr>
          <p:cNvPr name="AutoShape 52" id="52"/>
          <p:cNvSpPr/>
          <p:nvPr/>
        </p:nvSpPr>
        <p:spPr>
          <a:xfrm flipH="true">
            <a:off x="8687657" y="7104888"/>
            <a:ext cx="798395" cy="0"/>
          </a:xfrm>
          <a:prstGeom prst="line">
            <a:avLst/>
          </a:prstGeom>
          <a:ln cap="rnd" w="19050">
            <a:solidFill>
              <a:srgbClr val="A3AEBB"/>
            </a:solidFill>
            <a:prstDash val="solid"/>
            <a:headEnd type="none" len="sm" w="sm"/>
            <a:tailEnd type="triangle" len="med" w="lg"/>
          </a:ln>
        </p:spPr>
      </p:sp>
      <p:sp>
        <p:nvSpPr>
          <p:cNvPr name="AutoShape 53" id="53"/>
          <p:cNvSpPr/>
          <p:nvPr/>
        </p:nvSpPr>
        <p:spPr>
          <a:xfrm flipH="true">
            <a:off x="4367117" y="7104888"/>
            <a:ext cx="798395" cy="0"/>
          </a:xfrm>
          <a:prstGeom prst="line">
            <a:avLst/>
          </a:prstGeom>
          <a:ln cap="rnd" w="19050">
            <a:solidFill>
              <a:srgbClr val="A3AEBB"/>
            </a:solidFill>
            <a:prstDash val="solid"/>
            <a:headEnd type="none" len="sm" w="sm"/>
            <a:tailEnd type="triangle" len="med" w="lg"/>
          </a:ln>
        </p:spPr>
      </p:sp>
      <p:sp>
        <p:nvSpPr>
          <p:cNvPr name="TextBox 54" id="54"/>
          <p:cNvSpPr txBox="true"/>
          <p:nvPr/>
        </p:nvSpPr>
        <p:spPr>
          <a:xfrm rot="0">
            <a:off x="822960" y="8730615"/>
            <a:ext cx="16459200" cy="596265"/>
          </a:xfrm>
          <a:prstGeom prst="rect">
            <a:avLst/>
          </a:prstGeom>
        </p:spPr>
        <p:txBody>
          <a:bodyPr anchor="t" rtlCol="false" tIns="0" lIns="0" bIns="0" rIns="0">
            <a:spAutoFit/>
          </a:bodyPr>
          <a:lstStyle/>
          <a:p>
            <a:pPr algn="l">
              <a:lnSpc>
                <a:spcPts val="2340"/>
              </a:lnSpc>
            </a:pPr>
            <a:r>
              <a:rPr lang="en-US" sz="1950">
                <a:solidFill>
                  <a:srgbClr val="3FB67A"/>
                </a:solidFill>
                <a:latin typeface="Calibri (MS)"/>
                <a:ea typeface="Calibri (MS)"/>
                <a:cs typeface="Calibri (MS)"/>
                <a:sym typeface="Calibri (MS)"/>
              </a:rPr>
              <a:t>Ctrl+C (SIGINT) or SIGTERM can end step 6 early. The flow then continues to steps 7 and 8.</a:t>
            </a:r>
          </a:p>
        </p:txBody>
      </p:sp>
      <p:sp>
        <p:nvSpPr>
          <p:cNvPr name="TextBox 55" id="55"/>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sp>
        <p:nvSpPr>
          <p:cNvPr name="TextBox 5" id="5"/>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05  CORE FEATURES</a:t>
            </a:r>
          </a:p>
        </p:txBody>
      </p:sp>
      <p:sp>
        <p:nvSpPr>
          <p:cNvPr name="TextBox 6" id="6"/>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What the tool does today</a:t>
            </a:r>
          </a:p>
        </p:txBody>
      </p:sp>
      <p:grpSp>
        <p:nvGrpSpPr>
          <p:cNvPr name="Group 7" id="7"/>
          <p:cNvGrpSpPr/>
          <p:nvPr/>
        </p:nvGrpSpPr>
        <p:grpSpPr>
          <a:xfrm rot="0">
            <a:off x="822960" y="2194560"/>
            <a:ext cx="5349240" cy="891540"/>
            <a:chOff x="0" y="0"/>
            <a:chExt cx="7132320" cy="1188720"/>
          </a:xfrm>
        </p:grpSpPr>
        <p:sp>
          <p:nvSpPr>
            <p:cNvPr name="Freeform 8" id="8"/>
            <p:cNvSpPr/>
            <p:nvPr/>
          </p:nvSpPr>
          <p:spPr>
            <a:xfrm flipH="false" flipV="false" rot="0">
              <a:off x="0" y="0"/>
              <a:ext cx="7132320" cy="1188720"/>
            </a:xfrm>
            <a:custGeom>
              <a:avLst/>
              <a:gdLst/>
              <a:ahLst/>
              <a:cxnLst/>
              <a:rect r="r" b="b" t="t" l="l"/>
              <a:pathLst>
                <a:path h="1188720" w="7132320">
                  <a:moveTo>
                    <a:pt x="0" y="0"/>
                  </a:moveTo>
                  <a:lnTo>
                    <a:pt x="7132320" y="0"/>
                  </a:lnTo>
                  <a:lnTo>
                    <a:pt x="7132320" y="1188720"/>
                  </a:lnTo>
                  <a:lnTo>
                    <a:pt x="0" y="1188720"/>
                  </a:lnTo>
                  <a:close/>
                </a:path>
              </a:pathLst>
            </a:custGeom>
            <a:blipFill>
              <a:blip r:embed="rId3">
                <a:alphaModFix amt="0"/>
              </a:blip>
              <a:stretch>
                <a:fillRect l="0" t="-66910" r="0" b="-66910"/>
              </a:stretch>
            </a:blipFill>
          </p:spPr>
        </p:sp>
        <p:sp>
          <p:nvSpPr>
            <p:cNvPr name="TextBox 9" id="9"/>
            <p:cNvSpPr txBox="true"/>
            <p:nvPr/>
          </p:nvSpPr>
          <p:spPr>
            <a:xfrm>
              <a:off x="0" y="-57150"/>
              <a:ext cx="7132320" cy="1245870"/>
            </a:xfrm>
            <a:prstGeom prst="rect">
              <a:avLst/>
            </a:prstGeom>
          </p:spPr>
          <p:txBody>
            <a:bodyPr anchor="ctr" rtlCol="false" tIns="0" lIns="0" bIns="0" rIns="0"/>
            <a:lstStyle/>
            <a:p>
              <a:pPr algn="l">
                <a:lnSpc>
                  <a:spcPts val="3240"/>
                </a:lnSpc>
              </a:pPr>
              <a:r>
                <a:rPr lang="en-US" sz="2700" b="true">
                  <a:solidFill>
                    <a:srgbClr val="EDF1F5"/>
                  </a:solidFill>
                  <a:latin typeface="Calibri (MS) Bold"/>
                  <a:ea typeface="Calibri (MS) Bold"/>
                  <a:cs typeface="Calibri (MS) Bold"/>
                  <a:sym typeface="Calibri (MS) Bold"/>
                </a:rPr>
                <a:t>POSIX-thread CPU load</a:t>
              </a:r>
            </a:p>
          </p:txBody>
        </p:sp>
      </p:grpSp>
      <p:grpSp>
        <p:nvGrpSpPr>
          <p:cNvPr name="Group 10" id="10"/>
          <p:cNvGrpSpPr/>
          <p:nvPr/>
        </p:nvGrpSpPr>
        <p:grpSpPr>
          <a:xfrm rot="0">
            <a:off x="6309360" y="2194560"/>
            <a:ext cx="8778240" cy="891540"/>
            <a:chOff x="0" y="0"/>
            <a:chExt cx="11704320" cy="1188720"/>
          </a:xfrm>
        </p:grpSpPr>
        <p:sp>
          <p:nvSpPr>
            <p:cNvPr name="Freeform 11" id="11"/>
            <p:cNvSpPr/>
            <p:nvPr/>
          </p:nvSpPr>
          <p:spPr>
            <a:xfrm flipH="false" flipV="false" rot="0">
              <a:off x="0" y="0"/>
              <a:ext cx="11704320" cy="1188720"/>
            </a:xfrm>
            <a:custGeom>
              <a:avLst/>
              <a:gdLst/>
              <a:ahLst/>
              <a:cxnLst/>
              <a:rect r="r" b="b" t="t" l="l"/>
              <a:pathLst>
                <a:path h="1188720" w="11704320">
                  <a:moveTo>
                    <a:pt x="0" y="0"/>
                  </a:moveTo>
                  <a:lnTo>
                    <a:pt x="11704320" y="0"/>
                  </a:lnTo>
                  <a:lnTo>
                    <a:pt x="11704320" y="1188720"/>
                  </a:lnTo>
                  <a:lnTo>
                    <a:pt x="0" y="1188720"/>
                  </a:lnTo>
                  <a:close/>
                </a:path>
              </a:pathLst>
            </a:custGeom>
            <a:blipFill>
              <a:blip r:embed="rId3">
                <a:alphaModFix amt="0"/>
              </a:blip>
              <a:stretch>
                <a:fillRect l="0" t="-141852" r="0" b="-141852"/>
              </a:stretch>
            </a:blipFill>
          </p:spPr>
        </p:sp>
        <p:sp>
          <p:nvSpPr>
            <p:cNvPr name="TextBox 12" id="12"/>
            <p:cNvSpPr txBox="true"/>
            <p:nvPr/>
          </p:nvSpPr>
          <p:spPr>
            <a:xfrm>
              <a:off x="0" y="-47625"/>
              <a:ext cx="11704320" cy="1236345"/>
            </a:xfrm>
            <a:prstGeom prst="rect">
              <a:avLst/>
            </a:prstGeom>
          </p:spPr>
          <p:txBody>
            <a:bodyPr anchor="ctr" rtlCol="false" tIns="0" lIns="0" bIns="0" rIns="0"/>
            <a:lstStyle/>
            <a:p>
              <a:pPr algn="l">
                <a:lnSpc>
                  <a:spcPts val="2520"/>
                </a:lnSpc>
              </a:pPr>
              <a:r>
                <a:rPr lang="en-US" sz="2100">
                  <a:solidFill>
                    <a:srgbClr val="A3AEBB"/>
                  </a:solidFill>
                  <a:latin typeface="Calibri (MS)"/>
                  <a:ea typeface="Calibri (MS)"/>
                  <a:cs typeface="Calibri (MS)"/>
                  <a:sym typeface="Calibri (MS)"/>
                </a:rPr>
                <a:t>One pthread per requested worker, each running an arithmetic loop</a:t>
              </a:r>
            </a:p>
          </p:txBody>
        </p:sp>
      </p:grpSp>
      <p:grpSp>
        <p:nvGrpSpPr>
          <p:cNvPr name="Group 13" id="13"/>
          <p:cNvGrpSpPr/>
          <p:nvPr/>
        </p:nvGrpSpPr>
        <p:grpSpPr>
          <a:xfrm rot="0">
            <a:off x="15352395" y="2445639"/>
            <a:ext cx="2076450" cy="403098"/>
            <a:chOff x="0" y="0"/>
            <a:chExt cx="2768600" cy="537464"/>
          </a:xfrm>
        </p:grpSpPr>
        <p:sp>
          <p:nvSpPr>
            <p:cNvPr name="Freeform 14" id="14"/>
            <p:cNvSpPr/>
            <p:nvPr/>
          </p:nvSpPr>
          <p:spPr>
            <a:xfrm flipH="false" flipV="false" rot="0">
              <a:off x="0" y="0"/>
              <a:ext cx="2768600" cy="537464"/>
            </a:xfrm>
            <a:custGeom>
              <a:avLst/>
              <a:gdLst/>
              <a:ahLst/>
              <a:cxnLst/>
              <a:rect r="r" b="b" t="t" l="l"/>
              <a:pathLst>
                <a:path h="537464" w="2768600">
                  <a:moveTo>
                    <a:pt x="0" y="268732"/>
                  </a:moveTo>
                  <a:cubicBezTo>
                    <a:pt x="0" y="120269"/>
                    <a:pt x="120269" y="0"/>
                    <a:pt x="268732" y="0"/>
                  </a:cubicBezTo>
                  <a:lnTo>
                    <a:pt x="2499868" y="0"/>
                  </a:lnTo>
                  <a:cubicBezTo>
                    <a:pt x="2648331" y="0"/>
                    <a:pt x="2768600" y="120269"/>
                    <a:pt x="2768600" y="268732"/>
                  </a:cubicBezTo>
                  <a:cubicBezTo>
                    <a:pt x="2768600" y="417195"/>
                    <a:pt x="2648331" y="537464"/>
                    <a:pt x="2499868" y="537464"/>
                  </a:cubicBezTo>
                  <a:lnTo>
                    <a:pt x="268732" y="537464"/>
                  </a:lnTo>
                  <a:cubicBezTo>
                    <a:pt x="120269" y="537464"/>
                    <a:pt x="0" y="417195"/>
                    <a:pt x="0" y="268732"/>
                  </a:cubicBezTo>
                  <a:close/>
                </a:path>
              </a:pathLst>
            </a:custGeom>
            <a:solidFill>
              <a:srgbClr val="1B1F24"/>
            </a:solidFill>
            <a:ln w="19050" cap="sq">
              <a:solidFill>
                <a:srgbClr val="3FB67A"/>
              </a:solidFill>
              <a:prstDash val="solid"/>
              <a:miter/>
            </a:ln>
          </p:spPr>
        </p:sp>
      </p:grpSp>
      <p:grpSp>
        <p:nvGrpSpPr>
          <p:cNvPr name="Group 15" id="15"/>
          <p:cNvGrpSpPr/>
          <p:nvPr/>
        </p:nvGrpSpPr>
        <p:grpSpPr>
          <a:xfrm rot="0">
            <a:off x="15361920" y="2455164"/>
            <a:ext cx="2057400" cy="384048"/>
            <a:chOff x="0" y="0"/>
            <a:chExt cx="2743200" cy="512064"/>
          </a:xfrm>
        </p:grpSpPr>
        <p:sp>
          <p:nvSpPr>
            <p:cNvPr name="Freeform 16" id="16"/>
            <p:cNvSpPr/>
            <p:nvPr/>
          </p:nvSpPr>
          <p:spPr>
            <a:xfrm flipH="false" flipV="false" rot="0">
              <a:off x="0" y="0"/>
              <a:ext cx="2743200" cy="512064"/>
            </a:xfrm>
            <a:custGeom>
              <a:avLst/>
              <a:gdLst/>
              <a:ahLst/>
              <a:cxnLst/>
              <a:rect r="r" b="b" t="t" l="l"/>
              <a:pathLst>
                <a:path h="512064" w="2743200">
                  <a:moveTo>
                    <a:pt x="0" y="0"/>
                  </a:moveTo>
                  <a:lnTo>
                    <a:pt x="2743200" y="0"/>
                  </a:lnTo>
                  <a:lnTo>
                    <a:pt x="2743200" y="512064"/>
                  </a:lnTo>
                  <a:lnTo>
                    <a:pt x="0" y="512064"/>
                  </a:lnTo>
                  <a:close/>
                </a:path>
              </a:pathLst>
            </a:custGeom>
            <a:blipFill>
              <a:blip r:embed="rId3">
                <a:alphaModFix amt="0"/>
              </a:blip>
              <a:stretch>
                <a:fillRect l="0" t="-54384" r="0" b="-54384"/>
              </a:stretch>
            </a:blipFill>
          </p:spPr>
        </p:sp>
        <p:sp>
          <p:nvSpPr>
            <p:cNvPr name="TextBox 17" id="17"/>
            <p:cNvSpPr txBox="true"/>
            <p:nvPr/>
          </p:nvSpPr>
          <p:spPr>
            <a:xfrm>
              <a:off x="0" y="-9525"/>
              <a:ext cx="2743200" cy="521589"/>
            </a:xfrm>
            <a:prstGeom prst="rect">
              <a:avLst/>
            </a:prstGeom>
          </p:spPr>
          <p:txBody>
            <a:bodyPr anchor="ctr" rtlCol="false" tIns="0" lIns="0" bIns="0" rIns="0"/>
            <a:lstStyle/>
            <a:p>
              <a:pPr algn="ctr">
                <a:lnSpc>
                  <a:spcPts val="1800"/>
                </a:lnSpc>
              </a:pPr>
              <a:r>
                <a:rPr lang="en-US" sz="1500" b="true">
                  <a:solidFill>
                    <a:srgbClr val="3FB67A"/>
                  </a:solidFill>
                  <a:latin typeface="Courier New Bold"/>
                  <a:ea typeface="Courier New Bold"/>
                  <a:cs typeface="Courier New Bold"/>
                  <a:sym typeface="Courier New Bold"/>
                </a:rPr>
                <a:t>IMPLEMENTED</a:t>
              </a:r>
            </a:p>
          </p:txBody>
        </p:sp>
      </p:grpSp>
      <p:sp>
        <p:nvSpPr>
          <p:cNvPr name="AutoShape 18" id="18"/>
          <p:cNvSpPr/>
          <p:nvPr/>
        </p:nvSpPr>
        <p:spPr>
          <a:xfrm rot="2940">
            <a:off x="815816" y="3149917"/>
            <a:ext cx="16610657" cy="0"/>
          </a:xfrm>
          <a:prstGeom prst="line">
            <a:avLst/>
          </a:prstGeom>
          <a:ln cap="rnd" w="9525">
            <a:solidFill>
              <a:srgbClr val="3A424C"/>
            </a:solidFill>
            <a:prstDash val="solid"/>
            <a:headEnd type="none" len="sm" w="sm"/>
            <a:tailEnd type="none" len="sm" w="sm"/>
          </a:ln>
        </p:spPr>
      </p:sp>
      <p:grpSp>
        <p:nvGrpSpPr>
          <p:cNvPr name="Group 19" id="19"/>
          <p:cNvGrpSpPr/>
          <p:nvPr/>
        </p:nvGrpSpPr>
        <p:grpSpPr>
          <a:xfrm rot="0">
            <a:off x="822960" y="3236976"/>
            <a:ext cx="5349240" cy="891540"/>
            <a:chOff x="0" y="0"/>
            <a:chExt cx="7132320" cy="1188720"/>
          </a:xfrm>
        </p:grpSpPr>
        <p:sp>
          <p:nvSpPr>
            <p:cNvPr name="Freeform 20" id="20"/>
            <p:cNvSpPr/>
            <p:nvPr/>
          </p:nvSpPr>
          <p:spPr>
            <a:xfrm flipH="false" flipV="false" rot="0">
              <a:off x="0" y="0"/>
              <a:ext cx="7132320" cy="1188720"/>
            </a:xfrm>
            <a:custGeom>
              <a:avLst/>
              <a:gdLst/>
              <a:ahLst/>
              <a:cxnLst/>
              <a:rect r="r" b="b" t="t" l="l"/>
              <a:pathLst>
                <a:path h="1188720" w="7132320">
                  <a:moveTo>
                    <a:pt x="0" y="0"/>
                  </a:moveTo>
                  <a:lnTo>
                    <a:pt x="7132320" y="0"/>
                  </a:lnTo>
                  <a:lnTo>
                    <a:pt x="7132320" y="1188720"/>
                  </a:lnTo>
                  <a:lnTo>
                    <a:pt x="0" y="1188720"/>
                  </a:lnTo>
                  <a:close/>
                </a:path>
              </a:pathLst>
            </a:custGeom>
            <a:blipFill>
              <a:blip r:embed="rId3">
                <a:alphaModFix amt="0"/>
              </a:blip>
              <a:stretch>
                <a:fillRect l="0" t="-66910" r="0" b="-66910"/>
              </a:stretch>
            </a:blipFill>
          </p:spPr>
        </p:sp>
        <p:sp>
          <p:nvSpPr>
            <p:cNvPr name="TextBox 21" id="21"/>
            <p:cNvSpPr txBox="true"/>
            <p:nvPr/>
          </p:nvSpPr>
          <p:spPr>
            <a:xfrm>
              <a:off x="0" y="-57150"/>
              <a:ext cx="7132320" cy="1245870"/>
            </a:xfrm>
            <a:prstGeom prst="rect">
              <a:avLst/>
            </a:prstGeom>
          </p:spPr>
          <p:txBody>
            <a:bodyPr anchor="ctr" rtlCol="false" tIns="0" lIns="0" bIns="0" rIns="0"/>
            <a:lstStyle/>
            <a:p>
              <a:pPr algn="l">
                <a:lnSpc>
                  <a:spcPts val="3240"/>
                </a:lnSpc>
              </a:pPr>
              <a:r>
                <a:rPr lang="en-US" sz="2700" b="true">
                  <a:solidFill>
                    <a:srgbClr val="EDF1F5"/>
                  </a:solidFill>
                  <a:latin typeface="Calibri (MS) Bold"/>
                  <a:ea typeface="Calibri (MS) Bold"/>
                  <a:cs typeface="Calibri (MS) Bold"/>
                  <a:sym typeface="Calibri (MS) Bold"/>
                </a:rPr>
                <a:t>Memory allocation and access</a:t>
              </a:r>
            </a:p>
          </p:txBody>
        </p:sp>
      </p:grpSp>
      <p:grpSp>
        <p:nvGrpSpPr>
          <p:cNvPr name="Group 22" id="22"/>
          <p:cNvGrpSpPr/>
          <p:nvPr/>
        </p:nvGrpSpPr>
        <p:grpSpPr>
          <a:xfrm rot="0">
            <a:off x="6309360" y="3236976"/>
            <a:ext cx="8778240" cy="891540"/>
            <a:chOff x="0" y="0"/>
            <a:chExt cx="11704320" cy="1188720"/>
          </a:xfrm>
        </p:grpSpPr>
        <p:sp>
          <p:nvSpPr>
            <p:cNvPr name="Freeform 23" id="23"/>
            <p:cNvSpPr/>
            <p:nvPr/>
          </p:nvSpPr>
          <p:spPr>
            <a:xfrm flipH="false" flipV="false" rot="0">
              <a:off x="0" y="0"/>
              <a:ext cx="11704320" cy="1188720"/>
            </a:xfrm>
            <a:custGeom>
              <a:avLst/>
              <a:gdLst/>
              <a:ahLst/>
              <a:cxnLst/>
              <a:rect r="r" b="b" t="t" l="l"/>
              <a:pathLst>
                <a:path h="1188720" w="11704320">
                  <a:moveTo>
                    <a:pt x="0" y="0"/>
                  </a:moveTo>
                  <a:lnTo>
                    <a:pt x="11704320" y="0"/>
                  </a:lnTo>
                  <a:lnTo>
                    <a:pt x="11704320" y="1188720"/>
                  </a:lnTo>
                  <a:lnTo>
                    <a:pt x="0" y="1188720"/>
                  </a:lnTo>
                  <a:close/>
                </a:path>
              </a:pathLst>
            </a:custGeom>
            <a:blipFill>
              <a:blip r:embed="rId3">
                <a:alphaModFix amt="0"/>
              </a:blip>
              <a:stretch>
                <a:fillRect l="0" t="-141852" r="0" b="-141852"/>
              </a:stretch>
            </a:blipFill>
          </p:spPr>
        </p:sp>
        <p:sp>
          <p:nvSpPr>
            <p:cNvPr name="TextBox 24" id="24"/>
            <p:cNvSpPr txBox="true"/>
            <p:nvPr/>
          </p:nvSpPr>
          <p:spPr>
            <a:xfrm>
              <a:off x="0" y="-47625"/>
              <a:ext cx="11704320" cy="1236345"/>
            </a:xfrm>
            <a:prstGeom prst="rect">
              <a:avLst/>
            </a:prstGeom>
          </p:spPr>
          <p:txBody>
            <a:bodyPr anchor="ctr" rtlCol="false" tIns="0" lIns="0" bIns="0" rIns="0"/>
            <a:lstStyle/>
            <a:p>
              <a:pPr algn="l">
                <a:lnSpc>
                  <a:spcPts val="2520"/>
                </a:lnSpc>
              </a:pPr>
              <a:r>
                <a:rPr lang="en-US" sz="2100">
                  <a:solidFill>
                    <a:srgbClr val="A3AEBB"/>
                  </a:solidFill>
                  <a:latin typeface="Calibri (MS)"/>
                  <a:ea typeface="Calibri (MS)"/>
                  <a:cs typeface="Calibri (MS)"/>
                  <a:sym typeface="Calibri (MS)"/>
                </a:rPr>
                <a:t>malloc, initialize, then page-touch writes and strided reads</a:t>
              </a:r>
            </a:p>
          </p:txBody>
        </p:sp>
      </p:grpSp>
      <p:grpSp>
        <p:nvGrpSpPr>
          <p:cNvPr name="Group 25" id="25"/>
          <p:cNvGrpSpPr/>
          <p:nvPr/>
        </p:nvGrpSpPr>
        <p:grpSpPr>
          <a:xfrm rot="0">
            <a:off x="15352395" y="3488055"/>
            <a:ext cx="2076450" cy="403098"/>
            <a:chOff x="0" y="0"/>
            <a:chExt cx="2768600" cy="537464"/>
          </a:xfrm>
        </p:grpSpPr>
        <p:sp>
          <p:nvSpPr>
            <p:cNvPr name="Freeform 26" id="26"/>
            <p:cNvSpPr/>
            <p:nvPr/>
          </p:nvSpPr>
          <p:spPr>
            <a:xfrm flipH="false" flipV="false" rot="0">
              <a:off x="0" y="0"/>
              <a:ext cx="2768600" cy="537464"/>
            </a:xfrm>
            <a:custGeom>
              <a:avLst/>
              <a:gdLst/>
              <a:ahLst/>
              <a:cxnLst/>
              <a:rect r="r" b="b" t="t" l="l"/>
              <a:pathLst>
                <a:path h="537464" w="2768600">
                  <a:moveTo>
                    <a:pt x="0" y="268732"/>
                  </a:moveTo>
                  <a:cubicBezTo>
                    <a:pt x="0" y="120269"/>
                    <a:pt x="120269" y="0"/>
                    <a:pt x="268732" y="0"/>
                  </a:cubicBezTo>
                  <a:lnTo>
                    <a:pt x="2499868" y="0"/>
                  </a:lnTo>
                  <a:cubicBezTo>
                    <a:pt x="2648331" y="0"/>
                    <a:pt x="2768600" y="120269"/>
                    <a:pt x="2768600" y="268732"/>
                  </a:cubicBezTo>
                  <a:cubicBezTo>
                    <a:pt x="2768600" y="417195"/>
                    <a:pt x="2648331" y="537464"/>
                    <a:pt x="2499868" y="537464"/>
                  </a:cubicBezTo>
                  <a:lnTo>
                    <a:pt x="268732" y="537464"/>
                  </a:lnTo>
                  <a:cubicBezTo>
                    <a:pt x="120269" y="537464"/>
                    <a:pt x="0" y="417195"/>
                    <a:pt x="0" y="268732"/>
                  </a:cubicBezTo>
                  <a:close/>
                </a:path>
              </a:pathLst>
            </a:custGeom>
            <a:solidFill>
              <a:srgbClr val="1B1F24"/>
            </a:solidFill>
            <a:ln w="19050" cap="sq">
              <a:solidFill>
                <a:srgbClr val="3FB67A"/>
              </a:solidFill>
              <a:prstDash val="solid"/>
              <a:miter/>
            </a:ln>
          </p:spPr>
        </p:sp>
      </p:grpSp>
      <p:grpSp>
        <p:nvGrpSpPr>
          <p:cNvPr name="Group 27" id="27"/>
          <p:cNvGrpSpPr/>
          <p:nvPr/>
        </p:nvGrpSpPr>
        <p:grpSpPr>
          <a:xfrm rot="0">
            <a:off x="15361920" y="3497580"/>
            <a:ext cx="2057400" cy="384048"/>
            <a:chOff x="0" y="0"/>
            <a:chExt cx="2743200" cy="512064"/>
          </a:xfrm>
        </p:grpSpPr>
        <p:sp>
          <p:nvSpPr>
            <p:cNvPr name="Freeform 28" id="28"/>
            <p:cNvSpPr/>
            <p:nvPr/>
          </p:nvSpPr>
          <p:spPr>
            <a:xfrm flipH="false" flipV="false" rot="0">
              <a:off x="0" y="0"/>
              <a:ext cx="2743200" cy="512064"/>
            </a:xfrm>
            <a:custGeom>
              <a:avLst/>
              <a:gdLst/>
              <a:ahLst/>
              <a:cxnLst/>
              <a:rect r="r" b="b" t="t" l="l"/>
              <a:pathLst>
                <a:path h="512064" w="2743200">
                  <a:moveTo>
                    <a:pt x="0" y="0"/>
                  </a:moveTo>
                  <a:lnTo>
                    <a:pt x="2743200" y="0"/>
                  </a:lnTo>
                  <a:lnTo>
                    <a:pt x="2743200" y="512064"/>
                  </a:lnTo>
                  <a:lnTo>
                    <a:pt x="0" y="512064"/>
                  </a:lnTo>
                  <a:close/>
                </a:path>
              </a:pathLst>
            </a:custGeom>
            <a:blipFill>
              <a:blip r:embed="rId3">
                <a:alphaModFix amt="0"/>
              </a:blip>
              <a:stretch>
                <a:fillRect l="0" t="-54384" r="0" b="-54384"/>
              </a:stretch>
            </a:blipFill>
          </p:spPr>
        </p:sp>
        <p:sp>
          <p:nvSpPr>
            <p:cNvPr name="TextBox 29" id="29"/>
            <p:cNvSpPr txBox="true"/>
            <p:nvPr/>
          </p:nvSpPr>
          <p:spPr>
            <a:xfrm>
              <a:off x="0" y="-9525"/>
              <a:ext cx="2743200" cy="521589"/>
            </a:xfrm>
            <a:prstGeom prst="rect">
              <a:avLst/>
            </a:prstGeom>
          </p:spPr>
          <p:txBody>
            <a:bodyPr anchor="ctr" rtlCol="false" tIns="0" lIns="0" bIns="0" rIns="0"/>
            <a:lstStyle/>
            <a:p>
              <a:pPr algn="ctr">
                <a:lnSpc>
                  <a:spcPts val="1800"/>
                </a:lnSpc>
              </a:pPr>
              <a:r>
                <a:rPr lang="en-US" sz="1500" b="true">
                  <a:solidFill>
                    <a:srgbClr val="3FB67A"/>
                  </a:solidFill>
                  <a:latin typeface="Courier New Bold"/>
                  <a:ea typeface="Courier New Bold"/>
                  <a:cs typeface="Courier New Bold"/>
                  <a:sym typeface="Courier New Bold"/>
                </a:rPr>
                <a:t>IMPLEMENTED</a:t>
              </a:r>
            </a:p>
          </p:txBody>
        </p:sp>
      </p:grpSp>
      <p:sp>
        <p:nvSpPr>
          <p:cNvPr name="AutoShape 30" id="30"/>
          <p:cNvSpPr/>
          <p:nvPr/>
        </p:nvSpPr>
        <p:spPr>
          <a:xfrm rot="2940">
            <a:off x="815816" y="4192334"/>
            <a:ext cx="16610657" cy="0"/>
          </a:xfrm>
          <a:prstGeom prst="line">
            <a:avLst/>
          </a:prstGeom>
          <a:ln cap="rnd" w="9525">
            <a:solidFill>
              <a:srgbClr val="3A424C"/>
            </a:solidFill>
            <a:prstDash val="solid"/>
            <a:headEnd type="none" len="sm" w="sm"/>
            <a:tailEnd type="none" len="sm" w="sm"/>
          </a:ln>
        </p:spPr>
      </p:sp>
      <p:grpSp>
        <p:nvGrpSpPr>
          <p:cNvPr name="Group 31" id="31"/>
          <p:cNvGrpSpPr/>
          <p:nvPr/>
        </p:nvGrpSpPr>
        <p:grpSpPr>
          <a:xfrm rot="0">
            <a:off x="822960" y="4279392"/>
            <a:ext cx="5349240" cy="891540"/>
            <a:chOff x="0" y="0"/>
            <a:chExt cx="7132320" cy="1188720"/>
          </a:xfrm>
        </p:grpSpPr>
        <p:sp>
          <p:nvSpPr>
            <p:cNvPr name="Freeform 32" id="32"/>
            <p:cNvSpPr/>
            <p:nvPr/>
          </p:nvSpPr>
          <p:spPr>
            <a:xfrm flipH="false" flipV="false" rot="0">
              <a:off x="0" y="0"/>
              <a:ext cx="7132320" cy="1188720"/>
            </a:xfrm>
            <a:custGeom>
              <a:avLst/>
              <a:gdLst/>
              <a:ahLst/>
              <a:cxnLst/>
              <a:rect r="r" b="b" t="t" l="l"/>
              <a:pathLst>
                <a:path h="1188720" w="7132320">
                  <a:moveTo>
                    <a:pt x="0" y="0"/>
                  </a:moveTo>
                  <a:lnTo>
                    <a:pt x="7132320" y="0"/>
                  </a:lnTo>
                  <a:lnTo>
                    <a:pt x="7132320" y="1188720"/>
                  </a:lnTo>
                  <a:lnTo>
                    <a:pt x="0" y="1188720"/>
                  </a:lnTo>
                  <a:close/>
                </a:path>
              </a:pathLst>
            </a:custGeom>
            <a:blipFill>
              <a:blip r:embed="rId3">
                <a:alphaModFix amt="0"/>
              </a:blip>
              <a:stretch>
                <a:fillRect l="0" t="-66910" r="0" b="-66910"/>
              </a:stretch>
            </a:blipFill>
          </p:spPr>
        </p:sp>
        <p:sp>
          <p:nvSpPr>
            <p:cNvPr name="TextBox 33" id="33"/>
            <p:cNvSpPr txBox="true"/>
            <p:nvPr/>
          </p:nvSpPr>
          <p:spPr>
            <a:xfrm>
              <a:off x="0" y="-57150"/>
              <a:ext cx="7132320" cy="1245870"/>
            </a:xfrm>
            <a:prstGeom prst="rect">
              <a:avLst/>
            </a:prstGeom>
          </p:spPr>
          <p:txBody>
            <a:bodyPr anchor="ctr" rtlCol="false" tIns="0" lIns="0" bIns="0" rIns="0"/>
            <a:lstStyle/>
            <a:p>
              <a:pPr algn="l">
                <a:lnSpc>
                  <a:spcPts val="3240"/>
                </a:lnSpc>
              </a:pPr>
              <a:r>
                <a:rPr lang="en-US" sz="2700" b="true">
                  <a:solidFill>
                    <a:srgbClr val="EDF1F5"/>
                  </a:solidFill>
                  <a:latin typeface="Calibri (MS) Bold"/>
                  <a:ea typeface="Calibri (MS) Bold"/>
                  <a:cs typeface="Calibri (MS) Bold"/>
                  <a:sym typeface="Calibri (MS) Bold"/>
                </a:rPr>
                <a:t>Duration and thread count</a:t>
              </a:r>
            </a:p>
          </p:txBody>
        </p:sp>
      </p:grpSp>
      <p:grpSp>
        <p:nvGrpSpPr>
          <p:cNvPr name="Group 34" id="34"/>
          <p:cNvGrpSpPr/>
          <p:nvPr/>
        </p:nvGrpSpPr>
        <p:grpSpPr>
          <a:xfrm rot="0">
            <a:off x="6309360" y="4279392"/>
            <a:ext cx="8778240" cy="891540"/>
            <a:chOff x="0" y="0"/>
            <a:chExt cx="11704320" cy="1188720"/>
          </a:xfrm>
        </p:grpSpPr>
        <p:sp>
          <p:nvSpPr>
            <p:cNvPr name="Freeform 35" id="35"/>
            <p:cNvSpPr/>
            <p:nvPr/>
          </p:nvSpPr>
          <p:spPr>
            <a:xfrm flipH="false" flipV="false" rot="0">
              <a:off x="0" y="0"/>
              <a:ext cx="11704320" cy="1188720"/>
            </a:xfrm>
            <a:custGeom>
              <a:avLst/>
              <a:gdLst/>
              <a:ahLst/>
              <a:cxnLst/>
              <a:rect r="r" b="b" t="t" l="l"/>
              <a:pathLst>
                <a:path h="1188720" w="11704320">
                  <a:moveTo>
                    <a:pt x="0" y="0"/>
                  </a:moveTo>
                  <a:lnTo>
                    <a:pt x="11704320" y="0"/>
                  </a:lnTo>
                  <a:lnTo>
                    <a:pt x="11704320" y="1188720"/>
                  </a:lnTo>
                  <a:lnTo>
                    <a:pt x="0" y="1188720"/>
                  </a:lnTo>
                  <a:close/>
                </a:path>
              </a:pathLst>
            </a:custGeom>
            <a:blipFill>
              <a:blip r:embed="rId3">
                <a:alphaModFix amt="0"/>
              </a:blip>
              <a:stretch>
                <a:fillRect l="0" t="-141852" r="0" b="-141852"/>
              </a:stretch>
            </a:blipFill>
          </p:spPr>
        </p:sp>
        <p:sp>
          <p:nvSpPr>
            <p:cNvPr name="TextBox 36" id="36"/>
            <p:cNvSpPr txBox="true"/>
            <p:nvPr/>
          </p:nvSpPr>
          <p:spPr>
            <a:xfrm>
              <a:off x="0" y="-47625"/>
              <a:ext cx="11704320" cy="1236345"/>
            </a:xfrm>
            <a:prstGeom prst="rect">
              <a:avLst/>
            </a:prstGeom>
          </p:spPr>
          <p:txBody>
            <a:bodyPr anchor="ctr" rtlCol="false" tIns="0" lIns="0" bIns="0" rIns="0"/>
            <a:lstStyle/>
            <a:p>
              <a:pPr algn="l">
                <a:lnSpc>
                  <a:spcPts val="2520"/>
                </a:lnSpc>
              </a:pPr>
              <a:r>
                <a:rPr lang="en-US" sz="2100">
                  <a:solidFill>
                    <a:srgbClr val="A3AEBB"/>
                  </a:solidFill>
                  <a:latin typeface="Calibri (MS)"/>
                  <a:ea typeface="Calibri (MS)"/>
                  <a:cs typeface="Calibri (MS)"/>
                  <a:sym typeface="Calibri (MS)"/>
                </a:rPr>
                <a:t>1 to 3600 seconds; 1 up to the online CPU count</a:t>
              </a:r>
            </a:p>
          </p:txBody>
        </p:sp>
      </p:grpSp>
      <p:grpSp>
        <p:nvGrpSpPr>
          <p:cNvPr name="Group 37" id="37"/>
          <p:cNvGrpSpPr/>
          <p:nvPr/>
        </p:nvGrpSpPr>
        <p:grpSpPr>
          <a:xfrm rot="0">
            <a:off x="15352395" y="4530471"/>
            <a:ext cx="2076450" cy="403098"/>
            <a:chOff x="0" y="0"/>
            <a:chExt cx="2768600" cy="537464"/>
          </a:xfrm>
        </p:grpSpPr>
        <p:sp>
          <p:nvSpPr>
            <p:cNvPr name="Freeform 38" id="38"/>
            <p:cNvSpPr/>
            <p:nvPr/>
          </p:nvSpPr>
          <p:spPr>
            <a:xfrm flipH="false" flipV="false" rot="0">
              <a:off x="0" y="0"/>
              <a:ext cx="2768600" cy="537464"/>
            </a:xfrm>
            <a:custGeom>
              <a:avLst/>
              <a:gdLst/>
              <a:ahLst/>
              <a:cxnLst/>
              <a:rect r="r" b="b" t="t" l="l"/>
              <a:pathLst>
                <a:path h="537464" w="2768600">
                  <a:moveTo>
                    <a:pt x="0" y="268732"/>
                  </a:moveTo>
                  <a:cubicBezTo>
                    <a:pt x="0" y="120269"/>
                    <a:pt x="120269" y="0"/>
                    <a:pt x="268732" y="0"/>
                  </a:cubicBezTo>
                  <a:lnTo>
                    <a:pt x="2499868" y="0"/>
                  </a:lnTo>
                  <a:cubicBezTo>
                    <a:pt x="2648331" y="0"/>
                    <a:pt x="2768600" y="120269"/>
                    <a:pt x="2768600" y="268732"/>
                  </a:cubicBezTo>
                  <a:cubicBezTo>
                    <a:pt x="2768600" y="417195"/>
                    <a:pt x="2648331" y="537464"/>
                    <a:pt x="2499868" y="537464"/>
                  </a:cubicBezTo>
                  <a:lnTo>
                    <a:pt x="268732" y="537464"/>
                  </a:lnTo>
                  <a:cubicBezTo>
                    <a:pt x="120269" y="537464"/>
                    <a:pt x="0" y="417195"/>
                    <a:pt x="0" y="268732"/>
                  </a:cubicBezTo>
                  <a:close/>
                </a:path>
              </a:pathLst>
            </a:custGeom>
            <a:solidFill>
              <a:srgbClr val="1B1F24"/>
            </a:solidFill>
            <a:ln w="19050" cap="sq">
              <a:solidFill>
                <a:srgbClr val="3FB67A"/>
              </a:solidFill>
              <a:prstDash val="solid"/>
              <a:miter/>
            </a:ln>
          </p:spPr>
        </p:sp>
      </p:grpSp>
      <p:grpSp>
        <p:nvGrpSpPr>
          <p:cNvPr name="Group 39" id="39"/>
          <p:cNvGrpSpPr/>
          <p:nvPr/>
        </p:nvGrpSpPr>
        <p:grpSpPr>
          <a:xfrm rot="0">
            <a:off x="15361920" y="4539996"/>
            <a:ext cx="2057400" cy="384048"/>
            <a:chOff x="0" y="0"/>
            <a:chExt cx="2743200" cy="512064"/>
          </a:xfrm>
        </p:grpSpPr>
        <p:sp>
          <p:nvSpPr>
            <p:cNvPr name="Freeform 40" id="40"/>
            <p:cNvSpPr/>
            <p:nvPr/>
          </p:nvSpPr>
          <p:spPr>
            <a:xfrm flipH="false" flipV="false" rot="0">
              <a:off x="0" y="0"/>
              <a:ext cx="2743200" cy="512064"/>
            </a:xfrm>
            <a:custGeom>
              <a:avLst/>
              <a:gdLst/>
              <a:ahLst/>
              <a:cxnLst/>
              <a:rect r="r" b="b" t="t" l="l"/>
              <a:pathLst>
                <a:path h="512064" w="2743200">
                  <a:moveTo>
                    <a:pt x="0" y="0"/>
                  </a:moveTo>
                  <a:lnTo>
                    <a:pt x="2743200" y="0"/>
                  </a:lnTo>
                  <a:lnTo>
                    <a:pt x="2743200" y="512064"/>
                  </a:lnTo>
                  <a:lnTo>
                    <a:pt x="0" y="512064"/>
                  </a:lnTo>
                  <a:close/>
                </a:path>
              </a:pathLst>
            </a:custGeom>
            <a:blipFill>
              <a:blip r:embed="rId3">
                <a:alphaModFix amt="0"/>
              </a:blip>
              <a:stretch>
                <a:fillRect l="0" t="-54384" r="0" b="-54384"/>
              </a:stretch>
            </a:blipFill>
          </p:spPr>
        </p:sp>
        <p:sp>
          <p:nvSpPr>
            <p:cNvPr name="TextBox 41" id="41"/>
            <p:cNvSpPr txBox="true"/>
            <p:nvPr/>
          </p:nvSpPr>
          <p:spPr>
            <a:xfrm>
              <a:off x="0" y="-9525"/>
              <a:ext cx="2743200" cy="521589"/>
            </a:xfrm>
            <a:prstGeom prst="rect">
              <a:avLst/>
            </a:prstGeom>
          </p:spPr>
          <p:txBody>
            <a:bodyPr anchor="ctr" rtlCol="false" tIns="0" lIns="0" bIns="0" rIns="0"/>
            <a:lstStyle/>
            <a:p>
              <a:pPr algn="ctr">
                <a:lnSpc>
                  <a:spcPts val="1800"/>
                </a:lnSpc>
              </a:pPr>
              <a:r>
                <a:rPr lang="en-US" sz="1500" b="true">
                  <a:solidFill>
                    <a:srgbClr val="3FB67A"/>
                  </a:solidFill>
                  <a:latin typeface="Courier New Bold"/>
                  <a:ea typeface="Courier New Bold"/>
                  <a:cs typeface="Courier New Bold"/>
                  <a:sym typeface="Courier New Bold"/>
                </a:rPr>
                <a:t>IMPLEMENTED</a:t>
              </a:r>
            </a:p>
          </p:txBody>
        </p:sp>
      </p:grpSp>
      <p:sp>
        <p:nvSpPr>
          <p:cNvPr name="AutoShape 42" id="42"/>
          <p:cNvSpPr/>
          <p:nvPr/>
        </p:nvSpPr>
        <p:spPr>
          <a:xfrm rot="2940">
            <a:off x="815816" y="5234750"/>
            <a:ext cx="16610657" cy="0"/>
          </a:xfrm>
          <a:prstGeom prst="line">
            <a:avLst/>
          </a:prstGeom>
          <a:ln cap="rnd" w="9525">
            <a:solidFill>
              <a:srgbClr val="3A424C"/>
            </a:solidFill>
            <a:prstDash val="solid"/>
            <a:headEnd type="none" len="sm" w="sm"/>
            <a:tailEnd type="none" len="sm" w="sm"/>
          </a:ln>
        </p:spPr>
      </p:sp>
      <p:grpSp>
        <p:nvGrpSpPr>
          <p:cNvPr name="Group 43" id="43"/>
          <p:cNvGrpSpPr/>
          <p:nvPr/>
        </p:nvGrpSpPr>
        <p:grpSpPr>
          <a:xfrm rot="0">
            <a:off x="822960" y="5321808"/>
            <a:ext cx="5349240" cy="891540"/>
            <a:chOff x="0" y="0"/>
            <a:chExt cx="7132320" cy="1188720"/>
          </a:xfrm>
        </p:grpSpPr>
        <p:sp>
          <p:nvSpPr>
            <p:cNvPr name="Freeform 44" id="44"/>
            <p:cNvSpPr/>
            <p:nvPr/>
          </p:nvSpPr>
          <p:spPr>
            <a:xfrm flipH="false" flipV="false" rot="0">
              <a:off x="0" y="0"/>
              <a:ext cx="7132320" cy="1188720"/>
            </a:xfrm>
            <a:custGeom>
              <a:avLst/>
              <a:gdLst/>
              <a:ahLst/>
              <a:cxnLst/>
              <a:rect r="r" b="b" t="t" l="l"/>
              <a:pathLst>
                <a:path h="1188720" w="7132320">
                  <a:moveTo>
                    <a:pt x="0" y="0"/>
                  </a:moveTo>
                  <a:lnTo>
                    <a:pt x="7132320" y="0"/>
                  </a:lnTo>
                  <a:lnTo>
                    <a:pt x="7132320" y="1188720"/>
                  </a:lnTo>
                  <a:lnTo>
                    <a:pt x="0" y="1188720"/>
                  </a:lnTo>
                  <a:close/>
                </a:path>
              </a:pathLst>
            </a:custGeom>
            <a:blipFill>
              <a:blip r:embed="rId3">
                <a:alphaModFix amt="0"/>
              </a:blip>
              <a:stretch>
                <a:fillRect l="0" t="-66910" r="0" b="-66910"/>
              </a:stretch>
            </a:blipFill>
          </p:spPr>
        </p:sp>
        <p:sp>
          <p:nvSpPr>
            <p:cNvPr name="TextBox 45" id="45"/>
            <p:cNvSpPr txBox="true"/>
            <p:nvPr/>
          </p:nvSpPr>
          <p:spPr>
            <a:xfrm>
              <a:off x="0" y="-57150"/>
              <a:ext cx="7132320" cy="1245870"/>
            </a:xfrm>
            <a:prstGeom prst="rect">
              <a:avLst/>
            </a:prstGeom>
          </p:spPr>
          <p:txBody>
            <a:bodyPr anchor="ctr" rtlCol="false" tIns="0" lIns="0" bIns="0" rIns="0"/>
            <a:lstStyle/>
            <a:p>
              <a:pPr algn="l">
                <a:lnSpc>
                  <a:spcPts val="3240"/>
                </a:lnSpc>
              </a:pPr>
              <a:r>
                <a:rPr lang="en-US" sz="2700" b="true">
                  <a:solidFill>
                    <a:srgbClr val="EDF1F5"/>
                  </a:solidFill>
                  <a:latin typeface="Calibri (MS) Bold"/>
                  <a:ea typeface="Calibri (MS) Bold"/>
                  <a:cs typeface="Calibri (MS) Bold"/>
                  <a:sym typeface="Calibri (MS) Bold"/>
                </a:rPr>
                <a:t>Validation and memory guard</a:t>
              </a:r>
            </a:p>
          </p:txBody>
        </p:sp>
      </p:grpSp>
      <p:grpSp>
        <p:nvGrpSpPr>
          <p:cNvPr name="Group 46" id="46"/>
          <p:cNvGrpSpPr/>
          <p:nvPr/>
        </p:nvGrpSpPr>
        <p:grpSpPr>
          <a:xfrm rot="0">
            <a:off x="6309360" y="5321808"/>
            <a:ext cx="8778240" cy="891540"/>
            <a:chOff x="0" y="0"/>
            <a:chExt cx="11704320" cy="1188720"/>
          </a:xfrm>
        </p:grpSpPr>
        <p:sp>
          <p:nvSpPr>
            <p:cNvPr name="Freeform 47" id="47"/>
            <p:cNvSpPr/>
            <p:nvPr/>
          </p:nvSpPr>
          <p:spPr>
            <a:xfrm flipH="false" flipV="false" rot="0">
              <a:off x="0" y="0"/>
              <a:ext cx="11704320" cy="1188720"/>
            </a:xfrm>
            <a:custGeom>
              <a:avLst/>
              <a:gdLst/>
              <a:ahLst/>
              <a:cxnLst/>
              <a:rect r="r" b="b" t="t" l="l"/>
              <a:pathLst>
                <a:path h="1188720" w="11704320">
                  <a:moveTo>
                    <a:pt x="0" y="0"/>
                  </a:moveTo>
                  <a:lnTo>
                    <a:pt x="11704320" y="0"/>
                  </a:lnTo>
                  <a:lnTo>
                    <a:pt x="11704320" y="1188720"/>
                  </a:lnTo>
                  <a:lnTo>
                    <a:pt x="0" y="1188720"/>
                  </a:lnTo>
                  <a:close/>
                </a:path>
              </a:pathLst>
            </a:custGeom>
            <a:blipFill>
              <a:blip r:embed="rId3">
                <a:alphaModFix amt="0"/>
              </a:blip>
              <a:stretch>
                <a:fillRect l="0" t="-141852" r="0" b="-141852"/>
              </a:stretch>
            </a:blipFill>
          </p:spPr>
        </p:sp>
        <p:sp>
          <p:nvSpPr>
            <p:cNvPr name="TextBox 48" id="48"/>
            <p:cNvSpPr txBox="true"/>
            <p:nvPr/>
          </p:nvSpPr>
          <p:spPr>
            <a:xfrm>
              <a:off x="0" y="-47625"/>
              <a:ext cx="11704320" cy="1236345"/>
            </a:xfrm>
            <a:prstGeom prst="rect">
              <a:avLst/>
            </a:prstGeom>
          </p:spPr>
          <p:txBody>
            <a:bodyPr anchor="ctr" rtlCol="false" tIns="0" lIns="0" bIns="0" rIns="0"/>
            <a:lstStyle/>
            <a:p>
              <a:pPr algn="l">
                <a:lnSpc>
                  <a:spcPts val="2520"/>
                </a:lnSpc>
              </a:pPr>
              <a:r>
                <a:rPr lang="en-US" sz="2100">
                  <a:solidFill>
                    <a:srgbClr val="A3AEBB"/>
                  </a:solidFill>
                  <a:latin typeface="Calibri (MS)"/>
                  <a:ea typeface="Calibri (MS)"/>
                  <a:cs typeface="Calibri (MS)"/>
                  <a:sym typeface="Calibri (MS)"/>
                </a:rPr>
                <a:t>Rejects bad input; memory capped at half of reported free RAM</a:t>
              </a:r>
            </a:p>
          </p:txBody>
        </p:sp>
      </p:grpSp>
      <p:grpSp>
        <p:nvGrpSpPr>
          <p:cNvPr name="Group 49" id="49"/>
          <p:cNvGrpSpPr/>
          <p:nvPr/>
        </p:nvGrpSpPr>
        <p:grpSpPr>
          <a:xfrm rot="0">
            <a:off x="15352395" y="5572887"/>
            <a:ext cx="2076450" cy="403098"/>
            <a:chOff x="0" y="0"/>
            <a:chExt cx="2768600" cy="537464"/>
          </a:xfrm>
        </p:grpSpPr>
        <p:sp>
          <p:nvSpPr>
            <p:cNvPr name="Freeform 50" id="50"/>
            <p:cNvSpPr/>
            <p:nvPr/>
          </p:nvSpPr>
          <p:spPr>
            <a:xfrm flipH="false" flipV="false" rot="0">
              <a:off x="0" y="0"/>
              <a:ext cx="2768600" cy="537464"/>
            </a:xfrm>
            <a:custGeom>
              <a:avLst/>
              <a:gdLst/>
              <a:ahLst/>
              <a:cxnLst/>
              <a:rect r="r" b="b" t="t" l="l"/>
              <a:pathLst>
                <a:path h="537464" w="2768600">
                  <a:moveTo>
                    <a:pt x="0" y="268732"/>
                  </a:moveTo>
                  <a:cubicBezTo>
                    <a:pt x="0" y="120269"/>
                    <a:pt x="120269" y="0"/>
                    <a:pt x="268732" y="0"/>
                  </a:cubicBezTo>
                  <a:lnTo>
                    <a:pt x="2499868" y="0"/>
                  </a:lnTo>
                  <a:cubicBezTo>
                    <a:pt x="2648331" y="0"/>
                    <a:pt x="2768600" y="120269"/>
                    <a:pt x="2768600" y="268732"/>
                  </a:cubicBezTo>
                  <a:cubicBezTo>
                    <a:pt x="2768600" y="417195"/>
                    <a:pt x="2648331" y="537464"/>
                    <a:pt x="2499868" y="537464"/>
                  </a:cubicBezTo>
                  <a:lnTo>
                    <a:pt x="268732" y="537464"/>
                  </a:lnTo>
                  <a:cubicBezTo>
                    <a:pt x="120269" y="537464"/>
                    <a:pt x="0" y="417195"/>
                    <a:pt x="0" y="268732"/>
                  </a:cubicBezTo>
                  <a:close/>
                </a:path>
              </a:pathLst>
            </a:custGeom>
            <a:solidFill>
              <a:srgbClr val="1B1F24"/>
            </a:solidFill>
            <a:ln w="19050" cap="sq">
              <a:solidFill>
                <a:srgbClr val="3FB67A"/>
              </a:solidFill>
              <a:prstDash val="solid"/>
              <a:miter/>
            </a:ln>
          </p:spPr>
        </p:sp>
      </p:grpSp>
      <p:grpSp>
        <p:nvGrpSpPr>
          <p:cNvPr name="Group 51" id="51"/>
          <p:cNvGrpSpPr/>
          <p:nvPr/>
        </p:nvGrpSpPr>
        <p:grpSpPr>
          <a:xfrm rot="0">
            <a:off x="15361920" y="5582412"/>
            <a:ext cx="2057400" cy="384048"/>
            <a:chOff x="0" y="0"/>
            <a:chExt cx="2743200" cy="512064"/>
          </a:xfrm>
        </p:grpSpPr>
        <p:sp>
          <p:nvSpPr>
            <p:cNvPr name="Freeform 52" id="52"/>
            <p:cNvSpPr/>
            <p:nvPr/>
          </p:nvSpPr>
          <p:spPr>
            <a:xfrm flipH="false" flipV="false" rot="0">
              <a:off x="0" y="0"/>
              <a:ext cx="2743200" cy="512064"/>
            </a:xfrm>
            <a:custGeom>
              <a:avLst/>
              <a:gdLst/>
              <a:ahLst/>
              <a:cxnLst/>
              <a:rect r="r" b="b" t="t" l="l"/>
              <a:pathLst>
                <a:path h="512064" w="2743200">
                  <a:moveTo>
                    <a:pt x="0" y="0"/>
                  </a:moveTo>
                  <a:lnTo>
                    <a:pt x="2743200" y="0"/>
                  </a:lnTo>
                  <a:lnTo>
                    <a:pt x="2743200" y="512064"/>
                  </a:lnTo>
                  <a:lnTo>
                    <a:pt x="0" y="512064"/>
                  </a:lnTo>
                  <a:close/>
                </a:path>
              </a:pathLst>
            </a:custGeom>
            <a:blipFill>
              <a:blip r:embed="rId3">
                <a:alphaModFix amt="0"/>
              </a:blip>
              <a:stretch>
                <a:fillRect l="0" t="-54384" r="0" b="-54384"/>
              </a:stretch>
            </a:blipFill>
          </p:spPr>
        </p:sp>
        <p:sp>
          <p:nvSpPr>
            <p:cNvPr name="TextBox 53" id="53"/>
            <p:cNvSpPr txBox="true"/>
            <p:nvPr/>
          </p:nvSpPr>
          <p:spPr>
            <a:xfrm>
              <a:off x="0" y="-9525"/>
              <a:ext cx="2743200" cy="521589"/>
            </a:xfrm>
            <a:prstGeom prst="rect">
              <a:avLst/>
            </a:prstGeom>
          </p:spPr>
          <p:txBody>
            <a:bodyPr anchor="ctr" rtlCol="false" tIns="0" lIns="0" bIns="0" rIns="0"/>
            <a:lstStyle/>
            <a:p>
              <a:pPr algn="ctr">
                <a:lnSpc>
                  <a:spcPts val="1800"/>
                </a:lnSpc>
              </a:pPr>
              <a:r>
                <a:rPr lang="en-US" sz="1500" b="true">
                  <a:solidFill>
                    <a:srgbClr val="3FB67A"/>
                  </a:solidFill>
                  <a:latin typeface="Courier New Bold"/>
                  <a:ea typeface="Courier New Bold"/>
                  <a:cs typeface="Courier New Bold"/>
                  <a:sym typeface="Courier New Bold"/>
                </a:rPr>
                <a:t>IMPLEMENTED</a:t>
              </a:r>
            </a:p>
          </p:txBody>
        </p:sp>
      </p:grpSp>
      <p:sp>
        <p:nvSpPr>
          <p:cNvPr name="AutoShape 54" id="54"/>
          <p:cNvSpPr/>
          <p:nvPr/>
        </p:nvSpPr>
        <p:spPr>
          <a:xfrm rot="2940">
            <a:off x="815816" y="6277166"/>
            <a:ext cx="16610657" cy="0"/>
          </a:xfrm>
          <a:prstGeom prst="line">
            <a:avLst/>
          </a:prstGeom>
          <a:ln cap="rnd" w="9525">
            <a:solidFill>
              <a:srgbClr val="3A424C"/>
            </a:solidFill>
            <a:prstDash val="solid"/>
            <a:headEnd type="none" len="sm" w="sm"/>
            <a:tailEnd type="none" len="sm" w="sm"/>
          </a:ln>
        </p:spPr>
      </p:sp>
      <p:grpSp>
        <p:nvGrpSpPr>
          <p:cNvPr name="Group 55" id="55"/>
          <p:cNvGrpSpPr/>
          <p:nvPr/>
        </p:nvGrpSpPr>
        <p:grpSpPr>
          <a:xfrm rot="0">
            <a:off x="822960" y="6364224"/>
            <a:ext cx="5349240" cy="891540"/>
            <a:chOff x="0" y="0"/>
            <a:chExt cx="7132320" cy="1188720"/>
          </a:xfrm>
        </p:grpSpPr>
        <p:sp>
          <p:nvSpPr>
            <p:cNvPr name="Freeform 56" id="56"/>
            <p:cNvSpPr/>
            <p:nvPr/>
          </p:nvSpPr>
          <p:spPr>
            <a:xfrm flipH="false" flipV="false" rot="0">
              <a:off x="0" y="0"/>
              <a:ext cx="7132320" cy="1188720"/>
            </a:xfrm>
            <a:custGeom>
              <a:avLst/>
              <a:gdLst/>
              <a:ahLst/>
              <a:cxnLst/>
              <a:rect r="r" b="b" t="t" l="l"/>
              <a:pathLst>
                <a:path h="1188720" w="7132320">
                  <a:moveTo>
                    <a:pt x="0" y="0"/>
                  </a:moveTo>
                  <a:lnTo>
                    <a:pt x="7132320" y="0"/>
                  </a:lnTo>
                  <a:lnTo>
                    <a:pt x="7132320" y="1188720"/>
                  </a:lnTo>
                  <a:lnTo>
                    <a:pt x="0" y="1188720"/>
                  </a:lnTo>
                  <a:close/>
                </a:path>
              </a:pathLst>
            </a:custGeom>
            <a:blipFill>
              <a:blip r:embed="rId3">
                <a:alphaModFix amt="0"/>
              </a:blip>
              <a:stretch>
                <a:fillRect l="0" t="-66910" r="0" b="-66910"/>
              </a:stretch>
            </a:blipFill>
          </p:spPr>
        </p:sp>
        <p:sp>
          <p:nvSpPr>
            <p:cNvPr name="TextBox 57" id="57"/>
            <p:cNvSpPr txBox="true"/>
            <p:nvPr/>
          </p:nvSpPr>
          <p:spPr>
            <a:xfrm>
              <a:off x="0" y="-57150"/>
              <a:ext cx="7132320" cy="1245870"/>
            </a:xfrm>
            <a:prstGeom prst="rect">
              <a:avLst/>
            </a:prstGeom>
          </p:spPr>
          <p:txBody>
            <a:bodyPr anchor="ctr" rtlCol="false" tIns="0" lIns="0" bIns="0" rIns="0"/>
            <a:lstStyle/>
            <a:p>
              <a:pPr algn="l">
                <a:lnSpc>
                  <a:spcPts val="3240"/>
                </a:lnSpc>
              </a:pPr>
              <a:r>
                <a:rPr lang="en-US" sz="2700" b="true">
                  <a:solidFill>
                    <a:srgbClr val="EDF1F5"/>
                  </a:solidFill>
                  <a:latin typeface="Calibri (MS) Bold"/>
                  <a:ea typeface="Calibri (MS) Bold"/>
                  <a:cs typeface="Calibri (MS) Bold"/>
                  <a:sym typeface="Calibri (MS) Bold"/>
                </a:rPr>
                <a:t>Progress and operation count</a:t>
              </a:r>
            </a:p>
          </p:txBody>
        </p:sp>
      </p:grpSp>
      <p:grpSp>
        <p:nvGrpSpPr>
          <p:cNvPr name="Group 58" id="58"/>
          <p:cNvGrpSpPr/>
          <p:nvPr/>
        </p:nvGrpSpPr>
        <p:grpSpPr>
          <a:xfrm rot="0">
            <a:off x="6309360" y="6364224"/>
            <a:ext cx="8778240" cy="891540"/>
            <a:chOff x="0" y="0"/>
            <a:chExt cx="11704320" cy="1188720"/>
          </a:xfrm>
        </p:grpSpPr>
        <p:sp>
          <p:nvSpPr>
            <p:cNvPr name="Freeform 59" id="59"/>
            <p:cNvSpPr/>
            <p:nvPr/>
          </p:nvSpPr>
          <p:spPr>
            <a:xfrm flipH="false" flipV="false" rot="0">
              <a:off x="0" y="0"/>
              <a:ext cx="11704320" cy="1188720"/>
            </a:xfrm>
            <a:custGeom>
              <a:avLst/>
              <a:gdLst/>
              <a:ahLst/>
              <a:cxnLst/>
              <a:rect r="r" b="b" t="t" l="l"/>
              <a:pathLst>
                <a:path h="1188720" w="11704320">
                  <a:moveTo>
                    <a:pt x="0" y="0"/>
                  </a:moveTo>
                  <a:lnTo>
                    <a:pt x="11704320" y="0"/>
                  </a:lnTo>
                  <a:lnTo>
                    <a:pt x="11704320" y="1188720"/>
                  </a:lnTo>
                  <a:lnTo>
                    <a:pt x="0" y="1188720"/>
                  </a:lnTo>
                  <a:close/>
                </a:path>
              </a:pathLst>
            </a:custGeom>
            <a:blipFill>
              <a:blip r:embed="rId3">
                <a:alphaModFix amt="0"/>
              </a:blip>
              <a:stretch>
                <a:fillRect l="0" t="-141852" r="0" b="-141852"/>
              </a:stretch>
            </a:blipFill>
          </p:spPr>
        </p:sp>
        <p:sp>
          <p:nvSpPr>
            <p:cNvPr name="TextBox 60" id="60"/>
            <p:cNvSpPr txBox="true"/>
            <p:nvPr/>
          </p:nvSpPr>
          <p:spPr>
            <a:xfrm>
              <a:off x="0" y="-47625"/>
              <a:ext cx="11704320" cy="1236345"/>
            </a:xfrm>
            <a:prstGeom prst="rect">
              <a:avLst/>
            </a:prstGeom>
          </p:spPr>
          <p:txBody>
            <a:bodyPr anchor="ctr" rtlCol="false" tIns="0" lIns="0" bIns="0" rIns="0"/>
            <a:lstStyle/>
            <a:p>
              <a:pPr algn="l">
                <a:lnSpc>
                  <a:spcPts val="2520"/>
                </a:lnSpc>
              </a:pPr>
              <a:r>
                <a:rPr lang="en-US" sz="2100">
                  <a:solidFill>
                    <a:srgbClr val="A3AEBB"/>
                  </a:solidFill>
                  <a:latin typeface="Calibri (MS)"/>
                  <a:ea typeface="Calibri (MS)"/>
                  <a:cs typeface="Calibri (MS)"/>
                  <a:sym typeface="Calibri (MS)"/>
                </a:rPr>
                <a:t>Elapsed time and CPU operations shown every second</a:t>
              </a:r>
            </a:p>
          </p:txBody>
        </p:sp>
      </p:grpSp>
      <p:grpSp>
        <p:nvGrpSpPr>
          <p:cNvPr name="Group 61" id="61"/>
          <p:cNvGrpSpPr/>
          <p:nvPr/>
        </p:nvGrpSpPr>
        <p:grpSpPr>
          <a:xfrm rot="0">
            <a:off x="15352395" y="6615303"/>
            <a:ext cx="2076450" cy="403098"/>
            <a:chOff x="0" y="0"/>
            <a:chExt cx="2768600" cy="537464"/>
          </a:xfrm>
        </p:grpSpPr>
        <p:sp>
          <p:nvSpPr>
            <p:cNvPr name="Freeform 62" id="62"/>
            <p:cNvSpPr/>
            <p:nvPr/>
          </p:nvSpPr>
          <p:spPr>
            <a:xfrm flipH="false" flipV="false" rot="0">
              <a:off x="0" y="0"/>
              <a:ext cx="2768600" cy="537464"/>
            </a:xfrm>
            <a:custGeom>
              <a:avLst/>
              <a:gdLst/>
              <a:ahLst/>
              <a:cxnLst/>
              <a:rect r="r" b="b" t="t" l="l"/>
              <a:pathLst>
                <a:path h="537464" w="2768600">
                  <a:moveTo>
                    <a:pt x="0" y="268732"/>
                  </a:moveTo>
                  <a:cubicBezTo>
                    <a:pt x="0" y="120269"/>
                    <a:pt x="120269" y="0"/>
                    <a:pt x="268732" y="0"/>
                  </a:cubicBezTo>
                  <a:lnTo>
                    <a:pt x="2499868" y="0"/>
                  </a:lnTo>
                  <a:cubicBezTo>
                    <a:pt x="2648331" y="0"/>
                    <a:pt x="2768600" y="120269"/>
                    <a:pt x="2768600" y="268732"/>
                  </a:cubicBezTo>
                  <a:cubicBezTo>
                    <a:pt x="2768600" y="417195"/>
                    <a:pt x="2648331" y="537464"/>
                    <a:pt x="2499868" y="537464"/>
                  </a:cubicBezTo>
                  <a:lnTo>
                    <a:pt x="268732" y="537464"/>
                  </a:lnTo>
                  <a:cubicBezTo>
                    <a:pt x="120269" y="537464"/>
                    <a:pt x="0" y="417195"/>
                    <a:pt x="0" y="268732"/>
                  </a:cubicBezTo>
                  <a:close/>
                </a:path>
              </a:pathLst>
            </a:custGeom>
            <a:solidFill>
              <a:srgbClr val="1B1F24"/>
            </a:solidFill>
            <a:ln w="19050" cap="sq">
              <a:solidFill>
                <a:srgbClr val="3FB67A"/>
              </a:solidFill>
              <a:prstDash val="solid"/>
              <a:miter/>
            </a:ln>
          </p:spPr>
        </p:sp>
      </p:grpSp>
      <p:grpSp>
        <p:nvGrpSpPr>
          <p:cNvPr name="Group 63" id="63"/>
          <p:cNvGrpSpPr/>
          <p:nvPr/>
        </p:nvGrpSpPr>
        <p:grpSpPr>
          <a:xfrm rot="0">
            <a:off x="15361920" y="6624828"/>
            <a:ext cx="2057400" cy="384048"/>
            <a:chOff x="0" y="0"/>
            <a:chExt cx="2743200" cy="512064"/>
          </a:xfrm>
        </p:grpSpPr>
        <p:sp>
          <p:nvSpPr>
            <p:cNvPr name="Freeform 64" id="64"/>
            <p:cNvSpPr/>
            <p:nvPr/>
          </p:nvSpPr>
          <p:spPr>
            <a:xfrm flipH="false" flipV="false" rot="0">
              <a:off x="0" y="0"/>
              <a:ext cx="2743200" cy="512064"/>
            </a:xfrm>
            <a:custGeom>
              <a:avLst/>
              <a:gdLst/>
              <a:ahLst/>
              <a:cxnLst/>
              <a:rect r="r" b="b" t="t" l="l"/>
              <a:pathLst>
                <a:path h="512064" w="2743200">
                  <a:moveTo>
                    <a:pt x="0" y="0"/>
                  </a:moveTo>
                  <a:lnTo>
                    <a:pt x="2743200" y="0"/>
                  </a:lnTo>
                  <a:lnTo>
                    <a:pt x="2743200" y="512064"/>
                  </a:lnTo>
                  <a:lnTo>
                    <a:pt x="0" y="512064"/>
                  </a:lnTo>
                  <a:close/>
                </a:path>
              </a:pathLst>
            </a:custGeom>
            <a:blipFill>
              <a:blip r:embed="rId3">
                <a:alphaModFix amt="0"/>
              </a:blip>
              <a:stretch>
                <a:fillRect l="0" t="-54384" r="0" b="-54384"/>
              </a:stretch>
            </a:blipFill>
          </p:spPr>
        </p:sp>
        <p:sp>
          <p:nvSpPr>
            <p:cNvPr name="TextBox 65" id="65"/>
            <p:cNvSpPr txBox="true"/>
            <p:nvPr/>
          </p:nvSpPr>
          <p:spPr>
            <a:xfrm>
              <a:off x="0" y="-9525"/>
              <a:ext cx="2743200" cy="521589"/>
            </a:xfrm>
            <a:prstGeom prst="rect">
              <a:avLst/>
            </a:prstGeom>
          </p:spPr>
          <p:txBody>
            <a:bodyPr anchor="ctr" rtlCol="false" tIns="0" lIns="0" bIns="0" rIns="0"/>
            <a:lstStyle/>
            <a:p>
              <a:pPr algn="ctr">
                <a:lnSpc>
                  <a:spcPts val="1800"/>
                </a:lnSpc>
              </a:pPr>
              <a:r>
                <a:rPr lang="en-US" sz="1500" b="true">
                  <a:solidFill>
                    <a:srgbClr val="3FB67A"/>
                  </a:solidFill>
                  <a:latin typeface="Courier New Bold"/>
                  <a:ea typeface="Courier New Bold"/>
                  <a:cs typeface="Courier New Bold"/>
                  <a:sym typeface="Courier New Bold"/>
                </a:rPr>
                <a:t>IMPLEMENTED</a:t>
              </a:r>
            </a:p>
          </p:txBody>
        </p:sp>
      </p:grpSp>
      <p:sp>
        <p:nvSpPr>
          <p:cNvPr name="AutoShape 66" id="66"/>
          <p:cNvSpPr/>
          <p:nvPr/>
        </p:nvSpPr>
        <p:spPr>
          <a:xfrm rot="2940">
            <a:off x="815816" y="7319582"/>
            <a:ext cx="16610657" cy="0"/>
          </a:xfrm>
          <a:prstGeom prst="line">
            <a:avLst/>
          </a:prstGeom>
          <a:ln cap="rnd" w="9525">
            <a:solidFill>
              <a:srgbClr val="3A424C"/>
            </a:solidFill>
            <a:prstDash val="solid"/>
            <a:headEnd type="none" len="sm" w="sm"/>
            <a:tailEnd type="none" len="sm" w="sm"/>
          </a:ln>
        </p:spPr>
      </p:sp>
      <p:grpSp>
        <p:nvGrpSpPr>
          <p:cNvPr name="Group 67" id="67"/>
          <p:cNvGrpSpPr/>
          <p:nvPr/>
        </p:nvGrpSpPr>
        <p:grpSpPr>
          <a:xfrm rot="0">
            <a:off x="822960" y="7406640"/>
            <a:ext cx="5349240" cy="891540"/>
            <a:chOff x="0" y="0"/>
            <a:chExt cx="7132320" cy="1188720"/>
          </a:xfrm>
        </p:grpSpPr>
        <p:sp>
          <p:nvSpPr>
            <p:cNvPr name="Freeform 68" id="68"/>
            <p:cNvSpPr/>
            <p:nvPr/>
          </p:nvSpPr>
          <p:spPr>
            <a:xfrm flipH="false" flipV="false" rot="0">
              <a:off x="0" y="0"/>
              <a:ext cx="7132320" cy="1188720"/>
            </a:xfrm>
            <a:custGeom>
              <a:avLst/>
              <a:gdLst/>
              <a:ahLst/>
              <a:cxnLst/>
              <a:rect r="r" b="b" t="t" l="l"/>
              <a:pathLst>
                <a:path h="1188720" w="7132320">
                  <a:moveTo>
                    <a:pt x="0" y="0"/>
                  </a:moveTo>
                  <a:lnTo>
                    <a:pt x="7132320" y="0"/>
                  </a:lnTo>
                  <a:lnTo>
                    <a:pt x="7132320" y="1188720"/>
                  </a:lnTo>
                  <a:lnTo>
                    <a:pt x="0" y="1188720"/>
                  </a:lnTo>
                  <a:close/>
                </a:path>
              </a:pathLst>
            </a:custGeom>
            <a:blipFill>
              <a:blip r:embed="rId3">
                <a:alphaModFix amt="0"/>
              </a:blip>
              <a:stretch>
                <a:fillRect l="0" t="-66910" r="0" b="-66910"/>
              </a:stretch>
            </a:blipFill>
          </p:spPr>
        </p:sp>
        <p:sp>
          <p:nvSpPr>
            <p:cNvPr name="TextBox 69" id="69"/>
            <p:cNvSpPr txBox="true"/>
            <p:nvPr/>
          </p:nvSpPr>
          <p:spPr>
            <a:xfrm>
              <a:off x="0" y="-57150"/>
              <a:ext cx="7132320" cy="1245870"/>
            </a:xfrm>
            <a:prstGeom prst="rect">
              <a:avLst/>
            </a:prstGeom>
          </p:spPr>
          <p:txBody>
            <a:bodyPr anchor="ctr" rtlCol="false" tIns="0" lIns="0" bIns="0" rIns="0"/>
            <a:lstStyle/>
            <a:p>
              <a:pPr algn="l">
                <a:lnSpc>
                  <a:spcPts val="3240"/>
                </a:lnSpc>
              </a:pPr>
              <a:r>
                <a:rPr lang="en-US" sz="2700" b="true">
                  <a:solidFill>
                    <a:srgbClr val="EDF1F5"/>
                  </a:solidFill>
                  <a:latin typeface="Calibri (MS) Bold"/>
                  <a:ea typeface="Calibri (MS) Bold"/>
                  <a:cs typeface="Calibri (MS) Bold"/>
                  <a:sym typeface="Calibri (MS) Bold"/>
                </a:rPr>
                <a:t>Early stop with Ctrl+C</a:t>
              </a:r>
            </a:p>
          </p:txBody>
        </p:sp>
      </p:grpSp>
      <p:grpSp>
        <p:nvGrpSpPr>
          <p:cNvPr name="Group 70" id="70"/>
          <p:cNvGrpSpPr/>
          <p:nvPr/>
        </p:nvGrpSpPr>
        <p:grpSpPr>
          <a:xfrm rot="0">
            <a:off x="6309360" y="7406640"/>
            <a:ext cx="8778240" cy="891540"/>
            <a:chOff x="0" y="0"/>
            <a:chExt cx="11704320" cy="1188720"/>
          </a:xfrm>
        </p:grpSpPr>
        <p:sp>
          <p:nvSpPr>
            <p:cNvPr name="Freeform 71" id="71"/>
            <p:cNvSpPr/>
            <p:nvPr/>
          </p:nvSpPr>
          <p:spPr>
            <a:xfrm flipH="false" flipV="false" rot="0">
              <a:off x="0" y="0"/>
              <a:ext cx="11704320" cy="1188720"/>
            </a:xfrm>
            <a:custGeom>
              <a:avLst/>
              <a:gdLst/>
              <a:ahLst/>
              <a:cxnLst/>
              <a:rect r="r" b="b" t="t" l="l"/>
              <a:pathLst>
                <a:path h="1188720" w="11704320">
                  <a:moveTo>
                    <a:pt x="0" y="0"/>
                  </a:moveTo>
                  <a:lnTo>
                    <a:pt x="11704320" y="0"/>
                  </a:lnTo>
                  <a:lnTo>
                    <a:pt x="11704320" y="1188720"/>
                  </a:lnTo>
                  <a:lnTo>
                    <a:pt x="0" y="1188720"/>
                  </a:lnTo>
                  <a:close/>
                </a:path>
              </a:pathLst>
            </a:custGeom>
            <a:blipFill>
              <a:blip r:embed="rId3">
                <a:alphaModFix amt="0"/>
              </a:blip>
              <a:stretch>
                <a:fillRect l="0" t="-141852" r="0" b="-141852"/>
              </a:stretch>
            </a:blipFill>
          </p:spPr>
        </p:sp>
        <p:sp>
          <p:nvSpPr>
            <p:cNvPr name="TextBox 72" id="72"/>
            <p:cNvSpPr txBox="true"/>
            <p:nvPr/>
          </p:nvSpPr>
          <p:spPr>
            <a:xfrm>
              <a:off x="0" y="-47625"/>
              <a:ext cx="11704320" cy="1236345"/>
            </a:xfrm>
            <a:prstGeom prst="rect">
              <a:avLst/>
            </a:prstGeom>
          </p:spPr>
          <p:txBody>
            <a:bodyPr anchor="ctr" rtlCol="false" tIns="0" lIns="0" bIns="0" rIns="0"/>
            <a:lstStyle/>
            <a:p>
              <a:pPr algn="l">
                <a:lnSpc>
                  <a:spcPts val="2520"/>
                </a:lnSpc>
              </a:pPr>
              <a:r>
                <a:rPr lang="en-US" sz="2100">
                  <a:solidFill>
                    <a:srgbClr val="A3AEBB"/>
                  </a:solidFill>
                  <a:latin typeface="Calibri (MS)"/>
                  <a:ea typeface="Calibri (MS)"/>
                  <a:cs typeface="Calibri (MS)"/>
                  <a:sym typeface="Calibri (MS)"/>
                </a:rPr>
                <a:t>SIGINT and SIGTERM set the stop flag, workers join, summary prints</a:t>
              </a:r>
            </a:p>
          </p:txBody>
        </p:sp>
      </p:grpSp>
      <p:grpSp>
        <p:nvGrpSpPr>
          <p:cNvPr name="Group 73" id="73"/>
          <p:cNvGrpSpPr/>
          <p:nvPr/>
        </p:nvGrpSpPr>
        <p:grpSpPr>
          <a:xfrm rot="0">
            <a:off x="15352395" y="7657719"/>
            <a:ext cx="2076450" cy="403098"/>
            <a:chOff x="0" y="0"/>
            <a:chExt cx="2768600" cy="537464"/>
          </a:xfrm>
        </p:grpSpPr>
        <p:sp>
          <p:nvSpPr>
            <p:cNvPr name="Freeform 74" id="74"/>
            <p:cNvSpPr/>
            <p:nvPr/>
          </p:nvSpPr>
          <p:spPr>
            <a:xfrm flipH="false" flipV="false" rot="0">
              <a:off x="0" y="0"/>
              <a:ext cx="2768600" cy="537464"/>
            </a:xfrm>
            <a:custGeom>
              <a:avLst/>
              <a:gdLst/>
              <a:ahLst/>
              <a:cxnLst/>
              <a:rect r="r" b="b" t="t" l="l"/>
              <a:pathLst>
                <a:path h="537464" w="2768600">
                  <a:moveTo>
                    <a:pt x="0" y="268732"/>
                  </a:moveTo>
                  <a:cubicBezTo>
                    <a:pt x="0" y="120269"/>
                    <a:pt x="120269" y="0"/>
                    <a:pt x="268732" y="0"/>
                  </a:cubicBezTo>
                  <a:lnTo>
                    <a:pt x="2499868" y="0"/>
                  </a:lnTo>
                  <a:cubicBezTo>
                    <a:pt x="2648331" y="0"/>
                    <a:pt x="2768600" y="120269"/>
                    <a:pt x="2768600" y="268732"/>
                  </a:cubicBezTo>
                  <a:cubicBezTo>
                    <a:pt x="2768600" y="417195"/>
                    <a:pt x="2648331" y="537464"/>
                    <a:pt x="2499868" y="537464"/>
                  </a:cubicBezTo>
                  <a:lnTo>
                    <a:pt x="268732" y="537464"/>
                  </a:lnTo>
                  <a:cubicBezTo>
                    <a:pt x="120269" y="537464"/>
                    <a:pt x="0" y="417195"/>
                    <a:pt x="0" y="268732"/>
                  </a:cubicBezTo>
                  <a:close/>
                </a:path>
              </a:pathLst>
            </a:custGeom>
            <a:solidFill>
              <a:srgbClr val="1B1F24"/>
            </a:solidFill>
            <a:ln w="19050" cap="sq">
              <a:solidFill>
                <a:srgbClr val="3FB67A"/>
              </a:solidFill>
              <a:prstDash val="solid"/>
              <a:miter/>
            </a:ln>
          </p:spPr>
        </p:sp>
      </p:grpSp>
      <p:grpSp>
        <p:nvGrpSpPr>
          <p:cNvPr name="Group 75" id="75"/>
          <p:cNvGrpSpPr/>
          <p:nvPr/>
        </p:nvGrpSpPr>
        <p:grpSpPr>
          <a:xfrm rot="0">
            <a:off x="15361920" y="7667244"/>
            <a:ext cx="2057400" cy="384048"/>
            <a:chOff x="0" y="0"/>
            <a:chExt cx="2743200" cy="512064"/>
          </a:xfrm>
        </p:grpSpPr>
        <p:sp>
          <p:nvSpPr>
            <p:cNvPr name="Freeform 76" id="76"/>
            <p:cNvSpPr/>
            <p:nvPr/>
          </p:nvSpPr>
          <p:spPr>
            <a:xfrm flipH="false" flipV="false" rot="0">
              <a:off x="0" y="0"/>
              <a:ext cx="2743200" cy="512064"/>
            </a:xfrm>
            <a:custGeom>
              <a:avLst/>
              <a:gdLst/>
              <a:ahLst/>
              <a:cxnLst/>
              <a:rect r="r" b="b" t="t" l="l"/>
              <a:pathLst>
                <a:path h="512064" w="2743200">
                  <a:moveTo>
                    <a:pt x="0" y="0"/>
                  </a:moveTo>
                  <a:lnTo>
                    <a:pt x="2743200" y="0"/>
                  </a:lnTo>
                  <a:lnTo>
                    <a:pt x="2743200" y="512064"/>
                  </a:lnTo>
                  <a:lnTo>
                    <a:pt x="0" y="512064"/>
                  </a:lnTo>
                  <a:close/>
                </a:path>
              </a:pathLst>
            </a:custGeom>
            <a:blipFill>
              <a:blip r:embed="rId3">
                <a:alphaModFix amt="0"/>
              </a:blip>
              <a:stretch>
                <a:fillRect l="0" t="-54384" r="0" b="-54384"/>
              </a:stretch>
            </a:blipFill>
          </p:spPr>
        </p:sp>
        <p:sp>
          <p:nvSpPr>
            <p:cNvPr name="TextBox 77" id="77"/>
            <p:cNvSpPr txBox="true"/>
            <p:nvPr/>
          </p:nvSpPr>
          <p:spPr>
            <a:xfrm>
              <a:off x="0" y="-9525"/>
              <a:ext cx="2743200" cy="521589"/>
            </a:xfrm>
            <a:prstGeom prst="rect">
              <a:avLst/>
            </a:prstGeom>
          </p:spPr>
          <p:txBody>
            <a:bodyPr anchor="ctr" rtlCol="false" tIns="0" lIns="0" bIns="0" rIns="0"/>
            <a:lstStyle/>
            <a:p>
              <a:pPr algn="ctr">
                <a:lnSpc>
                  <a:spcPts val="1800"/>
                </a:lnSpc>
              </a:pPr>
              <a:r>
                <a:rPr lang="en-US" sz="1500" b="true">
                  <a:solidFill>
                    <a:srgbClr val="3FB67A"/>
                  </a:solidFill>
                  <a:latin typeface="Courier New Bold"/>
                  <a:ea typeface="Courier New Bold"/>
                  <a:cs typeface="Courier New Bold"/>
                  <a:sym typeface="Courier New Bold"/>
                </a:rPr>
                <a:t>IMPLEMENTED</a:t>
              </a:r>
            </a:p>
          </p:txBody>
        </p:sp>
      </p:grpSp>
      <p:sp>
        <p:nvSpPr>
          <p:cNvPr name="TextBox 78" id="78"/>
          <p:cNvSpPr txBox="true"/>
          <p:nvPr/>
        </p:nvSpPr>
        <p:spPr>
          <a:xfrm rot="0">
            <a:off x="822960" y="8662035"/>
            <a:ext cx="16596360" cy="596265"/>
          </a:xfrm>
          <a:prstGeom prst="rect">
            <a:avLst/>
          </a:prstGeom>
        </p:spPr>
        <p:txBody>
          <a:bodyPr anchor="t" rtlCol="false" tIns="0" lIns="0" bIns="0" rIns="0">
            <a:spAutoFit/>
          </a:bodyPr>
          <a:lstStyle/>
          <a:p>
            <a:pPr algn="l">
              <a:lnSpc>
                <a:spcPts val="2520"/>
              </a:lnSpc>
            </a:pPr>
            <a:r>
              <a:rPr lang="en-US" sz="2100" b="true">
                <a:solidFill>
                  <a:srgbClr val="3FB67A"/>
                </a:solidFill>
                <a:latin typeface="Calibri (MS) Bold"/>
                <a:ea typeface="Calibri (MS) Bold"/>
                <a:cs typeface="Calibri (MS) Bold"/>
                <a:sym typeface="Calibri (MS) Bold"/>
              </a:rPr>
              <a:t>Not included: </a:t>
            </a:r>
            <a:r>
              <a:rPr lang="en-US" sz="2100">
                <a:solidFill>
                  <a:srgbClr val="EDF1F5"/>
                </a:solidFill>
                <a:latin typeface="Calibri (MS)"/>
                <a:ea typeface="Calibri (MS)"/>
                <a:cs typeface="Calibri (MS)"/>
                <a:sym typeface="Calibri (MS)"/>
              </a:rPr>
              <a:t>CPU temperature measurement, comprehensive RAM-integrity testing, graphical dashboard.</a:t>
            </a:r>
          </a:p>
        </p:txBody>
      </p:sp>
      <p:sp>
        <p:nvSpPr>
          <p:cNvPr name="TextBox 79" id="79"/>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sp>
        <p:nvSpPr>
          <p:cNvPr name="TextBox 5" id="5"/>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06  TECHNOLOGY STACK</a:t>
            </a:r>
          </a:p>
        </p:txBody>
      </p:sp>
      <p:sp>
        <p:nvSpPr>
          <p:cNvPr name="TextBox 6" id="6"/>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Layers used in the implementation</a:t>
            </a:r>
          </a:p>
        </p:txBody>
      </p:sp>
      <p:grpSp>
        <p:nvGrpSpPr>
          <p:cNvPr name="Group 7" id="7"/>
          <p:cNvGrpSpPr/>
          <p:nvPr/>
        </p:nvGrpSpPr>
        <p:grpSpPr>
          <a:xfrm rot="0">
            <a:off x="808672" y="2248852"/>
            <a:ext cx="7846695" cy="988695"/>
            <a:chOff x="0" y="0"/>
            <a:chExt cx="10462260" cy="1318260"/>
          </a:xfrm>
        </p:grpSpPr>
        <p:sp>
          <p:nvSpPr>
            <p:cNvPr name="Freeform 8" id="8"/>
            <p:cNvSpPr/>
            <p:nvPr/>
          </p:nvSpPr>
          <p:spPr>
            <a:xfrm flipH="false" flipV="false" rot="0">
              <a:off x="0" y="0"/>
              <a:ext cx="10462260" cy="1318260"/>
            </a:xfrm>
            <a:custGeom>
              <a:avLst/>
              <a:gdLst/>
              <a:ahLst/>
              <a:cxnLst/>
              <a:rect r="r" b="b" t="t" l="l"/>
              <a:pathLst>
                <a:path h="1318260" w="10462260">
                  <a:moveTo>
                    <a:pt x="0" y="0"/>
                  </a:moveTo>
                  <a:lnTo>
                    <a:pt x="10462260" y="0"/>
                  </a:lnTo>
                  <a:lnTo>
                    <a:pt x="10462260" y="1318260"/>
                  </a:lnTo>
                  <a:lnTo>
                    <a:pt x="0" y="1318260"/>
                  </a:lnTo>
                  <a:close/>
                </a:path>
              </a:pathLst>
            </a:custGeom>
            <a:solidFill>
              <a:srgbClr val="252B32"/>
            </a:solidFill>
            <a:ln w="28575" cap="sq">
              <a:solidFill>
                <a:srgbClr val="2F9BFF"/>
              </a:solidFill>
              <a:prstDash val="solid"/>
              <a:miter/>
            </a:ln>
          </p:spPr>
        </p:sp>
      </p:grpSp>
      <p:grpSp>
        <p:nvGrpSpPr>
          <p:cNvPr name="Group 9" id="9"/>
          <p:cNvGrpSpPr/>
          <p:nvPr/>
        </p:nvGrpSpPr>
        <p:grpSpPr>
          <a:xfrm rot="0">
            <a:off x="1097280" y="2263140"/>
            <a:ext cx="7406640" cy="960120"/>
            <a:chOff x="0" y="0"/>
            <a:chExt cx="9875520" cy="1280160"/>
          </a:xfrm>
        </p:grpSpPr>
        <p:sp>
          <p:nvSpPr>
            <p:cNvPr name="Freeform 10" id="10"/>
            <p:cNvSpPr/>
            <p:nvPr/>
          </p:nvSpPr>
          <p:spPr>
            <a:xfrm flipH="false" flipV="false" rot="0">
              <a:off x="0" y="0"/>
              <a:ext cx="9875520" cy="1280160"/>
            </a:xfrm>
            <a:custGeom>
              <a:avLst/>
              <a:gdLst/>
              <a:ahLst/>
              <a:cxnLst/>
              <a:rect r="r" b="b" t="t" l="l"/>
              <a:pathLst>
                <a:path h="1280160" w="9875520">
                  <a:moveTo>
                    <a:pt x="0" y="0"/>
                  </a:moveTo>
                  <a:lnTo>
                    <a:pt x="9875520" y="0"/>
                  </a:lnTo>
                  <a:lnTo>
                    <a:pt x="9875520" y="1280160"/>
                  </a:lnTo>
                  <a:lnTo>
                    <a:pt x="0" y="1280160"/>
                  </a:lnTo>
                  <a:close/>
                </a:path>
              </a:pathLst>
            </a:custGeom>
            <a:blipFill>
              <a:blip r:embed="rId3">
                <a:alphaModFix amt="0"/>
              </a:blip>
              <a:stretch>
                <a:fillRect l="0" t="-100313" r="0" b="-100313"/>
              </a:stretch>
            </a:blipFill>
          </p:spPr>
        </p:sp>
        <p:sp>
          <p:nvSpPr>
            <p:cNvPr name="TextBox 11" id="11"/>
            <p:cNvSpPr txBox="true"/>
            <p:nvPr/>
          </p:nvSpPr>
          <p:spPr>
            <a:xfrm>
              <a:off x="0" y="-57150"/>
              <a:ext cx="9875520" cy="1337310"/>
            </a:xfrm>
            <a:prstGeom prst="rect">
              <a:avLst/>
            </a:prstGeom>
          </p:spPr>
          <p:txBody>
            <a:bodyPr anchor="ctr" rtlCol="false" tIns="0" lIns="0" bIns="0" rIns="0"/>
            <a:lstStyle/>
            <a:p>
              <a:pPr algn="l">
                <a:lnSpc>
                  <a:spcPts val="2700"/>
                </a:lnSpc>
              </a:pPr>
              <a:r>
                <a:rPr lang="en-US" sz="2250" b="true">
                  <a:solidFill>
                    <a:srgbClr val="EDF1F5"/>
                  </a:solidFill>
                  <a:latin typeface="Calibri (MS) Bold"/>
                  <a:ea typeface="Calibri (MS) Bold"/>
                  <a:cs typeface="Calibri (MS) Bold"/>
                  <a:sym typeface="Calibri (MS) Bold"/>
                </a:rPr>
                <a:t>stress-test  (main.c)</a:t>
              </a:r>
            </a:p>
            <a:p>
              <a:pPr algn="l">
                <a:lnSpc>
                  <a:spcPts val="1980"/>
                </a:lnSpc>
              </a:pPr>
              <a:r>
                <a:rPr lang="en-US" sz="1650">
                  <a:solidFill>
                    <a:srgbClr val="A3AEBB"/>
                  </a:solidFill>
                  <a:latin typeface="Calibri (MS)"/>
                  <a:ea typeface="Calibri (MS)"/>
                  <a:cs typeface="Calibri (MS)"/>
                  <a:sym typeface="Calibri (MS)"/>
                </a:rPr>
                <a:t>Argument handling, workers, memory sweep, output</a:t>
              </a:r>
            </a:p>
          </p:txBody>
        </p:sp>
      </p:grpSp>
      <p:grpSp>
        <p:nvGrpSpPr>
          <p:cNvPr name="Group 12" id="12"/>
          <p:cNvGrpSpPr/>
          <p:nvPr/>
        </p:nvGrpSpPr>
        <p:grpSpPr>
          <a:xfrm rot="0">
            <a:off x="808672" y="3346133"/>
            <a:ext cx="7846695" cy="988695"/>
            <a:chOff x="0" y="0"/>
            <a:chExt cx="10462260" cy="1318260"/>
          </a:xfrm>
        </p:grpSpPr>
        <p:sp>
          <p:nvSpPr>
            <p:cNvPr name="Freeform 13" id="13"/>
            <p:cNvSpPr/>
            <p:nvPr/>
          </p:nvSpPr>
          <p:spPr>
            <a:xfrm flipH="false" flipV="false" rot="0">
              <a:off x="0" y="0"/>
              <a:ext cx="10462260" cy="1318260"/>
            </a:xfrm>
            <a:custGeom>
              <a:avLst/>
              <a:gdLst/>
              <a:ahLst/>
              <a:cxnLst/>
              <a:rect r="r" b="b" t="t" l="l"/>
              <a:pathLst>
                <a:path h="1318260" w="10462260">
                  <a:moveTo>
                    <a:pt x="0" y="0"/>
                  </a:moveTo>
                  <a:lnTo>
                    <a:pt x="10462260" y="0"/>
                  </a:lnTo>
                  <a:lnTo>
                    <a:pt x="10462260" y="1318260"/>
                  </a:lnTo>
                  <a:lnTo>
                    <a:pt x="0" y="1318260"/>
                  </a:lnTo>
                  <a:close/>
                </a:path>
              </a:pathLst>
            </a:custGeom>
            <a:solidFill>
              <a:srgbClr val="252B32"/>
            </a:solidFill>
            <a:ln w="28575" cap="sq">
              <a:solidFill>
                <a:srgbClr val="2F9BFF"/>
              </a:solidFill>
              <a:prstDash val="solid"/>
              <a:miter/>
            </a:ln>
          </p:spPr>
        </p:sp>
      </p:grpSp>
      <p:grpSp>
        <p:nvGrpSpPr>
          <p:cNvPr name="Group 14" id="14"/>
          <p:cNvGrpSpPr/>
          <p:nvPr/>
        </p:nvGrpSpPr>
        <p:grpSpPr>
          <a:xfrm rot="0">
            <a:off x="1097280" y="3360420"/>
            <a:ext cx="7406640" cy="960120"/>
            <a:chOff x="0" y="0"/>
            <a:chExt cx="9875520" cy="1280160"/>
          </a:xfrm>
        </p:grpSpPr>
        <p:sp>
          <p:nvSpPr>
            <p:cNvPr name="Freeform 15" id="15"/>
            <p:cNvSpPr/>
            <p:nvPr/>
          </p:nvSpPr>
          <p:spPr>
            <a:xfrm flipH="false" flipV="false" rot="0">
              <a:off x="0" y="0"/>
              <a:ext cx="9875520" cy="1280160"/>
            </a:xfrm>
            <a:custGeom>
              <a:avLst/>
              <a:gdLst/>
              <a:ahLst/>
              <a:cxnLst/>
              <a:rect r="r" b="b" t="t" l="l"/>
              <a:pathLst>
                <a:path h="1280160" w="9875520">
                  <a:moveTo>
                    <a:pt x="0" y="0"/>
                  </a:moveTo>
                  <a:lnTo>
                    <a:pt x="9875520" y="0"/>
                  </a:lnTo>
                  <a:lnTo>
                    <a:pt x="9875520" y="1280160"/>
                  </a:lnTo>
                  <a:lnTo>
                    <a:pt x="0" y="1280160"/>
                  </a:lnTo>
                  <a:close/>
                </a:path>
              </a:pathLst>
            </a:custGeom>
            <a:blipFill>
              <a:blip r:embed="rId3">
                <a:alphaModFix amt="0"/>
              </a:blip>
              <a:stretch>
                <a:fillRect l="0" t="-100313" r="0" b="-100313"/>
              </a:stretch>
            </a:blipFill>
          </p:spPr>
        </p:sp>
        <p:sp>
          <p:nvSpPr>
            <p:cNvPr name="TextBox 16" id="16"/>
            <p:cNvSpPr txBox="true"/>
            <p:nvPr/>
          </p:nvSpPr>
          <p:spPr>
            <a:xfrm>
              <a:off x="0" y="-57150"/>
              <a:ext cx="9875520" cy="1337310"/>
            </a:xfrm>
            <a:prstGeom prst="rect">
              <a:avLst/>
            </a:prstGeom>
          </p:spPr>
          <p:txBody>
            <a:bodyPr anchor="ctr" rtlCol="false" tIns="0" lIns="0" bIns="0" rIns="0"/>
            <a:lstStyle/>
            <a:p>
              <a:pPr algn="l">
                <a:lnSpc>
                  <a:spcPts val="2700"/>
                </a:lnSpc>
              </a:pPr>
              <a:r>
                <a:rPr lang="en-US" sz="2250" b="true">
                  <a:solidFill>
                    <a:srgbClr val="EDF1F5"/>
                  </a:solidFill>
                  <a:latin typeface="Calibri (MS) Bold"/>
                  <a:ea typeface="Calibri (MS) Bold"/>
                  <a:cs typeface="Calibri (MS) Bold"/>
                  <a:sym typeface="Calibri (MS) Bold"/>
                </a:rPr>
                <a:t>C11 and C11 atomics</a:t>
              </a:r>
            </a:p>
            <a:p>
              <a:pPr algn="l">
                <a:lnSpc>
                  <a:spcPts val="1980"/>
                </a:lnSpc>
              </a:pPr>
              <a:r>
                <a:rPr lang="en-US" sz="1650">
                  <a:solidFill>
                    <a:srgbClr val="A3AEBB"/>
                  </a:solidFill>
                  <a:latin typeface="Calibri (MS)"/>
                  <a:ea typeface="Calibri (MS)"/>
                  <a:cs typeface="Calibri (MS)"/>
                  <a:sym typeface="Calibri (MS)"/>
                </a:rPr>
                <a:t>stdatomic.h: stop flag and shared operation counter</a:t>
              </a:r>
            </a:p>
          </p:txBody>
        </p:sp>
      </p:grpSp>
      <p:grpSp>
        <p:nvGrpSpPr>
          <p:cNvPr name="Group 17" id="17"/>
          <p:cNvGrpSpPr/>
          <p:nvPr/>
        </p:nvGrpSpPr>
        <p:grpSpPr>
          <a:xfrm rot="0">
            <a:off x="808672" y="4443412"/>
            <a:ext cx="7846695" cy="988695"/>
            <a:chOff x="0" y="0"/>
            <a:chExt cx="10462260" cy="1318260"/>
          </a:xfrm>
        </p:grpSpPr>
        <p:sp>
          <p:nvSpPr>
            <p:cNvPr name="Freeform 18" id="18"/>
            <p:cNvSpPr/>
            <p:nvPr/>
          </p:nvSpPr>
          <p:spPr>
            <a:xfrm flipH="false" flipV="false" rot="0">
              <a:off x="0" y="0"/>
              <a:ext cx="10462260" cy="1318260"/>
            </a:xfrm>
            <a:custGeom>
              <a:avLst/>
              <a:gdLst/>
              <a:ahLst/>
              <a:cxnLst/>
              <a:rect r="r" b="b" t="t" l="l"/>
              <a:pathLst>
                <a:path h="1318260" w="10462260">
                  <a:moveTo>
                    <a:pt x="0" y="0"/>
                  </a:moveTo>
                  <a:lnTo>
                    <a:pt x="10462260" y="0"/>
                  </a:lnTo>
                  <a:lnTo>
                    <a:pt x="10462260" y="1318260"/>
                  </a:lnTo>
                  <a:lnTo>
                    <a:pt x="0" y="1318260"/>
                  </a:lnTo>
                  <a:close/>
                </a:path>
              </a:pathLst>
            </a:custGeom>
            <a:solidFill>
              <a:srgbClr val="252B32"/>
            </a:solidFill>
            <a:ln w="28575" cap="sq">
              <a:solidFill>
                <a:srgbClr val="2F9BFF"/>
              </a:solidFill>
              <a:prstDash val="solid"/>
              <a:miter/>
            </a:ln>
          </p:spPr>
        </p:sp>
      </p:grpSp>
      <p:grpSp>
        <p:nvGrpSpPr>
          <p:cNvPr name="Group 19" id="19"/>
          <p:cNvGrpSpPr/>
          <p:nvPr/>
        </p:nvGrpSpPr>
        <p:grpSpPr>
          <a:xfrm rot="0">
            <a:off x="1097280" y="4457700"/>
            <a:ext cx="7406640" cy="960120"/>
            <a:chOff x="0" y="0"/>
            <a:chExt cx="9875520" cy="1280160"/>
          </a:xfrm>
        </p:grpSpPr>
        <p:sp>
          <p:nvSpPr>
            <p:cNvPr name="Freeform 20" id="20"/>
            <p:cNvSpPr/>
            <p:nvPr/>
          </p:nvSpPr>
          <p:spPr>
            <a:xfrm flipH="false" flipV="false" rot="0">
              <a:off x="0" y="0"/>
              <a:ext cx="9875520" cy="1280160"/>
            </a:xfrm>
            <a:custGeom>
              <a:avLst/>
              <a:gdLst/>
              <a:ahLst/>
              <a:cxnLst/>
              <a:rect r="r" b="b" t="t" l="l"/>
              <a:pathLst>
                <a:path h="1280160" w="9875520">
                  <a:moveTo>
                    <a:pt x="0" y="0"/>
                  </a:moveTo>
                  <a:lnTo>
                    <a:pt x="9875520" y="0"/>
                  </a:lnTo>
                  <a:lnTo>
                    <a:pt x="9875520" y="1280160"/>
                  </a:lnTo>
                  <a:lnTo>
                    <a:pt x="0" y="1280160"/>
                  </a:lnTo>
                  <a:close/>
                </a:path>
              </a:pathLst>
            </a:custGeom>
            <a:blipFill>
              <a:blip r:embed="rId3">
                <a:alphaModFix amt="0"/>
              </a:blip>
              <a:stretch>
                <a:fillRect l="0" t="-100313" r="0" b="-100313"/>
              </a:stretch>
            </a:blipFill>
          </p:spPr>
        </p:sp>
        <p:sp>
          <p:nvSpPr>
            <p:cNvPr name="TextBox 21" id="21"/>
            <p:cNvSpPr txBox="true"/>
            <p:nvPr/>
          </p:nvSpPr>
          <p:spPr>
            <a:xfrm>
              <a:off x="0" y="-57150"/>
              <a:ext cx="9875520" cy="1337310"/>
            </a:xfrm>
            <a:prstGeom prst="rect">
              <a:avLst/>
            </a:prstGeom>
          </p:spPr>
          <p:txBody>
            <a:bodyPr anchor="ctr" rtlCol="false" tIns="0" lIns="0" bIns="0" rIns="0"/>
            <a:lstStyle/>
            <a:p>
              <a:pPr algn="l">
                <a:lnSpc>
                  <a:spcPts val="2700"/>
                </a:lnSpc>
              </a:pPr>
              <a:r>
                <a:rPr lang="en-US" sz="2250" b="true">
                  <a:solidFill>
                    <a:srgbClr val="EDF1F5"/>
                  </a:solidFill>
                  <a:latin typeface="Calibri (MS) Bold"/>
                  <a:ea typeface="Calibri (MS) Bold"/>
                  <a:cs typeface="Calibri (MS) Bold"/>
                  <a:sym typeface="Calibri (MS) Bold"/>
                </a:rPr>
                <a:t>POSIX threads and Linux APIs</a:t>
              </a:r>
            </a:p>
            <a:p>
              <a:pPr algn="l">
                <a:lnSpc>
                  <a:spcPts val="1980"/>
                </a:lnSpc>
              </a:pPr>
              <a:r>
                <a:rPr lang="en-US" sz="1650">
                  <a:solidFill>
                    <a:srgbClr val="A3AEBB"/>
                  </a:solidFill>
                  <a:latin typeface="Calibri (MS)"/>
                  <a:ea typeface="Calibri (MS)"/>
                  <a:cs typeface="Calibri (MS)"/>
                  <a:sym typeface="Calibri (MS)"/>
                </a:rPr>
                <a:t>pthread, sysinfo, sigaction, sysconf</a:t>
              </a:r>
            </a:p>
          </p:txBody>
        </p:sp>
      </p:grpSp>
      <p:grpSp>
        <p:nvGrpSpPr>
          <p:cNvPr name="Group 22" id="22"/>
          <p:cNvGrpSpPr/>
          <p:nvPr/>
        </p:nvGrpSpPr>
        <p:grpSpPr>
          <a:xfrm rot="0">
            <a:off x="808672" y="5540692"/>
            <a:ext cx="7846695" cy="988695"/>
            <a:chOff x="0" y="0"/>
            <a:chExt cx="10462260" cy="1318260"/>
          </a:xfrm>
        </p:grpSpPr>
        <p:sp>
          <p:nvSpPr>
            <p:cNvPr name="Freeform 23" id="23"/>
            <p:cNvSpPr/>
            <p:nvPr/>
          </p:nvSpPr>
          <p:spPr>
            <a:xfrm flipH="false" flipV="false" rot="0">
              <a:off x="0" y="0"/>
              <a:ext cx="10462260" cy="1318260"/>
            </a:xfrm>
            <a:custGeom>
              <a:avLst/>
              <a:gdLst/>
              <a:ahLst/>
              <a:cxnLst/>
              <a:rect r="r" b="b" t="t" l="l"/>
              <a:pathLst>
                <a:path h="1318260" w="10462260">
                  <a:moveTo>
                    <a:pt x="0" y="0"/>
                  </a:moveTo>
                  <a:lnTo>
                    <a:pt x="10462260" y="0"/>
                  </a:lnTo>
                  <a:lnTo>
                    <a:pt x="10462260" y="1318260"/>
                  </a:lnTo>
                  <a:lnTo>
                    <a:pt x="0" y="1318260"/>
                  </a:lnTo>
                  <a:close/>
                </a:path>
              </a:pathLst>
            </a:custGeom>
            <a:solidFill>
              <a:srgbClr val="252B32"/>
            </a:solidFill>
            <a:ln w="28575" cap="sq">
              <a:solidFill>
                <a:srgbClr val="2F9BFF"/>
              </a:solidFill>
              <a:prstDash val="solid"/>
              <a:miter/>
            </a:ln>
          </p:spPr>
        </p:sp>
      </p:grpSp>
      <p:grpSp>
        <p:nvGrpSpPr>
          <p:cNvPr name="Group 24" id="24"/>
          <p:cNvGrpSpPr/>
          <p:nvPr/>
        </p:nvGrpSpPr>
        <p:grpSpPr>
          <a:xfrm rot="0">
            <a:off x="1097280" y="5554980"/>
            <a:ext cx="7406640" cy="960120"/>
            <a:chOff x="0" y="0"/>
            <a:chExt cx="9875520" cy="1280160"/>
          </a:xfrm>
        </p:grpSpPr>
        <p:sp>
          <p:nvSpPr>
            <p:cNvPr name="Freeform 25" id="25"/>
            <p:cNvSpPr/>
            <p:nvPr/>
          </p:nvSpPr>
          <p:spPr>
            <a:xfrm flipH="false" flipV="false" rot="0">
              <a:off x="0" y="0"/>
              <a:ext cx="9875520" cy="1280160"/>
            </a:xfrm>
            <a:custGeom>
              <a:avLst/>
              <a:gdLst/>
              <a:ahLst/>
              <a:cxnLst/>
              <a:rect r="r" b="b" t="t" l="l"/>
              <a:pathLst>
                <a:path h="1280160" w="9875520">
                  <a:moveTo>
                    <a:pt x="0" y="0"/>
                  </a:moveTo>
                  <a:lnTo>
                    <a:pt x="9875520" y="0"/>
                  </a:lnTo>
                  <a:lnTo>
                    <a:pt x="9875520" y="1280160"/>
                  </a:lnTo>
                  <a:lnTo>
                    <a:pt x="0" y="1280160"/>
                  </a:lnTo>
                  <a:close/>
                </a:path>
              </a:pathLst>
            </a:custGeom>
            <a:blipFill>
              <a:blip r:embed="rId3">
                <a:alphaModFix amt="0"/>
              </a:blip>
              <a:stretch>
                <a:fillRect l="0" t="-100313" r="0" b="-100313"/>
              </a:stretch>
            </a:blipFill>
          </p:spPr>
        </p:sp>
        <p:sp>
          <p:nvSpPr>
            <p:cNvPr name="TextBox 26" id="26"/>
            <p:cNvSpPr txBox="true"/>
            <p:nvPr/>
          </p:nvSpPr>
          <p:spPr>
            <a:xfrm>
              <a:off x="0" y="-57150"/>
              <a:ext cx="9875520" cy="1337310"/>
            </a:xfrm>
            <a:prstGeom prst="rect">
              <a:avLst/>
            </a:prstGeom>
          </p:spPr>
          <p:txBody>
            <a:bodyPr anchor="ctr" rtlCol="false" tIns="0" lIns="0" bIns="0" rIns="0"/>
            <a:lstStyle/>
            <a:p>
              <a:pPr algn="l">
                <a:lnSpc>
                  <a:spcPts val="2700"/>
                </a:lnSpc>
              </a:pPr>
              <a:r>
                <a:rPr lang="en-US" sz="2250" b="true">
                  <a:solidFill>
                    <a:srgbClr val="EDF1F5"/>
                  </a:solidFill>
                  <a:latin typeface="Calibri (MS) Bold"/>
                  <a:ea typeface="Calibri (MS) Bold"/>
                  <a:cs typeface="Calibri (MS) Bold"/>
                  <a:sym typeface="Calibri (MS) Bold"/>
                </a:rPr>
                <a:t>GCC and GNU Make</a:t>
              </a:r>
            </a:p>
            <a:p>
              <a:pPr algn="l">
                <a:lnSpc>
                  <a:spcPts val="1980"/>
                </a:lnSpc>
              </a:pPr>
              <a:r>
                <a:rPr lang="en-US" sz="1650">
                  <a:solidFill>
                    <a:srgbClr val="A3AEBB"/>
                  </a:solidFill>
                  <a:latin typeface="Calibri (MS)"/>
                  <a:ea typeface="Calibri (MS)"/>
                  <a:cs typeface="Calibri (MS)"/>
                  <a:sym typeface="Calibri (MS)"/>
                </a:rPr>
                <a:t>Compile with warnings enabled; make and make clean</a:t>
              </a:r>
            </a:p>
          </p:txBody>
        </p:sp>
      </p:grpSp>
      <p:grpSp>
        <p:nvGrpSpPr>
          <p:cNvPr name="Group 27" id="27"/>
          <p:cNvGrpSpPr/>
          <p:nvPr/>
        </p:nvGrpSpPr>
        <p:grpSpPr>
          <a:xfrm rot="0">
            <a:off x="808672" y="6637972"/>
            <a:ext cx="7846695" cy="988695"/>
            <a:chOff x="0" y="0"/>
            <a:chExt cx="10462260" cy="1318260"/>
          </a:xfrm>
        </p:grpSpPr>
        <p:sp>
          <p:nvSpPr>
            <p:cNvPr name="Freeform 28" id="28"/>
            <p:cNvSpPr/>
            <p:nvPr/>
          </p:nvSpPr>
          <p:spPr>
            <a:xfrm flipH="false" flipV="false" rot="0">
              <a:off x="0" y="0"/>
              <a:ext cx="10462260" cy="1318260"/>
            </a:xfrm>
            <a:custGeom>
              <a:avLst/>
              <a:gdLst/>
              <a:ahLst/>
              <a:cxnLst/>
              <a:rect r="r" b="b" t="t" l="l"/>
              <a:pathLst>
                <a:path h="1318260" w="10462260">
                  <a:moveTo>
                    <a:pt x="0" y="0"/>
                  </a:moveTo>
                  <a:lnTo>
                    <a:pt x="10462260" y="0"/>
                  </a:lnTo>
                  <a:lnTo>
                    <a:pt x="10462260" y="1318260"/>
                  </a:lnTo>
                  <a:lnTo>
                    <a:pt x="0" y="1318260"/>
                  </a:lnTo>
                  <a:close/>
                </a:path>
              </a:pathLst>
            </a:custGeom>
            <a:solidFill>
              <a:srgbClr val="252B32"/>
            </a:solidFill>
            <a:ln w="28575" cap="sq">
              <a:solidFill>
                <a:srgbClr val="3FB67A"/>
              </a:solidFill>
              <a:prstDash val="solid"/>
              <a:miter/>
            </a:ln>
          </p:spPr>
        </p:sp>
      </p:grpSp>
      <p:grpSp>
        <p:nvGrpSpPr>
          <p:cNvPr name="Group 29" id="29"/>
          <p:cNvGrpSpPr/>
          <p:nvPr/>
        </p:nvGrpSpPr>
        <p:grpSpPr>
          <a:xfrm rot="0">
            <a:off x="1097280" y="6652260"/>
            <a:ext cx="7406640" cy="960120"/>
            <a:chOff x="0" y="0"/>
            <a:chExt cx="9875520" cy="1280160"/>
          </a:xfrm>
        </p:grpSpPr>
        <p:sp>
          <p:nvSpPr>
            <p:cNvPr name="Freeform 30" id="30"/>
            <p:cNvSpPr/>
            <p:nvPr/>
          </p:nvSpPr>
          <p:spPr>
            <a:xfrm flipH="false" flipV="false" rot="0">
              <a:off x="0" y="0"/>
              <a:ext cx="9875520" cy="1280160"/>
            </a:xfrm>
            <a:custGeom>
              <a:avLst/>
              <a:gdLst/>
              <a:ahLst/>
              <a:cxnLst/>
              <a:rect r="r" b="b" t="t" l="l"/>
              <a:pathLst>
                <a:path h="1280160" w="9875520">
                  <a:moveTo>
                    <a:pt x="0" y="0"/>
                  </a:moveTo>
                  <a:lnTo>
                    <a:pt x="9875520" y="0"/>
                  </a:lnTo>
                  <a:lnTo>
                    <a:pt x="9875520" y="1280160"/>
                  </a:lnTo>
                  <a:lnTo>
                    <a:pt x="0" y="1280160"/>
                  </a:lnTo>
                  <a:close/>
                </a:path>
              </a:pathLst>
            </a:custGeom>
            <a:blipFill>
              <a:blip r:embed="rId3">
                <a:alphaModFix amt="0"/>
              </a:blip>
              <a:stretch>
                <a:fillRect l="0" t="-100313" r="0" b="-100313"/>
              </a:stretch>
            </a:blipFill>
          </p:spPr>
        </p:sp>
        <p:sp>
          <p:nvSpPr>
            <p:cNvPr name="TextBox 31" id="31"/>
            <p:cNvSpPr txBox="true"/>
            <p:nvPr/>
          </p:nvSpPr>
          <p:spPr>
            <a:xfrm>
              <a:off x="0" y="-57150"/>
              <a:ext cx="9875520" cy="1337310"/>
            </a:xfrm>
            <a:prstGeom prst="rect">
              <a:avLst/>
            </a:prstGeom>
          </p:spPr>
          <p:txBody>
            <a:bodyPr anchor="ctr" rtlCol="false" tIns="0" lIns="0" bIns="0" rIns="0"/>
            <a:lstStyle/>
            <a:p>
              <a:pPr algn="l">
                <a:lnSpc>
                  <a:spcPts val="2700"/>
                </a:lnSpc>
              </a:pPr>
              <a:r>
                <a:rPr lang="en-US" sz="2250" b="true">
                  <a:solidFill>
                    <a:srgbClr val="EDF1F5"/>
                  </a:solidFill>
                  <a:latin typeface="Calibri (MS) Bold"/>
                  <a:ea typeface="Calibri (MS) Bold"/>
                  <a:cs typeface="Calibri (MS) Bold"/>
                  <a:sym typeface="Calibri (MS) Bold"/>
                </a:rPr>
                <a:t>Ubuntu / Linux</a:t>
              </a:r>
            </a:p>
            <a:p>
              <a:pPr algn="l">
                <a:lnSpc>
                  <a:spcPts val="1980"/>
                </a:lnSpc>
              </a:pPr>
              <a:r>
                <a:rPr lang="en-US" sz="1650">
                  <a:solidFill>
                    <a:srgbClr val="A3AEBB"/>
                  </a:solidFill>
                  <a:latin typeface="Calibri (MS)"/>
                  <a:ea typeface="Calibri (MS)"/>
                  <a:cs typeface="Calibri (MS)"/>
                  <a:sym typeface="Calibri (MS)"/>
                </a:rPr>
                <a:t>Native Ubuntu or WSL2 Ubuntu</a:t>
              </a:r>
            </a:p>
          </p:txBody>
        </p:sp>
      </p:grpSp>
      <p:grpSp>
        <p:nvGrpSpPr>
          <p:cNvPr name="Group 32" id="32"/>
          <p:cNvGrpSpPr/>
          <p:nvPr/>
        </p:nvGrpSpPr>
        <p:grpSpPr>
          <a:xfrm rot="0">
            <a:off x="811054" y="7874794"/>
            <a:ext cx="7841932" cy="1121092"/>
            <a:chOff x="0" y="0"/>
            <a:chExt cx="10455910" cy="1494790"/>
          </a:xfrm>
        </p:grpSpPr>
        <p:sp>
          <p:nvSpPr>
            <p:cNvPr name="Freeform 33" id="33"/>
            <p:cNvSpPr/>
            <p:nvPr/>
          </p:nvSpPr>
          <p:spPr>
            <a:xfrm flipH="false" flipV="false" rot="0">
              <a:off x="0" y="0"/>
              <a:ext cx="10455910" cy="1494790"/>
            </a:xfrm>
            <a:custGeom>
              <a:avLst/>
              <a:gdLst/>
              <a:ahLst/>
              <a:cxnLst/>
              <a:rect r="r" b="b" t="t" l="l"/>
              <a:pathLst>
                <a:path h="1494790" w="10455910">
                  <a:moveTo>
                    <a:pt x="0" y="0"/>
                  </a:moveTo>
                  <a:lnTo>
                    <a:pt x="10455910" y="0"/>
                  </a:lnTo>
                  <a:lnTo>
                    <a:pt x="10455910" y="1494790"/>
                  </a:lnTo>
                  <a:lnTo>
                    <a:pt x="0" y="1494790"/>
                  </a:lnTo>
                  <a:close/>
                </a:path>
              </a:pathLst>
            </a:custGeom>
            <a:solidFill>
              <a:srgbClr val="1B1F24"/>
            </a:solidFill>
            <a:ln w="23812" cap="sq">
              <a:solidFill>
                <a:srgbClr val="A3AEBB"/>
              </a:solidFill>
              <a:prstDash val="dash"/>
              <a:miter/>
            </a:ln>
          </p:spPr>
        </p:sp>
      </p:grpSp>
      <p:grpSp>
        <p:nvGrpSpPr>
          <p:cNvPr name="Group 34" id="34"/>
          <p:cNvGrpSpPr/>
          <p:nvPr/>
        </p:nvGrpSpPr>
        <p:grpSpPr>
          <a:xfrm rot="0">
            <a:off x="960120" y="7886700"/>
            <a:ext cx="7543800" cy="1097280"/>
            <a:chOff x="0" y="0"/>
            <a:chExt cx="10058400" cy="1463040"/>
          </a:xfrm>
        </p:grpSpPr>
        <p:sp>
          <p:nvSpPr>
            <p:cNvPr name="Freeform 35" id="35"/>
            <p:cNvSpPr/>
            <p:nvPr/>
          </p:nvSpPr>
          <p:spPr>
            <a:xfrm flipH="false" flipV="false" rot="0">
              <a:off x="0" y="0"/>
              <a:ext cx="10058400" cy="1463040"/>
            </a:xfrm>
            <a:custGeom>
              <a:avLst/>
              <a:gdLst/>
              <a:ahLst/>
              <a:cxnLst/>
              <a:rect r="r" b="b" t="t" l="l"/>
              <a:pathLst>
                <a:path h="1463040" w="10058400">
                  <a:moveTo>
                    <a:pt x="0" y="0"/>
                  </a:moveTo>
                  <a:lnTo>
                    <a:pt x="10058400" y="0"/>
                  </a:lnTo>
                  <a:lnTo>
                    <a:pt x="10058400" y="1463040"/>
                  </a:lnTo>
                  <a:lnTo>
                    <a:pt x="0" y="1463040"/>
                  </a:lnTo>
                  <a:close/>
                </a:path>
              </a:pathLst>
            </a:custGeom>
            <a:blipFill>
              <a:blip r:embed="rId3">
                <a:alphaModFix amt="0"/>
              </a:blip>
              <a:stretch>
                <a:fillRect l="0" t="-83959" r="0" b="-83959"/>
              </a:stretch>
            </a:blipFill>
          </p:spPr>
        </p:sp>
        <p:sp>
          <p:nvSpPr>
            <p:cNvPr name="TextBox 36" id="36"/>
            <p:cNvSpPr txBox="true"/>
            <p:nvPr/>
          </p:nvSpPr>
          <p:spPr>
            <a:xfrm>
              <a:off x="0" y="-38100"/>
              <a:ext cx="10058400" cy="1501140"/>
            </a:xfrm>
            <a:prstGeom prst="rect">
              <a:avLst/>
            </a:prstGeom>
          </p:spPr>
          <p:txBody>
            <a:bodyPr anchor="ctr" rtlCol="false" tIns="0" lIns="0" bIns="0" rIns="0"/>
            <a:lstStyle/>
            <a:p>
              <a:pPr algn="ctr">
                <a:lnSpc>
                  <a:spcPts val="2160"/>
                </a:lnSpc>
              </a:pPr>
              <a:r>
                <a:rPr lang="en-US" sz="1800">
                  <a:solidFill>
                    <a:srgbClr val="A3AEBB"/>
                  </a:solidFill>
                  <a:latin typeface="Calibri (MS)"/>
                  <a:ea typeface="Calibri (MS)"/>
                  <a:cs typeface="Calibri (MS)"/>
                  <a:sym typeface="Calibri (MS)"/>
                </a:rPr>
                <a:t>External monitoring in a second terminal: htop and free -h</a:t>
              </a:r>
            </a:p>
          </p:txBody>
        </p:sp>
      </p:grpSp>
      <p:grpSp>
        <p:nvGrpSpPr>
          <p:cNvPr name="Group 37" id="37"/>
          <p:cNvGrpSpPr/>
          <p:nvPr/>
        </p:nvGrpSpPr>
        <p:grpSpPr>
          <a:xfrm rot="0">
            <a:off x="9177814" y="2251234"/>
            <a:ext cx="8253412" cy="4892992"/>
            <a:chOff x="0" y="0"/>
            <a:chExt cx="11004550" cy="6523990"/>
          </a:xfrm>
        </p:grpSpPr>
        <p:sp>
          <p:nvSpPr>
            <p:cNvPr name="Freeform 38" id="38"/>
            <p:cNvSpPr/>
            <p:nvPr/>
          </p:nvSpPr>
          <p:spPr>
            <a:xfrm flipH="false" flipV="false" rot="0">
              <a:off x="0" y="0"/>
              <a:ext cx="11004550" cy="6523990"/>
            </a:xfrm>
            <a:custGeom>
              <a:avLst/>
              <a:gdLst/>
              <a:ahLst/>
              <a:cxnLst/>
              <a:rect r="r" b="b" t="t" l="l"/>
              <a:pathLst>
                <a:path h="6523990" w="11004550">
                  <a:moveTo>
                    <a:pt x="0" y="0"/>
                  </a:moveTo>
                  <a:lnTo>
                    <a:pt x="11004550" y="0"/>
                  </a:lnTo>
                  <a:lnTo>
                    <a:pt x="11004550" y="6523990"/>
                  </a:lnTo>
                  <a:lnTo>
                    <a:pt x="0" y="6523990"/>
                  </a:lnTo>
                  <a:close/>
                </a:path>
              </a:pathLst>
            </a:custGeom>
            <a:solidFill>
              <a:srgbClr val="0E1115"/>
            </a:solidFill>
            <a:ln w="23812" cap="sq">
              <a:solidFill>
                <a:srgbClr val="3A424C"/>
              </a:solidFill>
              <a:prstDash val="solid"/>
              <a:miter/>
            </a:ln>
          </p:spPr>
        </p:sp>
      </p:grpSp>
      <p:grpSp>
        <p:nvGrpSpPr>
          <p:cNvPr name="Group 39" id="39"/>
          <p:cNvGrpSpPr/>
          <p:nvPr/>
        </p:nvGrpSpPr>
        <p:grpSpPr>
          <a:xfrm rot="0">
            <a:off x="9177814" y="2251234"/>
            <a:ext cx="8253412" cy="462724"/>
            <a:chOff x="0" y="0"/>
            <a:chExt cx="11004550" cy="616966"/>
          </a:xfrm>
        </p:grpSpPr>
        <p:sp>
          <p:nvSpPr>
            <p:cNvPr name="Freeform 40" id="40"/>
            <p:cNvSpPr/>
            <p:nvPr/>
          </p:nvSpPr>
          <p:spPr>
            <a:xfrm flipH="false" flipV="false" rot="0">
              <a:off x="0" y="0"/>
              <a:ext cx="11004550" cy="616966"/>
            </a:xfrm>
            <a:custGeom>
              <a:avLst/>
              <a:gdLst/>
              <a:ahLst/>
              <a:cxnLst/>
              <a:rect r="r" b="b" t="t" l="l"/>
              <a:pathLst>
                <a:path h="616966" w="11004550">
                  <a:moveTo>
                    <a:pt x="0" y="0"/>
                  </a:moveTo>
                  <a:lnTo>
                    <a:pt x="11004550" y="0"/>
                  </a:lnTo>
                  <a:lnTo>
                    <a:pt x="11004550" y="616966"/>
                  </a:lnTo>
                  <a:lnTo>
                    <a:pt x="0" y="616966"/>
                  </a:lnTo>
                  <a:close/>
                </a:path>
              </a:pathLst>
            </a:custGeom>
            <a:solidFill>
              <a:srgbClr val="252B32"/>
            </a:solidFill>
            <a:ln w="23812" cap="sq">
              <a:solidFill>
                <a:srgbClr val="3A424C"/>
              </a:solidFill>
              <a:prstDash val="solid"/>
              <a:miter/>
            </a:ln>
          </p:spPr>
        </p:sp>
      </p:grpSp>
      <p:grpSp>
        <p:nvGrpSpPr>
          <p:cNvPr name="Group 41" id="41"/>
          <p:cNvGrpSpPr/>
          <p:nvPr/>
        </p:nvGrpSpPr>
        <p:grpSpPr>
          <a:xfrm rot="0">
            <a:off x="9385935" y="2377059"/>
            <a:ext cx="211074" cy="211074"/>
            <a:chOff x="0" y="0"/>
            <a:chExt cx="281432" cy="281432"/>
          </a:xfrm>
        </p:grpSpPr>
        <p:sp>
          <p:nvSpPr>
            <p:cNvPr name="Freeform 42" id="42"/>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A424C"/>
            </a:solidFill>
            <a:ln w="19050" cap="sq">
              <a:solidFill>
                <a:srgbClr val="3A424C"/>
              </a:solidFill>
              <a:prstDash val="solid"/>
              <a:miter/>
            </a:ln>
          </p:spPr>
        </p:sp>
      </p:grpSp>
      <p:grpSp>
        <p:nvGrpSpPr>
          <p:cNvPr name="Group 43" id="43"/>
          <p:cNvGrpSpPr/>
          <p:nvPr/>
        </p:nvGrpSpPr>
        <p:grpSpPr>
          <a:xfrm rot="0">
            <a:off x="9660255" y="2377059"/>
            <a:ext cx="211074" cy="211074"/>
            <a:chOff x="0" y="0"/>
            <a:chExt cx="281432" cy="281432"/>
          </a:xfrm>
        </p:grpSpPr>
        <p:sp>
          <p:nvSpPr>
            <p:cNvPr name="Freeform 44" id="44"/>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A424C"/>
            </a:solidFill>
            <a:ln w="19050" cap="sq">
              <a:solidFill>
                <a:srgbClr val="3A424C"/>
              </a:solidFill>
              <a:prstDash val="solid"/>
              <a:miter/>
            </a:ln>
          </p:spPr>
        </p:sp>
      </p:grpSp>
      <p:grpSp>
        <p:nvGrpSpPr>
          <p:cNvPr name="Group 45" id="45"/>
          <p:cNvGrpSpPr/>
          <p:nvPr/>
        </p:nvGrpSpPr>
        <p:grpSpPr>
          <a:xfrm rot="0">
            <a:off x="9934575" y="2377059"/>
            <a:ext cx="211074" cy="211074"/>
            <a:chOff x="0" y="0"/>
            <a:chExt cx="281432" cy="281432"/>
          </a:xfrm>
        </p:grpSpPr>
        <p:sp>
          <p:nvSpPr>
            <p:cNvPr name="Freeform 46" id="46"/>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FB67A"/>
            </a:solidFill>
            <a:ln w="19050" cap="sq">
              <a:solidFill>
                <a:srgbClr val="3A424C"/>
              </a:solidFill>
              <a:prstDash val="solid"/>
              <a:miter/>
            </a:ln>
          </p:spPr>
        </p:sp>
      </p:grpSp>
      <p:grpSp>
        <p:nvGrpSpPr>
          <p:cNvPr name="Group 47" id="47"/>
          <p:cNvGrpSpPr/>
          <p:nvPr/>
        </p:nvGrpSpPr>
        <p:grpSpPr>
          <a:xfrm rot="0">
            <a:off x="10355580" y="2263140"/>
            <a:ext cx="2743200" cy="438912"/>
            <a:chOff x="0" y="0"/>
            <a:chExt cx="3657600" cy="585216"/>
          </a:xfrm>
        </p:grpSpPr>
        <p:sp>
          <p:nvSpPr>
            <p:cNvPr name="Freeform 48" id="48"/>
            <p:cNvSpPr/>
            <p:nvPr/>
          </p:nvSpPr>
          <p:spPr>
            <a:xfrm flipH="false" flipV="false" rot="0">
              <a:off x="0" y="0"/>
              <a:ext cx="3657600" cy="585216"/>
            </a:xfrm>
            <a:custGeom>
              <a:avLst/>
              <a:gdLst/>
              <a:ahLst/>
              <a:cxnLst/>
              <a:rect r="r" b="b" t="t" l="l"/>
              <a:pathLst>
                <a:path h="585216" w="3657600">
                  <a:moveTo>
                    <a:pt x="0" y="0"/>
                  </a:moveTo>
                  <a:lnTo>
                    <a:pt x="3657600" y="0"/>
                  </a:lnTo>
                  <a:lnTo>
                    <a:pt x="3657600" y="585216"/>
                  </a:lnTo>
                  <a:lnTo>
                    <a:pt x="0" y="585216"/>
                  </a:lnTo>
                  <a:close/>
                </a:path>
              </a:pathLst>
            </a:custGeom>
            <a:blipFill>
              <a:blip r:embed="rId3">
                <a:alphaModFix amt="0"/>
              </a:blip>
              <a:stretch>
                <a:fillRect l="0" t="-71781" r="0" b="-71781"/>
              </a:stretch>
            </a:blipFill>
          </p:spPr>
        </p:sp>
        <p:sp>
          <p:nvSpPr>
            <p:cNvPr name="TextBox 49" id="49"/>
            <p:cNvSpPr txBox="true"/>
            <p:nvPr/>
          </p:nvSpPr>
          <p:spPr>
            <a:xfrm>
              <a:off x="0" y="-9525"/>
              <a:ext cx="3657600" cy="594741"/>
            </a:xfrm>
            <a:prstGeom prst="rect">
              <a:avLst/>
            </a:prstGeom>
          </p:spPr>
          <p:txBody>
            <a:bodyPr anchor="ctr" rtlCol="false" tIns="0" lIns="0" bIns="0" rIns="0"/>
            <a:lstStyle/>
            <a:p>
              <a:pPr algn="l">
                <a:lnSpc>
                  <a:spcPts val="1800"/>
                </a:lnSpc>
              </a:pPr>
              <a:r>
                <a:rPr lang="en-US" sz="1500">
                  <a:solidFill>
                    <a:srgbClr val="A3AEBB"/>
                  </a:solidFill>
                  <a:latin typeface="Courier New"/>
                  <a:ea typeface="Courier New"/>
                  <a:cs typeface="Courier New"/>
                  <a:sym typeface="Courier New"/>
                </a:rPr>
                <a:t>Terminal</a:t>
              </a:r>
            </a:p>
          </p:txBody>
        </p:sp>
      </p:grpSp>
      <p:sp>
        <p:nvSpPr>
          <p:cNvPr name="TextBox 50" id="50"/>
          <p:cNvSpPr txBox="true"/>
          <p:nvPr/>
        </p:nvSpPr>
        <p:spPr>
          <a:xfrm rot="0">
            <a:off x="9464040" y="2939415"/>
            <a:ext cx="7680960" cy="4055745"/>
          </a:xfrm>
          <a:prstGeom prst="rect">
            <a:avLst/>
          </a:prstGeom>
        </p:spPr>
        <p:txBody>
          <a:bodyPr anchor="t" rtlCol="false" tIns="0" lIns="0" bIns="0" rIns="0">
            <a:spAutoFit/>
          </a:bodyPr>
          <a:lstStyle/>
          <a:p>
            <a:pPr algn="l">
              <a:lnSpc>
                <a:spcPts val="2160"/>
              </a:lnSpc>
            </a:pPr>
            <a:r>
              <a:rPr lang="en-US" sz="1800">
                <a:solidFill>
                  <a:srgbClr val="EDF1F5"/>
                </a:solidFill>
                <a:latin typeface="Courier New"/>
                <a:ea typeface="Courier New"/>
                <a:cs typeface="Courier New"/>
                <a:sym typeface="Courier New"/>
              </a:rPr>
              <a:t>static void *cpu_stress(void *arg)</a:t>
            </a:r>
          </a:p>
          <a:p>
            <a:pPr algn="l">
              <a:lnSpc>
                <a:spcPts val="2160"/>
              </a:lnSpc>
            </a:pPr>
            <a:r>
              <a:rPr lang="en-US" sz="1800">
                <a:solidFill>
                  <a:srgbClr val="EDF1F5"/>
                </a:solidFill>
                <a:latin typeface="Courier New"/>
                <a:ea typeface="Courier New"/>
                <a:cs typeface="Courier New"/>
                <a:sym typeface="Courier New"/>
              </a:rPr>
              <a:t>{</a:t>
            </a:r>
          </a:p>
          <a:p>
            <a:pPr algn="l">
              <a:lnSpc>
                <a:spcPts val="2160"/>
              </a:lnSpc>
            </a:pPr>
            <a:r>
              <a:rPr lang="en-US" sz="1800">
                <a:solidFill>
                  <a:srgbClr val="EDF1F5"/>
                </a:solidFill>
                <a:latin typeface="Courier New"/>
                <a:ea typeface="Courier New"/>
                <a:cs typeface="Courier New"/>
                <a:sym typeface="Courier New"/>
              </a:rPr>
              <a:t>    uint64_t x = (uint64_t)(uintptr_t)arg + 1;</a:t>
            </a:r>
          </a:p>
          <a:p>
            <a:pPr algn="l">
              <a:lnSpc>
                <a:spcPts val="2160"/>
              </a:lnSpc>
            </a:pPr>
            <a:r>
              <a:rPr lang="en-US" sz="1800">
                <a:solidFill>
                  <a:srgbClr val="EDF1F5"/>
                </a:solidFill>
                <a:latin typeface="Courier New"/>
                <a:ea typeface="Courier New"/>
                <a:cs typeface="Courier New"/>
                <a:sym typeface="Courier New"/>
              </a:rPr>
              <a:t>    while (!atomic_load(&amp;stop_test)) {</a:t>
            </a:r>
          </a:p>
          <a:p>
            <a:pPr algn="l">
              <a:lnSpc>
                <a:spcPts val="2160"/>
              </a:lnSpc>
            </a:pPr>
            <a:r>
              <a:rPr lang="en-US" sz="1800">
                <a:solidFill>
                  <a:srgbClr val="EDF1F5"/>
                </a:solidFill>
                <a:latin typeface="Courier New"/>
                <a:ea typeface="Courier New"/>
                <a:cs typeface="Courier New"/>
                <a:sym typeface="Courier New"/>
              </a:rPr>
              <a:t>        for (int i = 0; i &lt; 100000; i++)</a:t>
            </a:r>
          </a:p>
          <a:p>
            <a:pPr algn="l">
              <a:lnSpc>
                <a:spcPts val="2160"/>
              </a:lnSpc>
            </a:pPr>
            <a:r>
              <a:rPr lang="en-US" sz="1800">
                <a:solidFill>
                  <a:srgbClr val="EDF1F5"/>
                </a:solidFill>
                <a:latin typeface="Courier New"/>
                <a:ea typeface="Courier New"/>
                <a:cs typeface="Courier New"/>
                <a:sym typeface="Courier New"/>
              </a:rPr>
              <a:t>            x = x * 1664525ULL + 1013904223ULL;</a:t>
            </a:r>
          </a:p>
          <a:p>
            <a:pPr algn="l">
              <a:lnSpc>
                <a:spcPts val="2160"/>
              </a:lnSpc>
            </a:pPr>
            <a:r>
              <a:rPr lang="en-US" sz="1800">
                <a:solidFill>
                  <a:srgbClr val="EDF1F5"/>
                </a:solidFill>
                <a:latin typeface="Courier New"/>
                <a:ea typeface="Courier New"/>
                <a:cs typeface="Courier New"/>
                <a:sym typeface="Courier New"/>
              </a:rPr>
              <a:t>        atomic_fetch_add(&amp;operations, 100000);</a:t>
            </a:r>
          </a:p>
          <a:p>
            <a:pPr algn="l">
              <a:lnSpc>
                <a:spcPts val="2160"/>
              </a:lnSpc>
            </a:pPr>
            <a:r>
              <a:rPr lang="en-US" sz="1800">
                <a:solidFill>
                  <a:srgbClr val="EDF1F5"/>
                </a:solidFill>
                <a:latin typeface="Courier New"/>
                <a:ea typeface="Courier New"/>
                <a:cs typeface="Courier New"/>
                <a:sym typeface="Courier New"/>
              </a:rPr>
              <a:t>    }</a:t>
            </a:r>
          </a:p>
          <a:p>
            <a:pPr algn="l">
              <a:lnSpc>
                <a:spcPts val="2160"/>
              </a:lnSpc>
            </a:pPr>
            <a:r>
              <a:rPr lang="en-US" sz="1800">
                <a:solidFill>
                  <a:srgbClr val="EDF1F5"/>
                </a:solidFill>
                <a:latin typeface="Courier New"/>
                <a:ea typeface="Courier New"/>
                <a:cs typeface="Courier New"/>
                <a:sym typeface="Courier New"/>
              </a:rPr>
              <a:t>    return NULL;</a:t>
            </a:r>
          </a:p>
          <a:p>
            <a:pPr algn="l">
              <a:lnSpc>
                <a:spcPts val="2160"/>
              </a:lnSpc>
            </a:pPr>
            <a:r>
              <a:rPr lang="en-US" sz="1800">
                <a:solidFill>
                  <a:srgbClr val="EDF1F5"/>
                </a:solidFill>
                <a:latin typeface="Courier New"/>
                <a:ea typeface="Courier New"/>
                <a:cs typeface="Courier New"/>
                <a:sym typeface="Courier New"/>
              </a:rPr>
              <a:t>}</a:t>
            </a:r>
          </a:p>
        </p:txBody>
      </p:sp>
      <p:sp>
        <p:nvSpPr>
          <p:cNvPr name="TextBox 51" id="51"/>
          <p:cNvSpPr txBox="true"/>
          <p:nvPr/>
        </p:nvSpPr>
        <p:spPr>
          <a:xfrm rot="0">
            <a:off x="9189720" y="7240905"/>
            <a:ext cx="8229600" cy="440055"/>
          </a:xfrm>
          <a:prstGeom prst="rect">
            <a:avLst/>
          </a:prstGeom>
        </p:spPr>
        <p:txBody>
          <a:bodyPr anchor="t" rtlCol="false" tIns="0" lIns="0" bIns="0" rIns="0">
            <a:spAutoFit/>
          </a:bodyPr>
          <a:lstStyle/>
          <a:p>
            <a:pPr algn="l">
              <a:lnSpc>
                <a:spcPts val="1980"/>
              </a:lnSpc>
            </a:pPr>
            <a:r>
              <a:rPr lang="en-US" sz="1650">
                <a:solidFill>
                  <a:srgbClr val="A3AEBB"/>
                </a:solidFill>
                <a:latin typeface="Calibri (MS)"/>
                <a:ea typeface="Calibri (MS)"/>
                <a:cs typeface="Calibri (MS)"/>
                <a:sym typeface="Calibri (MS)"/>
              </a:rPr>
              <a:t>Excerpt from main.c: the CPU worker.</a:t>
            </a:r>
          </a:p>
        </p:txBody>
      </p:sp>
      <p:grpSp>
        <p:nvGrpSpPr>
          <p:cNvPr name="Group 52" id="52"/>
          <p:cNvGrpSpPr/>
          <p:nvPr/>
        </p:nvGrpSpPr>
        <p:grpSpPr>
          <a:xfrm rot="0">
            <a:off x="9177814" y="7806214"/>
            <a:ext cx="8253412" cy="1189673"/>
            <a:chOff x="0" y="0"/>
            <a:chExt cx="11004550" cy="1586230"/>
          </a:xfrm>
        </p:grpSpPr>
        <p:sp>
          <p:nvSpPr>
            <p:cNvPr name="Freeform 53" id="53"/>
            <p:cNvSpPr/>
            <p:nvPr/>
          </p:nvSpPr>
          <p:spPr>
            <a:xfrm flipH="false" flipV="false" rot="0">
              <a:off x="0" y="0"/>
              <a:ext cx="11004550" cy="1586230"/>
            </a:xfrm>
            <a:custGeom>
              <a:avLst/>
              <a:gdLst/>
              <a:ahLst/>
              <a:cxnLst/>
              <a:rect r="r" b="b" t="t" l="l"/>
              <a:pathLst>
                <a:path h="1586230" w="11004550">
                  <a:moveTo>
                    <a:pt x="0" y="0"/>
                  </a:moveTo>
                  <a:lnTo>
                    <a:pt x="11004550" y="0"/>
                  </a:lnTo>
                  <a:lnTo>
                    <a:pt x="11004550" y="1586230"/>
                  </a:lnTo>
                  <a:lnTo>
                    <a:pt x="0" y="1586230"/>
                  </a:lnTo>
                  <a:close/>
                </a:path>
              </a:pathLst>
            </a:custGeom>
            <a:solidFill>
              <a:srgbClr val="0E1115"/>
            </a:solidFill>
            <a:ln w="23812" cap="sq">
              <a:solidFill>
                <a:srgbClr val="3A424C"/>
              </a:solidFill>
              <a:prstDash val="solid"/>
              <a:miter/>
            </a:ln>
          </p:spPr>
        </p:sp>
      </p:grpSp>
      <p:grpSp>
        <p:nvGrpSpPr>
          <p:cNvPr name="Group 54" id="54"/>
          <p:cNvGrpSpPr/>
          <p:nvPr/>
        </p:nvGrpSpPr>
        <p:grpSpPr>
          <a:xfrm rot="0">
            <a:off x="9177814" y="7806214"/>
            <a:ext cx="8253412" cy="462724"/>
            <a:chOff x="0" y="0"/>
            <a:chExt cx="11004550" cy="616966"/>
          </a:xfrm>
        </p:grpSpPr>
        <p:sp>
          <p:nvSpPr>
            <p:cNvPr name="Freeform 55" id="55"/>
            <p:cNvSpPr/>
            <p:nvPr/>
          </p:nvSpPr>
          <p:spPr>
            <a:xfrm flipH="false" flipV="false" rot="0">
              <a:off x="0" y="0"/>
              <a:ext cx="11004550" cy="616966"/>
            </a:xfrm>
            <a:custGeom>
              <a:avLst/>
              <a:gdLst/>
              <a:ahLst/>
              <a:cxnLst/>
              <a:rect r="r" b="b" t="t" l="l"/>
              <a:pathLst>
                <a:path h="616966" w="11004550">
                  <a:moveTo>
                    <a:pt x="0" y="0"/>
                  </a:moveTo>
                  <a:lnTo>
                    <a:pt x="11004550" y="0"/>
                  </a:lnTo>
                  <a:lnTo>
                    <a:pt x="11004550" y="616966"/>
                  </a:lnTo>
                  <a:lnTo>
                    <a:pt x="0" y="616966"/>
                  </a:lnTo>
                  <a:close/>
                </a:path>
              </a:pathLst>
            </a:custGeom>
            <a:solidFill>
              <a:srgbClr val="252B32"/>
            </a:solidFill>
            <a:ln w="23812" cap="sq">
              <a:solidFill>
                <a:srgbClr val="3A424C"/>
              </a:solidFill>
              <a:prstDash val="solid"/>
              <a:miter/>
            </a:ln>
          </p:spPr>
        </p:sp>
      </p:grpSp>
      <p:grpSp>
        <p:nvGrpSpPr>
          <p:cNvPr name="Group 56" id="56"/>
          <p:cNvGrpSpPr/>
          <p:nvPr/>
        </p:nvGrpSpPr>
        <p:grpSpPr>
          <a:xfrm rot="0">
            <a:off x="9385935" y="7932039"/>
            <a:ext cx="211074" cy="211074"/>
            <a:chOff x="0" y="0"/>
            <a:chExt cx="281432" cy="281432"/>
          </a:xfrm>
        </p:grpSpPr>
        <p:sp>
          <p:nvSpPr>
            <p:cNvPr name="Freeform 57" id="57"/>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A424C"/>
            </a:solidFill>
            <a:ln w="19050" cap="sq">
              <a:solidFill>
                <a:srgbClr val="3A424C"/>
              </a:solidFill>
              <a:prstDash val="solid"/>
              <a:miter/>
            </a:ln>
          </p:spPr>
        </p:sp>
      </p:grpSp>
      <p:grpSp>
        <p:nvGrpSpPr>
          <p:cNvPr name="Group 58" id="58"/>
          <p:cNvGrpSpPr/>
          <p:nvPr/>
        </p:nvGrpSpPr>
        <p:grpSpPr>
          <a:xfrm rot="0">
            <a:off x="9660255" y="7932039"/>
            <a:ext cx="211074" cy="211074"/>
            <a:chOff x="0" y="0"/>
            <a:chExt cx="281432" cy="281432"/>
          </a:xfrm>
        </p:grpSpPr>
        <p:sp>
          <p:nvSpPr>
            <p:cNvPr name="Freeform 59" id="59"/>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A424C"/>
            </a:solidFill>
            <a:ln w="19050" cap="sq">
              <a:solidFill>
                <a:srgbClr val="3A424C"/>
              </a:solidFill>
              <a:prstDash val="solid"/>
              <a:miter/>
            </a:ln>
          </p:spPr>
        </p:sp>
      </p:grpSp>
      <p:grpSp>
        <p:nvGrpSpPr>
          <p:cNvPr name="Group 60" id="60"/>
          <p:cNvGrpSpPr/>
          <p:nvPr/>
        </p:nvGrpSpPr>
        <p:grpSpPr>
          <a:xfrm rot="0">
            <a:off x="9934575" y="7932039"/>
            <a:ext cx="211074" cy="211074"/>
            <a:chOff x="0" y="0"/>
            <a:chExt cx="281432" cy="281432"/>
          </a:xfrm>
        </p:grpSpPr>
        <p:sp>
          <p:nvSpPr>
            <p:cNvPr name="Freeform 61" id="61"/>
            <p:cNvSpPr/>
            <p:nvPr/>
          </p:nvSpPr>
          <p:spPr>
            <a:xfrm flipH="false" flipV="false" rot="0">
              <a:off x="0" y="0"/>
              <a:ext cx="281432" cy="281432"/>
            </a:xfrm>
            <a:custGeom>
              <a:avLst/>
              <a:gdLst/>
              <a:ahLst/>
              <a:cxnLst/>
              <a:rect r="r" b="b" t="t" l="l"/>
              <a:pathLst>
                <a:path h="281432" w="281432">
                  <a:moveTo>
                    <a:pt x="0" y="140716"/>
                  </a:moveTo>
                  <a:cubicBezTo>
                    <a:pt x="0" y="62992"/>
                    <a:pt x="62992" y="0"/>
                    <a:pt x="140716" y="0"/>
                  </a:cubicBezTo>
                  <a:cubicBezTo>
                    <a:pt x="218440" y="0"/>
                    <a:pt x="281432" y="62992"/>
                    <a:pt x="281432" y="140716"/>
                  </a:cubicBezTo>
                  <a:cubicBezTo>
                    <a:pt x="281432" y="218440"/>
                    <a:pt x="218440" y="281432"/>
                    <a:pt x="140716" y="281432"/>
                  </a:cubicBezTo>
                  <a:cubicBezTo>
                    <a:pt x="62992" y="281432"/>
                    <a:pt x="0" y="218440"/>
                    <a:pt x="0" y="140716"/>
                  </a:cubicBezTo>
                  <a:close/>
                </a:path>
              </a:pathLst>
            </a:custGeom>
            <a:solidFill>
              <a:srgbClr val="3FB67A"/>
            </a:solidFill>
            <a:ln w="19050" cap="sq">
              <a:solidFill>
                <a:srgbClr val="3A424C"/>
              </a:solidFill>
              <a:prstDash val="solid"/>
              <a:miter/>
            </a:ln>
          </p:spPr>
        </p:sp>
      </p:grpSp>
      <p:grpSp>
        <p:nvGrpSpPr>
          <p:cNvPr name="Group 62" id="62"/>
          <p:cNvGrpSpPr/>
          <p:nvPr/>
        </p:nvGrpSpPr>
        <p:grpSpPr>
          <a:xfrm rot="0">
            <a:off x="10355580" y="7818120"/>
            <a:ext cx="2743200" cy="438912"/>
            <a:chOff x="0" y="0"/>
            <a:chExt cx="3657600" cy="585216"/>
          </a:xfrm>
        </p:grpSpPr>
        <p:sp>
          <p:nvSpPr>
            <p:cNvPr name="Freeform 63" id="63"/>
            <p:cNvSpPr/>
            <p:nvPr/>
          </p:nvSpPr>
          <p:spPr>
            <a:xfrm flipH="false" flipV="false" rot="0">
              <a:off x="0" y="0"/>
              <a:ext cx="3657600" cy="585216"/>
            </a:xfrm>
            <a:custGeom>
              <a:avLst/>
              <a:gdLst/>
              <a:ahLst/>
              <a:cxnLst/>
              <a:rect r="r" b="b" t="t" l="l"/>
              <a:pathLst>
                <a:path h="585216" w="3657600">
                  <a:moveTo>
                    <a:pt x="0" y="0"/>
                  </a:moveTo>
                  <a:lnTo>
                    <a:pt x="3657600" y="0"/>
                  </a:lnTo>
                  <a:lnTo>
                    <a:pt x="3657600" y="585216"/>
                  </a:lnTo>
                  <a:lnTo>
                    <a:pt x="0" y="585216"/>
                  </a:lnTo>
                  <a:close/>
                </a:path>
              </a:pathLst>
            </a:custGeom>
            <a:blipFill>
              <a:blip r:embed="rId3">
                <a:alphaModFix amt="0"/>
              </a:blip>
              <a:stretch>
                <a:fillRect l="0" t="-71781" r="0" b="-71781"/>
              </a:stretch>
            </a:blipFill>
          </p:spPr>
        </p:sp>
        <p:sp>
          <p:nvSpPr>
            <p:cNvPr name="TextBox 64" id="64"/>
            <p:cNvSpPr txBox="true"/>
            <p:nvPr/>
          </p:nvSpPr>
          <p:spPr>
            <a:xfrm>
              <a:off x="0" y="-9525"/>
              <a:ext cx="3657600" cy="594741"/>
            </a:xfrm>
            <a:prstGeom prst="rect">
              <a:avLst/>
            </a:prstGeom>
          </p:spPr>
          <p:txBody>
            <a:bodyPr anchor="ctr" rtlCol="false" tIns="0" lIns="0" bIns="0" rIns="0"/>
            <a:lstStyle/>
            <a:p>
              <a:pPr algn="l">
                <a:lnSpc>
                  <a:spcPts val="1800"/>
                </a:lnSpc>
              </a:pPr>
              <a:r>
                <a:rPr lang="en-US" sz="1500">
                  <a:solidFill>
                    <a:srgbClr val="A3AEBB"/>
                  </a:solidFill>
                  <a:latin typeface="Courier New"/>
                  <a:ea typeface="Courier New"/>
                  <a:cs typeface="Courier New"/>
                  <a:sym typeface="Courier New"/>
                </a:rPr>
                <a:t>Terminal</a:t>
              </a:r>
            </a:p>
          </p:txBody>
        </p:sp>
      </p:grpSp>
      <p:sp>
        <p:nvSpPr>
          <p:cNvPr name="TextBox 65" id="65"/>
          <p:cNvSpPr txBox="true"/>
          <p:nvPr/>
        </p:nvSpPr>
        <p:spPr>
          <a:xfrm rot="0">
            <a:off x="9464040" y="8503920"/>
            <a:ext cx="7680960" cy="342900"/>
          </a:xfrm>
          <a:prstGeom prst="rect">
            <a:avLst/>
          </a:prstGeom>
        </p:spPr>
        <p:txBody>
          <a:bodyPr anchor="t" rtlCol="false" tIns="0" lIns="0" bIns="0" rIns="0">
            <a:spAutoFit/>
          </a:bodyPr>
          <a:lstStyle/>
          <a:p>
            <a:pPr algn="l">
              <a:lnSpc>
                <a:spcPts val="1980"/>
              </a:lnSpc>
            </a:pPr>
            <a:r>
              <a:rPr lang="en-US" sz="1650">
                <a:solidFill>
                  <a:srgbClr val="3FB67A"/>
                </a:solidFill>
                <a:latin typeface="Courier New"/>
                <a:ea typeface="Courier New"/>
                <a:cs typeface="Courier New"/>
                <a:sym typeface="Courier New"/>
              </a:rPr>
              <a:t>$ gcc -O2 -std=c11 -Wall -Wextra -Wpedantic main.c -o stress-test -pthread</a:t>
            </a:r>
          </a:p>
        </p:txBody>
      </p:sp>
      <p:sp>
        <p:nvSpPr>
          <p:cNvPr name="TextBox 66" id="66"/>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graphicFrame>
        <p:nvGraphicFramePr>
          <p:cNvPr name="Table 5" id="5"/>
          <p:cNvGraphicFramePr>
            <a:graphicFrameLocks noGrp="true"/>
          </p:cNvGraphicFramePr>
          <p:nvPr/>
        </p:nvGraphicFramePr>
        <p:xfrm>
          <a:off x="822960" y="2125980"/>
          <a:ext cx="16554450" cy="4533900"/>
        </p:xfrm>
        <a:graphic>
          <a:graphicData uri="http://schemas.openxmlformats.org/drawingml/2006/table">
            <a:tbl>
              <a:tblPr/>
              <a:tblGrid>
                <a:gridCol w="2749033"/>
                <a:gridCol w="5324839"/>
                <a:gridCol w="5324839"/>
                <a:gridCol w="3155739"/>
              </a:tblGrid>
              <a:tr h="647700">
                <a:tc>
                  <a:txBody>
                    <a:bodyPr anchor="t" rtlCol="false"/>
                    <a:lstStyle/>
                    <a:p>
                      <a:pPr algn="l">
                        <a:lnSpc>
                          <a:spcPts val="2160"/>
                        </a:lnSpc>
                        <a:defRPr/>
                      </a:pPr>
                      <a:r>
                        <a:rPr lang="en-US" sz="1800" b="true">
                          <a:solidFill>
                            <a:srgbClr val="2F9BFF"/>
                          </a:solidFill>
                          <a:latin typeface="Calibri (MS) Bold"/>
                          <a:ea typeface="Calibri (MS) Bold"/>
                          <a:cs typeface="Calibri (MS) Bold"/>
                          <a:sym typeface="Calibri (MS) Bold"/>
                        </a:rPr>
                        <a:t>Test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252B32"/>
                    </a:solidFill>
                  </a:tcPr>
                </a:tc>
                <a:tc>
                  <a:txBody>
                    <a:bodyPr anchor="t" rtlCol="false"/>
                    <a:lstStyle/>
                    <a:p>
                      <a:pPr algn="l">
                        <a:lnSpc>
                          <a:spcPts val="2160"/>
                        </a:lnSpc>
                        <a:defRPr/>
                      </a:pPr>
                      <a:r>
                        <a:rPr lang="en-US" sz="1800" b="true">
                          <a:solidFill>
                            <a:srgbClr val="2F9BFF"/>
                          </a:solidFill>
                          <a:latin typeface="Calibri (MS) Bold"/>
                          <a:ea typeface="Calibri (MS) Bold"/>
                          <a:cs typeface="Calibri (MS) Bold"/>
                          <a:sym typeface="Calibri (MS) Bold"/>
                        </a:rPr>
                        <a:t>Command</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252B32"/>
                    </a:solidFill>
                  </a:tcPr>
                </a:tc>
                <a:tc>
                  <a:txBody>
                    <a:bodyPr anchor="t" rtlCol="false"/>
                    <a:lstStyle/>
                    <a:p>
                      <a:pPr algn="l">
                        <a:lnSpc>
                          <a:spcPts val="2160"/>
                        </a:lnSpc>
                        <a:defRPr/>
                      </a:pPr>
                      <a:r>
                        <a:rPr lang="en-US" sz="1800" b="true">
                          <a:solidFill>
                            <a:srgbClr val="2F9BFF"/>
                          </a:solidFill>
                          <a:latin typeface="Calibri (MS) Bold"/>
                          <a:ea typeface="Calibri (MS) Bold"/>
                          <a:cs typeface="Calibri (MS) Bold"/>
                          <a:sym typeface="Calibri (MS) Bold"/>
                        </a:rPr>
                        <a:t>Expected result (README)</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252B32"/>
                    </a:solidFill>
                  </a:tcPr>
                </a:tc>
                <a:tc>
                  <a:txBody>
                    <a:bodyPr anchor="t" rtlCol="false"/>
                    <a:lstStyle/>
                    <a:p>
                      <a:pPr algn="l">
                        <a:lnSpc>
                          <a:spcPts val="2160"/>
                        </a:lnSpc>
                        <a:defRPr/>
                      </a:pPr>
                      <a:r>
                        <a:rPr lang="en-US" sz="1800" b="true">
                          <a:solidFill>
                            <a:srgbClr val="2F9BFF"/>
                          </a:solidFill>
                          <a:latin typeface="Calibri (MS) Bold"/>
                          <a:ea typeface="Calibri (MS) Bold"/>
                          <a:cs typeface="Calibri (MS) Bold"/>
                          <a:sym typeface="Calibri (MS) Bold"/>
                        </a:rPr>
                        <a:t>Actual result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252B32"/>
                    </a:solidFill>
                  </a:tcPr>
                </a:tc>
              </a:tr>
              <a:tr h="647700">
                <a:tc>
                  <a:txBody>
                    <a:bodyPr anchor="t" rtlCol="false"/>
                    <a:lstStyle/>
                    <a:p>
                      <a:pPr algn="l">
                        <a:lnSpc>
                          <a:spcPts val="2340"/>
                        </a:lnSpc>
                        <a:defRPr/>
                      </a:pPr>
                      <a:r>
                        <a:rPr lang="en-US" sz="1950" b="true">
                          <a:solidFill>
                            <a:srgbClr val="EDF1F5"/>
                          </a:solidFill>
                          <a:latin typeface="Calibri (MS) Bold"/>
                          <a:ea typeface="Calibri (MS) Bold"/>
                          <a:cs typeface="Calibri (MS) Bold"/>
                          <a:sym typeface="Calibri (MS) Bold"/>
                        </a:rPr>
                        <a:t>Basic run</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8CC8FF"/>
                          </a:solidFill>
                          <a:latin typeface="Courier New"/>
                          <a:ea typeface="Courier New"/>
                          <a:cs typeface="Courier New"/>
                          <a:sym typeface="Courier New"/>
                        </a:rPr>
                        <a:t>./stress-test 5 1 64</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A3AEBB"/>
                          </a:solidFill>
                          <a:latin typeface="Calibri (MS)"/>
                          <a:ea typeface="Calibri (MS)"/>
                          <a:cs typeface="Calibri (MS)"/>
                          <a:sym typeface="Calibri (MS)"/>
                        </a:rPr>
                        <a:t>Runs and completes in about 5 seconds</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1980"/>
                        </a:lnSpc>
                        <a:defRPr/>
                      </a:pPr>
                      <a:r>
                        <a:rPr lang="en-US" sz="1650" i="true">
                          <a:solidFill>
                            <a:srgbClr val="A3AEBB"/>
                          </a:solidFill>
                          <a:latin typeface="Calibri (MS) Italics"/>
                          <a:ea typeface="Calibri (MS) Italics"/>
                          <a:cs typeface="Calibri (MS) Italics"/>
                          <a:sym typeface="Calibri (MS) Italics"/>
                        </a:rPr>
                        <a:t>[Record actual result]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r>
              <a:tr h="647700">
                <a:tc>
                  <a:txBody>
                    <a:bodyPr anchor="t" rtlCol="false"/>
                    <a:lstStyle/>
                    <a:p>
                      <a:pPr algn="l">
                        <a:lnSpc>
                          <a:spcPts val="2340"/>
                        </a:lnSpc>
                        <a:defRPr/>
                      </a:pPr>
                      <a:r>
                        <a:rPr lang="en-US" sz="1950" b="true">
                          <a:solidFill>
                            <a:srgbClr val="EDF1F5"/>
                          </a:solidFill>
                          <a:latin typeface="Calibri (MS) Bold"/>
                          <a:ea typeface="Calibri (MS) Bold"/>
                          <a:cs typeface="Calibri (MS) Bold"/>
                          <a:sym typeface="Calibri (MS) Bold"/>
                        </a:rPr>
                        <a:t>Multiple threads</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8CC8FF"/>
                          </a:solidFill>
                          <a:latin typeface="Courier New"/>
                          <a:ea typeface="Courier New"/>
                          <a:cs typeface="Courier New"/>
                          <a:sym typeface="Courier New"/>
                        </a:rPr>
                        <a:t>./stress-test 10 2 128</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A3AEBB"/>
                          </a:solidFill>
                          <a:latin typeface="Calibri (MS)"/>
                          <a:ea typeface="Calibri (MS)"/>
                          <a:cs typeface="Calibri (MS)"/>
                          <a:sym typeface="Calibri (MS)"/>
                        </a:rPr>
                        <a:t>Reports CPU operations and completes</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1980"/>
                        </a:lnSpc>
                        <a:defRPr/>
                      </a:pPr>
                      <a:r>
                        <a:rPr lang="en-US" sz="1650" i="true">
                          <a:solidFill>
                            <a:srgbClr val="A3AEBB"/>
                          </a:solidFill>
                          <a:latin typeface="Calibri (MS) Italics"/>
                          <a:ea typeface="Calibri (MS) Italics"/>
                          <a:cs typeface="Calibri (MS) Italics"/>
                          <a:sym typeface="Calibri (MS) Italics"/>
                        </a:rPr>
                        <a:t>[Record actual result]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r>
              <a:tr h="647700">
                <a:tc>
                  <a:txBody>
                    <a:bodyPr anchor="t" rtlCol="false"/>
                    <a:lstStyle/>
                    <a:p>
                      <a:pPr algn="l">
                        <a:lnSpc>
                          <a:spcPts val="2340"/>
                        </a:lnSpc>
                        <a:defRPr/>
                      </a:pPr>
                      <a:r>
                        <a:rPr lang="en-US" sz="1950" b="true">
                          <a:solidFill>
                            <a:srgbClr val="EDF1F5"/>
                          </a:solidFill>
                          <a:latin typeface="Calibri (MS) Bold"/>
                          <a:ea typeface="Calibri (MS) Bold"/>
                          <a:cs typeface="Calibri (MS) Bold"/>
                          <a:sym typeface="Calibri (MS) Bold"/>
                        </a:rPr>
                        <a:t>CPU-only</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8CC8FF"/>
                          </a:solidFill>
                          <a:latin typeface="Courier New"/>
                          <a:ea typeface="Courier New"/>
                          <a:cs typeface="Courier New"/>
                          <a:sym typeface="Courier New"/>
                        </a:rPr>
                        <a:t>./stress-test 5 1 0</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A3AEBB"/>
                          </a:solidFill>
                          <a:latin typeface="Calibri (MS)"/>
                          <a:ea typeface="Calibri (MS)"/>
                          <a:cs typeface="Calibri (MS)"/>
                          <a:sym typeface="Calibri (MS)"/>
                        </a:rPr>
                        <a:t>CPU workload runs without allocating memory</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1980"/>
                        </a:lnSpc>
                        <a:defRPr/>
                      </a:pPr>
                      <a:r>
                        <a:rPr lang="en-US" sz="1650" i="true">
                          <a:solidFill>
                            <a:srgbClr val="A3AEBB"/>
                          </a:solidFill>
                          <a:latin typeface="Calibri (MS) Italics"/>
                          <a:ea typeface="Calibri (MS) Italics"/>
                          <a:cs typeface="Calibri (MS) Italics"/>
                          <a:sym typeface="Calibri (MS) Italics"/>
                        </a:rPr>
                        <a:t>[Record actual result]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r>
              <a:tr h="647700">
                <a:tc>
                  <a:txBody>
                    <a:bodyPr anchor="t" rtlCol="false"/>
                    <a:lstStyle/>
                    <a:p>
                      <a:pPr algn="l">
                        <a:lnSpc>
                          <a:spcPts val="2340"/>
                        </a:lnSpc>
                        <a:defRPr/>
                      </a:pPr>
                      <a:r>
                        <a:rPr lang="en-US" sz="1950" b="true">
                          <a:solidFill>
                            <a:srgbClr val="EDF1F5"/>
                          </a:solidFill>
                          <a:latin typeface="Calibri (MS) Bold"/>
                          <a:ea typeface="Calibri (MS) Bold"/>
                          <a:cs typeface="Calibri (MS) Bold"/>
                          <a:sym typeface="Calibri (MS) Bold"/>
                        </a:rPr>
                        <a:t>Invalid duration</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8CC8FF"/>
                          </a:solidFill>
                          <a:latin typeface="Courier New"/>
                          <a:ea typeface="Courier New"/>
                          <a:cs typeface="Courier New"/>
                          <a:sym typeface="Courier New"/>
                        </a:rPr>
                        <a:t>./stress-test 0 1 64</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A3AEBB"/>
                          </a:solidFill>
                          <a:latin typeface="Calibri (MS)"/>
                          <a:ea typeface="Calibri (MS)"/>
                          <a:cs typeface="Calibri (MS)"/>
                          <a:sym typeface="Calibri (MS)"/>
                        </a:rPr>
                        <a:t>Rejects invalid duration</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1980"/>
                        </a:lnSpc>
                        <a:defRPr/>
                      </a:pPr>
                      <a:r>
                        <a:rPr lang="en-US" sz="1650" i="true">
                          <a:solidFill>
                            <a:srgbClr val="A3AEBB"/>
                          </a:solidFill>
                          <a:latin typeface="Calibri (MS) Italics"/>
                          <a:ea typeface="Calibri (MS) Italics"/>
                          <a:cs typeface="Calibri (MS) Italics"/>
                          <a:sym typeface="Calibri (MS) Italics"/>
                        </a:rPr>
                        <a:t>[Record actual result]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r>
              <a:tr h="647700">
                <a:tc>
                  <a:txBody>
                    <a:bodyPr anchor="t" rtlCol="false"/>
                    <a:lstStyle/>
                    <a:p>
                      <a:pPr algn="l">
                        <a:lnSpc>
                          <a:spcPts val="2340"/>
                        </a:lnSpc>
                        <a:defRPr/>
                      </a:pPr>
                      <a:r>
                        <a:rPr lang="en-US" sz="1950" b="true">
                          <a:solidFill>
                            <a:srgbClr val="EDF1F5"/>
                          </a:solidFill>
                          <a:latin typeface="Calibri (MS) Bold"/>
                          <a:ea typeface="Calibri (MS) Bold"/>
                          <a:cs typeface="Calibri (MS) Bold"/>
                          <a:sym typeface="Calibri (MS) Bold"/>
                        </a:rPr>
                        <a:t>Too many threads</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8CC8FF"/>
                          </a:solidFill>
                          <a:latin typeface="Courier New"/>
                          <a:ea typeface="Courier New"/>
                          <a:cs typeface="Courier New"/>
                          <a:sym typeface="Courier New"/>
                        </a:rPr>
                        <a:t>./stress-test 5 999999 64</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A3AEBB"/>
                          </a:solidFill>
                          <a:latin typeface="Calibri (MS)"/>
                          <a:ea typeface="Calibri (MS)"/>
                          <a:cs typeface="Calibri (MS)"/>
                          <a:sym typeface="Calibri (MS)"/>
                        </a:rPr>
                        <a:t>Rejects invalid thread count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1980"/>
                        </a:lnSpc>
                        <a:defRPr/>
                      </a:pPr>
                      <a:r>
                        <a:rPr lang="en-US" sz="1650" i="true">
                          <a:solidFill>
                            <a:srgbClr val="A3AEBB"/>
                          </a:solidFill>
                          <a:latin typeface="Calibri (MS) Italics"/>
                          <a:ea typeface="Calibri (MS) Italics"/>
                          <a:cs typeface="Calibri (MS) Italics"/>
                          <a:sym typeface="Calibri (MS) Italics"/>
                        </a:rPr>
                        <a:t>[Record actual result]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r>
              <a:tr h="647700">
                <a:tc>
                  <a:txBody>
                    <a:bodyPr anchor="t" rtlCol="false"/>
                    <a:lstStyle/>
                    <a:p>
                      <a:pPr algn="l">
                        <a:lnSpc>
                          <a:spcPts val="2340"/>
                        </a:lnSpc>
                        <a:defRPr/>
                      </a:pPr>
                      <a:r>
                        <a:rPr lang="en-US" sz="1950" b="true">
                          <a:solidFill>
                            <a:srgbClr val="EDF1F5"/>
                          </a:solidFill>
                          <a:latin typeface="Calibri (MS) Bold"/>
                          <a:ea typeface="Calibri (MS) Bold"/>
                          <a:cs typeface="Calibri (MS) Bold"/>
                          <a:sym typeface="Calibri (MS) Bold"/>
                        </a:rPr>
                        <a:t>Early stop</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8CC8FF"/>
                          </a:solidFill>
                          <a:latin typeface="Courier New"/>
                          <a:ea typeface="Courier New"/>
                          <a:cs typeface="Courier New"/>
                          <a:sym typeface="Courier New"/>
                        </a:rPr>
                        <a:t>./stress-test 60 2 128, then Ctrl+C</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2160"/>
                        </a:lnSpc>
                        <a:defRPr/>
                      </a:pPr>
                      <a:r>
                        <a:rPr lang="en-US" sz="1800">
                          <a:solidFill>
                            <a:srgbClr val="A3AEBB"/>
                          </a:solidFill>
                          <a:latin typeface="Calibri (MS)"/>
                          <a:ea typeface="Calibri (MS)"/>
                          <a:cs typeface="Calibri (MS)"/>
                          <a:sym typeface="Calibri (MS)"/>
                        </a:rPr>
                        <a:t>Stops and prints summary</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c>
                  <a:txBody>
                    <a:bodyPr anchor="t" rtlCol="false"/>
                    <a:lstStyle/>
                    <a:p>
                      <a:pPr algn="l">
                        <a:lnSpc>
                          <a:spcPts val="1980"/>
                        </a:lnSpc>
                        <a:defRPr/>
                      </a:pPr>
                      <a:r>
                        <a:rPr lang="en-US" sz="1650" i="true">
                          <a:solidFill>
                            <a:srgbClr val="A3AEBB"/>
                          </a:solidFill>
                          <a:latin typeface="Calibri (MS) Italics"/>
                          <a:ea typeface="Calibri (MS) Italics"/>
                          <a:cs typeface="Calibri (MS) Italics"/>
                          <a:sym typeface="Calibri (MS) Italics"/>
                        </a:rPr>
                        <a:t>[Record actual result]</a:t>
                      </a:r>
                      <a:endParaRPr lang="en-US" sz="1100"/>
                    </a:p>
                  </a:txBody>
                  <a:tcPr marL="91440" marR="91440" marT="91440" marB="91440" anchor="ctr">
                    <a:lnL cmpd="sng" algn="ctr" cap="flat" w="12700">
                      <a:solidFill>
                        <a:srgbClr val="3A424C"/>
                      </a:solidFill>
                      <a:prstDash val="solid"/>
                      <a:round/>
                      <a:headEnd type="none" w="med" len="med"/>
                      <a:tailEnd type="none" w="med" len="med"/>
                    </a:lnL>
                    <a:lnR cmpd="sng" algn="ctr" cap="flat" w="12700">
                      <a:solidFill>
                        <a:srgbClr val="3A424C"/>
                      </a:solidFill>
                      <a:prstDash val="solid"/>
                      <a:round/>
                      <a:headEnd type="none" w="med" len="med"/>
                      <a:tailEnd type="none" w="med" len="med"/>
                    </a:lnR>
                    <a:lnT cmpd="sng" algn="ctr" cap="flat" w="12700">
                      <a:solidFill>
                        <a:srgbClr val="3A424C"/>
                      </a:solidFill>
                      <a:prstDash val="solid"/>
                      <a:round/>
                      <a:headEnd type="none" w="med" len="med"/>
                      <a:tailEnd type="none" w="med" len="med"/>
                    </a:lnT>
                    <a:lnB cmpd="sng" algn="ctr" cap="flat" w="12700">
                      <a:solidFill>
                        <a:srgbClr val="3A424C"/>
                      </a:solidFill>
                      <a:prstDash val="solid"/>
                      <a:round/>
                      <a:headEnd type="none" w="med" len="med"/>
                      <a:tailEnd type="none" w="med" len="med"/>
                    </a:lnB>
                    <a:solidFill>
                      <a:srgbClr val="1B1F24"/>
                    </a:solidFill>
                  </a:tcPr>
                </a:tc>
              </a:tr>
            </a:tbl>
          </a:graphicData>
        </a:graphic>
      </p:graphicFrame>
      <p:grpSp>
        <p:nvGrpSpPr>
          <p:cNvPr name="Group 6" id="6"/>
          <p:cNvGrpSpPr/>
          <p:nvPr/>
        </p:nvGrpSpPr>
        <p:grpSpPr>
          <a:xfrm rot="0">
            <a:off x="822960" y="6840855"/>
            <a:ext cx="8465113" cy="2656498"/>
            <a:chOff x="0" y="0"/>
            <a:chExt cx="11286817" cy="3541998"/>
          </a:xfrm>
        </p:grpSpPr>
        <p:sp>
          <p:nvSpPr>
            <p:cNvPr name="Freeform 7" id="7"/>
            <p:cNvSpPr/>
            <p:nvPr/>
          </p:nvSpPr>
          <p:spPr>
            <a:xfrm flipH="false" flipV="false" rot="0">
              <a:off x="0" y="0"/>
              <a:ext cx="11286816" cy="3541998"/>
            </a:xfrm>
            <a:custGeom>
              <a:avLst/>
              <a:gdLst/>
              <a:ahLst/>
              <a:cxnLst/>
              <a:rect r="r" b="b" t="t" l="l"/>
              <a:pathLst>
                <a:path h="3541998" w="11286816">
                  <a:moveTo>
                    <a:pt x="0" y="0"/>
                  </a:moveTo>
                  <a:lnTo>
                    <a:pt x="11286816" y="0"/>
                  </a:lnTo>
                  <a:lnTo>
                    <a:pt x="11286816" y="3541998"/>
                  </a:lnTo>
                  <a:lnTo>
                    <a:pt x="0" y="3541998"/>
                  </a:lnTo>
                  <a:close/>
                </a:path>
              </a:pathLst>
            </a:custGeom>
            <a:blipFill>
              <a:blip r:embed="rId4"/>
              <a:stretch>
                <a:fillRect l="0" t="-39622" r="0" b="-39622"/>
              </a:stretch>
            </a:blipFill>
            <a:ln w="23812" cap="sq">
              <a:solidFill>
                <a:srgbClr val="A3AEBB"/>
              </a:solidFill>
              <a:prstDash val="dash"/>
              <a:miter/>
            </a:ln>
          </p:spPr>
        </p:sp>
      </p:grpSp>
      <p:grpSp>
        <p:nvGrpSpPr>
          <p:cNvPr name="Group 8" id="8"/>
          <p:cNvGrpSpPr/>
          <p:nvPr/>
        </p:nvGrpSpPr>
        <p:grpSpPr>
          <a:xfrm rot="0">
            <a:off x="10631069" y="6840855"/>
            <a:ext cx="6800157" cy="2656498"/>
            <a:chOff x="0" y="0"/>
            <a:chExt cx="9066876" cy="3541998"/>
          </a:xfrm>
        </p:grpSpPr>
        <p:sp>
          <p:nvSpPr>
            <p:cNvPr name="Freeform 9" id="9"/>
            <p:cNvSpPr/>
            <p:nvPr/>
          </p:nvSpPr>
          <p:spPr>
            <a:xfrm flipH="false" flipV="false" rot="0">
              <a:off x="0" y="0"/>
              <a:ext cx="9066876" cy="3541998"/>
            </a:xfrm>
            <a:custGeom>
              <a:avLst/>
              <a:gdLst/>
              <a:ahLst/>
              <a:cxnLst/>
              <a:rect r="r" b="b" t="t" l="l"/>
              <a:pathLst>
                <a:path h="3541998" w="9066876">
                  <a:moveTo>
                    <a:pt x="0" y="0"/>
                  </a:moveTo>
                  <a:lnTo>
                    <a:pt x="9066876" y="0"/>
                  </a:lnTo>
                  <a:lnTo>
                    <a:pt x="9066876" y="3541998"/>
                  </a:lnTo>
                  <a:lnTo>
                    <a:pt x="0" y="3541998"/>
                  </a:lnTo>
                  <a:close/>
                </a:path>
              </a:pathLst>
            </a:custGeom>
            <a:blipFill>
              <a:blip r:embed="rId5"/>
              <a:stretch>
                <a:fillRect l="-2753" t="0" r="-2753" b="0"/>
              </a:stretch>
            </a:blipFill>
            <a:ln w="23812" cap="sq">
              <a:solidFill>
                <a:srgbClr val="A3AEBB"/>
              </a:solidFill>
              <a:prstDash val="dash"/>
              <a:miter/>
            </a:ln>
          </p:spPr>
        </p:sp>
      </p:grpSp>
      <p:sp>
        <p:nvSpPr>
          <p:cNvPr name="TextBox 10" id="10"/>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07  TESTING AND RESULTS</a:t>
            </a:r>
          </a:p>
        </p:txBody>
      </p:sp>
      <p:sp>
        <p:nvSpPr>
          <p:cNvPr name="TextBox 11" id="11"/>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Test cases from the README (results pending)</a:t>
            </a:r>
          </a:p>
        </p:txBody>
      </p:sp>
      <p:sp>
        <p:nvSpPr>
          <p:cNvPr name="TextBox 12" id="12"/>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sp>
        <p:nvSpPr>
          <p:cNvPr name="TextBox 5" id="5"/>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08  APPLICATIONS, LIMITS, FUTURE SCOPE</a:t>
            </a:r>
          </a:p>
        </p:txBody>
      </p:sp>
      <p:sp>
        <p:nvSpPr>
          <p:cNvPr name="TextBox 6" id="6"/>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Current state and next steps</a:t>
            </a:r>
          </a:p>
        </p:txBody>
      </p:sp>
      <p:sp>
        <p:nvSpPr>
          <p:cNvPr name="TextBox 7" id="7"/>
          <p:cNvSpPr txBox="true"/>
          <p:nvPr/>
        </p:nvSpPr>
        <p:spPr>
          <a:xfrm rot="0">
            <a:off x="822960" y="2196465"/>
            <a:ext cx="9601200" cy="615315"/>
          </a:xfrm>
          <a:prstGeom prst="rect">
            <a:avLst/>
          </a:prstGeom>
        </p:spPr>
        <p:txBody>
          <a:bodyPr anchor="t" rtlCol="false" tIns="0" lIns="0" bIns="0" rIns="0">
            <a:spAutoFit/>
          </a:bodyPr>
          <a:lstStyle/>
          <a:p>
            <a:pPr algn="l">
              <a:lnSpc>
                <a:spcPts val="3600"/>
              </a:lnSpc>
            </a:pPr>
            <a:r>
              <a:rPr lang="en-US" sz="3000" b="true">
                <a:solidFill>
                  <a:srgbClr val="2F9BFF"/>
                </a:solidFill>
                <a:latin typeface="Calibri (MS) Bold"/>
                <a:ea typeface="Calibri (MS) Bold"/>
                <a:cs typeface="Calibri (MS) Bold"/>
                <a:sym typeface="Calibri (MS) Bold"/>
              </a:rPr>
              <a:t>Applications</a:t>
            </a:r>
          </a:p>
        </p:txBody>
      </p:sp>
      <p:sp>
        <p:nvSpPr>
          <p:cNvPr name="TextBox 8" id="8"/>
          <p:cNvSpPr txBox="true"/>
          <p:nvPr/>
        </p:nvSpPr>
        <p:spPr>
          <a:xfrm rot="0">
            <a:off x="822960" y="2891790"/>
            <a:ext cx="9601200" cy="1840230"/>
          </a:xfrm>
          <a:prstGeom prst="rect">
            <a:avLst/>
          </a:prstGeom>
        </p:spPr>
        <p:txBody>
          <a:bodyPr anchor="t" rtlCol="false" tIns="0" lIns="0" bIns="0" rIns="0">
            <a:spAutoFit/>
          </a:bodyPr>
          <a:lstStyle/>
          <a:p>
            <a:pPr algn="l" marL="407194" indent="-203597" lvl="1">
              <a:lnSpc>
                <a:spcPts val="2700"/>
              </a:lnSpc>
              <a:buFont typeface="Arial"/>
              <a:buChar char="•"/>
            </a:pPr>
            <a:r>
              <a:rPr lang="en-US" sz="2250">
                <a:solidFill>
                  <a:srgbClr val="EDF1F5"/>
                </a:solidFill>
                <a:latin typeface="Calibri (MS)"/>
                <a:ea typeface="Calibri (MS)"/>
                <a:cs typeface="Calibri (MS)"/>
                <a:sym typeface="Calibri (MS)"/>
              </a:rPr>
              <a:t>Educational demonstrations of threads and memory</a:t>
            </a:r>
          </a:p>
          <a:p>
            <a:pPr algn="l" marL="407194" indent="-203597" lvl="1">
              <a:lnSpc>
                <a:spcPts val="2700"/>
              </a:lnSpc>
              <a:buFont typeface="Arial"/>
              <a:buChar char="•"/>
            </a:pPr>
            <a:r>
              <a:rPr lang="en-US" sz="2250">
                <a:solidFill>
                  <a:srgbClr val="EDF1F5"/>
                </a:solidFill>
                <a:latin typeface="Calibri (MS)"/>
                <a:ea typeface="Calibri (MS)"/>
                <a:cs typeface="Calibri (MS)"/>
                <a:sym typeface="Calibri (MS)"/>
              </a:rPr>
              <a:t>Controlled workload experiments</a:t>
            </a:r>
          </a:p>
          <a:p>
            <a:pPr algn="l" marL="407194" indent="-203597" lvl="1">
              <a:lnSpc>
                <a:spcPts val="2700"/>
              </a:lnSpc>
              <a:buFont typeface="Arial"/>
              <a:buChar char="•"/>
            </a:pPr>
            <a:r>
              <a:rPr lang="en-US" sz="2250">
                <a:solidFill>
                  <a:srgbClr val="EDF1F5"/>
                </a:solidFill>
                <a:latin typeface="Calibri (MS)"/>
                <a:ea typeface="Calibri (MS)"/>
                <a:cs typeface="Calibri (MS)"/>
                <a:sym typeface="Calibri (MS)"/>
              </a:rPr>
              <a:t>Observing system resources while under load</a:t>
            </a:r>
          </a:p>
        </p:txBody>
      </p:sp>
      <p:sp>
        <p:nvSpPr>
          <p:cNvPr name="TextBox 9" id="9"/>
          <p:cNvSpPr txBox="true"/>
          <p:nvPr/>
        </p:nvSpPr>
        <p:spPr>
          <a:xfrm rot="0">
            <a:off x="822960" y="4939665"/>
            <a:ext cx="9601200" cy="615315"/>
          </a:xfrm>
          <a:prstGeom prst="rect">
            <a:avLst/>
          </a:prstGeom>
        </p:spPr>
        <p:txBody>
          <a:bodyPr anchor="t" rtlCol="false" tIns="0" lIns="0" bIns="0" rIns="0">
            <a:spAutoFit/>
          </a:bodyPr>
          <a:lstStyle/>
          <a:p>
            <a:pPr algn="l">
              <a:lnSpc>
                <a:spcPts val="3600"/>
              </a:lnSpc>
            </a:pPr>
            <a:r>
              <a:rPr lang="en-US" sz="3000" b="true">
                <a:solidFill>
                  <a:srgbClr val="3FB67A"/>
                </a:solidFill>
                <a:latin typeface="Calibri (MS) Bold"/>
                <a:ea typeface="Calibri (MS) Bold"/>
                <a:cs typeface="Calibri (MS) Bold"/>
                <a:sym typeface="Calibri (MS) Bold"/>
              </a:rPr>
              <a:t>Current limitations</a:t>
            </a:r>
          </a:p>
        </p:txBody>
      </p:sp>
      <p:sp>
        <p:nvSpPr>
          <p:cNvPr name="TextBox 10" id="10"/>
          <p:cNvSpPr txBox="true"/>
          <p:nvPr/>
        </p:nvSpPr>
        <p:spPr>
          <a:xfrm rot="0">
            <a:off x="822960" y="5634990"/>
            <a:ext cx="9601200" cy="3074670"/>
          </a:xfrm>
          <a:prstGeom prst="rect">
            <a:avLst/>
          </a:prstGeom>
        </p:spPr>
        <p:txBody>
          <a:bodyPr anchor="t" rtlCol="false" tIns="0" lIns="0" bIns="0" rIns="0">
            <a:spAutoFit/>
          </a:bodyPr>
          <a:lstStyle/>
          <a:p>
            <a:pPr algn="l" marL="407194" indent="-203597" lvl="1">
              <a:lnSpc>
                <a:spcPts val="2700"/>
              </a:lnSpc>
              <a:buFont typeface="Arial"/>
              <a:buChar char="•"/>
            </a:pPr>
            <a:r>
              <a:rPr lang="en-US" sz="2250">
                <a:solidFill>
                  <a:srgbClr val="EDF1F5"/>
                </a:solidFill>
                <a:latin typeface="Calibri (MS)"/>
                <a:ea typeface="Calibri (MS)"/>
                <a:cs typeface="Calibri (MS)"/>
                <a:sym typeface="Calibri (MS)"/>
              </a:rPr>
              <a:t>Operation counts are not standardized benchmark scores</a:t>
            </a:r>
          </a:p>
          <a:p>
            <a:pPr algn="l" marL="407194" indent="-203597" lvl="1">
              <a:lnSpc>
                <a:spcPts val="2700"/>
              </a:lnSpc>
              <a:buFont typeface="Arial"/>
              <a:buChar char="•"/>
            </a:pPr>
            <a:r>
              <a:rPr lang="en-US" sz="2250">
                <a:solidFill>
                  <a:srgbClr val="EDF1F5"/>
                </a:solidFill>
                <a:latin typeface="Calibri (MS)"/>
                <a:ea typeface="Calibri (MS)"/>
                <a:cs typeface="Calibri (MS)"/>
                <a:sym typeface="Calibri (MS)"/>
              </a:rPr>
              <a:t>The checksum is not a complete RAM-integrity test</a:t>
            </a:r>
          </a:p>
          <a:p>
            <a:pPr algn="l" marL="407194" indent="-203597" lvl="1">
              <a:lnSpc>
                <a:spcPts val="2700"/>
              </a:lnSpc>
              <a:buFont typeface="Arial"/>
              <a:buChar char="•"/>
            </a:pPr>
            <a:r>
              <a:rPr lang="en-US" sz="2250">
                <a:solidFill>
                  <a:srgbClr val="EDF1F5"/>
                </a:solidFill>
                <a:latin typeface="Calibri (MS)"/>
                <a:ea typeface="Calibri (MS)"/>
                <a:cs typeface="Calibri (MS)"/>
                <a:sym typeface="Calibri (MS)"/>
              </a:rPr>
              <a:t>CPU temperature and frequency are not measured</a:t>
            </a:r>
          </a:p>
          <a:p>
            <a:pPr algn="l" marL="407194" indent="-203597" lvl="1">
              <a:lnSpc>
                <a:spcPts val="2700"/>
              </a:lnSpc>
              <a:buFont typeface="Arial"/>
              <a:buChar char="•"/>
            </a:pPr>
            <a:r>
              <a:rPr lang="en-US" sz="2250">
                <a:solidFill>
                  <a:srgbClr val="EDF1F5"/>
                </a:solidFill>
                <a:latin typeface="Calibri (MS)"/>
                <a:ea typeface="Calibri (MS)"/>
                <a:cs typeface="Calibri (MS)"/>
                <a:sym typeface="Calibri (MS)"/>
              </a:rPr>
              <a:t>Memory availability can change during execution</a:t>
            </a:r>
          </a:p>
        </p:txBody>
      </p:sp>
      <p:sp>
        <p:nvSpPr>
          <p:cNvPr name="AutoShape 11" id="11"/>
          <p:cNvSpPr/>
          <p:nvPr/>
        </p:nvSpPr>
        <p:spPr>
          <a:xfrm rot="5390280">
            <a:off x="7602845" y="5618797"/>
            <a:ext cx="6739919" cy="0"/>
          </a:xfrm>
          <a:prstGeom prst="line">
            <a:avLst/>
          </a:prstGeom>
          <a:ln cap="rnd" w="9525">
            <a:solidFill>
              <a:srgbClr val="3A424C"/>
            </a:solidFill>
            <a:prstDash val="solid"/>
            <a:headEnd type="none" len="sm" w="sm"/>
            <a:tailEnd type="none" len="sm" w="sm"/>
          </a:ln>
        </p:spPr>
      </p:sp>
      <p:grpSp>
        <p:nvGrpSpPr>
          <p:cNvPr name="Group 12" id="12"/>
          <p:cNvGrpSpPr/>
          <p:nvPr/>
        </p:nvGrpSpPr>
        <p:grpSpPr>
          <a:xfrm rot="0">
            <a:off x="11511915" y="2322195"/>
            <a:ext cx="5916930" cy="403098"/>
            <a:chOff x="0" y="0"/>
            <a:chExt cx="7889240" cy="537464"/>
          </a:xfrm>
        </p:grpSpPr>
        <p:sp>
          <p:nvSpPr>
            <p:cNvPr name="Freeform 13" id="13"/>
            <p:cNvSpPr/>
            <p:nvPr/>
          </p:nvSpPr>
          <p:spPr>
            <a:xfrm flipH="false" flipV="false" rot="0">
              <a:off x="0" y="0"/>
              <a:ext cx="7889239" cy="537464"/>
            </a:xfrm>
            <a:custGeom>
              <a:avLst/>
              <a:gdLst/>
              <a:ahLst/>
              <a:cxnLst/>
              <a:rect r="r" b="b" t="t" l="l"/>
              <a:pathLst>
                <a:path h="537464" w="7889239">
                  <a:moveTo>
                    <a:pt x="0" y="268732"/>
                  </a:moveTo>
                  <a:cubicBezTo>
                    <a:pt x="0" y="120269"/>
                    <a:pt x="120269" y="0"/>
                    <a:pt x="268732" y="0"/>
                  </a:cubicBezTo>
                  <a:lnTo>
                    <a:pt x="7620508" y="0"/>
                  </a:lnTo>
                  <a:cubicBezTo>
                    <a:pt x="7768971" y="0"/>
                    <a:pt x="7889239" y="120269"/>
                    <a:pt x="7889239" y="268732"/>
                  </a:cubicBezTo>
                  <a:cubicBezTo>
                    <a:pt x="7889239" y="417195"/>
                    <a:pt x="7768971" y="537464"/>
                    <a:pt x="7620508" y="537464"/>
                  </a:cubicBezTo>
                  <a:lnTo>
                    <a:pt x="268732" y="537464"/>
                  </a:lnTo>
                  <a:cubicBezTo>
                    <a:pt x="120269" y="537464"/>
                    <a:pt x="0" y="417195"/>
                    <a:pt x="0" y="268732"/>
                  </a:cubicBezTo>
                  <a:close/>
                </a:path>
              </a:pathLst>
            </a:custGeom>
            <a:solidFill>
              <a:srgbClr val="1B1F24"/>
            </a:solidFill>
            <a:ln w="19050" cap="sq">
              <a:solidFill>
                <a:srgbClr val="2F9BFF"/>
              </a:solidFill>
              <a:prstDash val="solid"/>
              <a:miter/>
            </a:ln>
          </p:spPr>
        </p:sp>
      </p:grpSp>
      <p:grpSp>
        <p:nvGrpSpPr>
          <p:cNvPr name="Group 14" id="14"/>
          <p:cNvGrpSpPr/>
          <p:nvPr/>
        </p:nvGrpSpPr>
        <p:grpSpPr>
          <a:xfrm rot="0">
            <a:off x="11521440" y="2331720"/>
            <a:ext cx="5897880" cy="384048"/>
            <a:chOff x="0" y="0"/>
            <a:chExt cx="7863840" cy="512064"/>
          </a:xfrm>
        </p:grpSpPr>
        <p:sp>
          <p:nvSpPr>
            <p:cNvPr name="Freeform 15" id="15"/>
            <p:cNvSpPr/>
            <p:nvPr/>
          </p:nvSpPr>
          <p:spPr>
            <a:xfrm flipH="false" flipV="false" rot="0">
              <a:off x="0" y="0"/>
              <a:ext cx="7863840" cy="512064"/>
            </a:xfrm>
            <a:custGeom>
              <a:avLst/>
              <a:gdLst/>
              <a:ahLst/>
              <a:cxnLst/>
              <a:rect r="r" b="b" t="t" l="l"/>
              <a:pathLst>
                <a:path h="512064" w="7863840">
                  <a:moveTo>
                    <a:pt x="0" y="0"/>
                  </a:moveTo>
                  <a:lnTo>
                    <a:pt x="7863840" y="0"/>
                  </a:lnTo>
                  <a:lnTo>
                    <a:pt x="7863840" y="512064"/>
                  </a:lnTo>
                  <a:lnTo>
                    <a:pt x="0" y="512064"/>
                  </a:lnTo>
                  <a:close/>
                </a:path>
              </a:pathLst>
            </a:custGeom>
            <a:blipFill>
              <a:blip r:embed="rId3">
                <a:alphaModFix amt="0"/>
              </a:blip>
              <a:stretch>
                <a:fillRect l="0" t="-249234" r="0" b="-249234"/>
              </a:stretch>
            </a:blipFill>
          </p:spPr>
        </p:sp>
        <p:sp>
          <p:nvSpPr>
            <p:cNvPr name="TextBox 16" id="16"/>
            <p:cNvSpPr txBox="true"/>
            <p:nvPr/>
          </p:nvSpPr>
          <p:spPr>
            <a:xfrm>
              <a:off x="0" y="-9525"/>
              <a:ext cx="7863840" cy="521589"/>
            </a:xfrm>
            <a:prstGeom prst="rect">
              <a:avLst/>
            </a:prstGeom>
          </p:spPr>
          <p:txBody>
            <a:bodyPr anchor="ctr" rtlCol="false" tIns="0" lIns="0" bIns="0" rIns="0"/>
            <a:lstStyle/>
            <a:p>
              <a:pPr algn="ctr">
                <a:lnSpc>
                  <a:spcPts val="1800"/>
                </a:lnSpc>
              </a:pPr>
              <a:r>
                <a:rPr lang="en-US" sz="1500" b="true">
                  <a:solidFill>
                    <a:srgbClr val="2F9BFF"/>
                  </a:solidFill>
                  <a:latin typeface="Courier New Bold"/>
                  <a:ea typeface="Courier New Bold"/>
                  <a:cs typeface="Courier New Bold"/>
                  <a:sym typeface="Courier New Bold"/>
                </a:rPr>
                <a:t>FUTURE WORK. NOT IMPLEMENTED</a:t>
              </a:r>
            </a:p>
          </p:txBody>
        </p:sp>
      </p:grpSp>
      <p:sp>
        <p:nvSpPr>
          <p:cNvPr name="TextBox 17" id="17"/>
          <p:cNvSpPr txBox="true"/>
          <p:nvPr/>
        </p:nvSpPr>
        <p:spPr>
          <a:xfrm rot="0">
            <a:off x="11521440" y="3116580"/>
            <a:ext cx="5897880" cy="4152900"/>
          </a:xfrm>
          <a:prstGeom prst="rect">
            <a:avLst/>
          </a:prstGeom>
        </p:spPr>
        <p:txBody>
          <a:bodyPr anchor="t" rtlCol="false" tIns="0" lIns="0" bIns="0" rIns="0">
            <a:spAutoFit/>
          </a:bodyPr>
          <a:lstStyle/>
          <a:p>
            <a:pPr algn="l" marL="434340" indent="-217170" lvl="1">
              <a:lnSpc>
                <a:spcPts val="2879"/>
              </a:lnSpc>
              <a:buFont typeface="Arial"/>
              <a:buChar char="•"/>
            </a:pPr>
            <a:r>
              <a:rPr lang="en-US" sz="2400">
                <a:solidFill>
                  <a:srgbClr val="A3AEBB"/>
                </a:solidFill>
                <a:latin typeface="Calibri (MS)"/>
                <a:ea typeface="Calibri (MS)"/>
                <a:cs typeface="Calibri (MS)"/>
                <a:sym typeface="Calibri (MS)"/>
              </a:rPr>
              <a:t>CSV logging</a:t>
            </a:r>
          </a:p>
          <a:p>
            <a:pPr algn="l" marL="434340" indent="-217170" lvl="1">
              <a:lnSpc>
                <a:spcPts val="2879"/>
              </a:lnSpc>
              <a:buFont typeface="Arial"/>
              <a:buChar char="•"/>
            </a:pPr>
            <a:r>
              <a:rPr lang="en-US" sz="2400">
                <a:solidFill>
                  <a:srgbClr val="A3AEBB"/>
                </a:solidFill>
                <a:latin typeface="Calibri (MS)"/>
                <a:ea typeface="Calibri (MS)"/>
                <a:cs typeface="Calibri (MS)"/>
                <a:sym typeface="Calibri (MS)"/>
              </a:rPr>
              <a:t>Additional workload profiles</a:t>
            </a:r>
          </a:p>
          <a:p>
            <a:pPr algn="l" marL="434340" indent="-217170" lvl="1">
              <a:lnSpc>
                <a:spcPts val="2879"/>
              </a:lnSpc>
              <a:buFont typeface="Arial"/>
              <a:buChar char="•"/>
            </a:pPr>
            <a:r>
              <a:rPr lang="en-US" sz="2400">
                <a:solidFill>
                  <a:srgbClr val="A3AEBB"/>
                </a:solidFill>
                <a:latin typeface="Calibri (MS)"/>
                <a:ea typeface="Calibri (MS)"/>
                <a:cs typeface="Calibri (MS)"/>
                <a:sym typeface="Calibri (MS)"/>
              </a:rPr>
              <a:t>Structured reports</a:t>
            </a:r>
          </a:p>
          <a:p>
            <a:pPr algn="l" marL="434340" indent="-217170" lvl="1">
              <a:lnSpc>
                <a:spcPts val="2879"/>
              </a:lnSpc>
              <a:buFont typeface="Arial"/>
              <a:buChar char="•"/>
            </a:pPr>
            <a:r>
              <a:rPr lang="en-US" sz="2400">
                <a:solidFill>
                  <a:srgbClr val="A3AEBB"/>
                </a:solidFill>
                <a:latin typeface="Calibri (MS)"/>
                <a:ea typeface="Calibri (MS)"/>
                <a:cs typeface="Calibri (MS)"/>
                <a:sym typeface="Calibri (MS)"/>
              </a:rPr>
              <a:t>Temperature monitoring where supported</a:t>
            </a:r>
          </a:p>
          <a:p>
            <a:pPr algn="l" marL="434340" indent="-217170" lvl="1">
              <a:lnSpc>
                <a:spcPts val="2879"/>
              </a:lnSpc>
              <a:buFont typeface="Arial"/>
              <a:buChar char="•"/>
            </a:pPr>
            <a:r>
              <a:rPr lang="en-US" sz="2400">
                <a:solidFill>
                  <a:srgbClr val="A3AEBB"/>
                </a:solidFill>
                <a:latin typeface="Calibri (MS)"/>
                <a:ea typeface="Calibri (MS)"/>
                <a:cs typeface="Calibri (MS)"/>
                <a:sym typeface="Calibri (MS)"/>
              </a:rPr>
              <a:t>Graphical dashboard</a:t>
            </a:r>
          </a:p>
        </p:txBody>
      </p:sp>
      <p:sp>
        <p:nvSpPr>
          <p:cNvPr name="TextBox 18" id="18"/>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B1F24"/>
        </a:solidFill>
      </p:bgPr>
    </p:bg>
    <p:spTree>
      <p:nvGrpSpPr>
        <p:cNvPr id="1" name=""/>
        <p:cNvGrpSpPr/>
        <p:nvPr/>
      </p:nvGrpSpPr>
      <p:grpSpPr>
        <a:xfrm>
          <a:off x="0" y="0"/>
          <a:ext cx="0" cy="0"/>
          <a:chOff x="0" y="0"/>
          <a:chExt cx="0" cy="0"/>
        </a:xfrm>
      </p:grpSpPr>
      <p:grpSp>
        <p:nvGrpSpPr>
          <p:cNvPr name="Group 2" id="2"/>
          <p:cNvGrpSpPr/>
          <p:nvPr/>
        </p:nvGrpSpPr>
        <p:grpSpPr>
          <a:xfrm rot="0">
            <a:off x="822960" y="9669780"/>
            <a:ext cx="12344400" cy="411480"/>
            <a:chOff x="0" y="0"/>
            <a:chExt cx="16459200" cy="548640"/>
          </a:xfrm>
        </p:grpSpPr>
        <p:sp>
          <p:nvSpPr>
            <p:cNvPr name="Freeform 3" id="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 id="4"/>
            <p:cNvSpPr txBox="true"/>
            <p:nvPr/>
          </p:nvSpPr>
          <p:spPr>
            <a:xfrm>
              <a:off x="0" y="-38100"/>
              <a:ext cx="16459200" cy="586740"/>
            </a:xfrm>
            <a:prstGeom prst="rect">
              <a:avLst/>
            </a:prstGeom>
          </p:spPr>
          <p:txBody>
            <a:bodyPr anchor="ctr" rtlCol="false" tIns="0" lIns="0" bIns="0" rIns="0"/>
            <a:lstStyle/>
            <a:p>
              <a:pPr algn="l">
                <a:lnSpc>
                  <a:spcPts val="1800"/>
                </a:lnSpc>
              </a:pPr>
              <a:r>
                <a:rPr lang="en-US" sz="1500">
                  <a:solidFill>
                    <a:srgbClr val="A3AEBB"/>
                  </a:solidFill>
                  <a:latin typeface="Calibri (MS)"/>
                  <a:ea typeface="Calibri (MS)"/>
                  <a:cs typeface="Calibri (MS)"/>
                  <a:sym typeface="Calibri (MS)"/>
                </a:rPr>
                <a:t>CPU and Memory Stress Testing Tool  |  C / Linux command-line utility</a:t>
              </a:r>
            </a:p>
          </p:txBody>
        </p:sp>
      </p:grpSp>
      <p:grpSp>
        <p:nvGrpSpPr>
          <p:cNvPr name="Group 5" id="5"/>
          <p:cNvGrpSpPr/>
          <p:nvPr/>
        </p:nvGrpSpPr>
        <p:grpSpPr>
          <a:xfrm rot="0">
            <a:off x="7671435" y="2390775"/>
            <a:ext cx="704850" cy="704850"/>
            <a:chOff x="0" y="0"/>
            <a:chExt cx="939800" cy="939800"/>
          </a:xfrm>
        </p:grpSpPr>
        <p:sp>
          <p:nvSpPr>
            <p:cNvPr name="Freeform 6" id="6"/>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2F9BFF"/>
            </a:solidFill>
            <a:ln w="19050" cap="sq">
              <a:solidFill>
                <a:srgbClr val="2F9BFF"/>
              </a:solidFill>
              <a:prstDash val="solid"/>
              <a:miter/>
            </a:ln>
          </p:spPr>
        </p:sp>
      </p:grpSp>
      <p:grpSp>
        <p:nvGrpSpPr>
          <p:cNvPr name="Group 7" id="7"/>
          <p:cNvGrpSpPr/>
          <p:nvPr/>
        </p:nvGrpSpPr>
        <p:grpSpPr>
          <a:xfrm rot="0">
            <a:off x="7680960" y="2400300"/>
            <a:ext cx="685800" cy="685800"/>
            <a:chOff x="0" y="0"/>
            <a:chExt cx="914400" cy="914400"/>
          </a:xfrm>
        </p:grpSpPr>
        <p:sp>
          <p:nvSpPr>
            <p:cNvPr name="Freeform 8" id="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9" id="9"/>
            <p:cNvSpPr txBox="true"/>
            <p:nvPr/>
          </p:nvSpPr>
          <p:spPr>
            <a:xfrm>
              <a:off x="0" y="-57150"/>
              <a:ext cx="914400" cy="971550"/>
            </a:xfrm>
            <a:prstGeom prst="rect">
              <a:avLst/>
            </a:prstGeom>
          </p:spPr>
          <p:txBody>
            <a:bodyPr anchor="ctr" rtlCol="false" tIns="0" lIns="0" bIns="0" rIns="0"/>
            <a:lstStyle/>
            <a:p>
              <a:pPr algn="ctr">
                <a:lnSpc>
                  <a:spcPts val="2700"/>
                </a:lnSpc>
              </a:pPr>
              <a:r>
                <a:rPr lang="en-US" sz="2250" b="true">
                  <a:solidFill>
                    <a:srgbClr val="1B1F24"/>
                  </a:solidFill>
                  <a:latin typeface="Calibri (MS) Bold"/>
                  <a:ea typeface="Calibri (MS) Bold"/>
                  <a:cs typeface="Calibri (MS) Bold"/>
                  <a:sym typeface="Calibri (MS) Bold"/>
                </a:rPr>
                <a:t>1</a:t>
              </a:r>
            </a:p>
          </p:txBody>
        </p:sp>
      </p:grpSp>
      <p:grpSp>
        <p:nvGrpSpPr>
          <p:cNvPr name="Group 10" id="10"/>
          <p:cNvGrpSpPr/>
          <p:nvPr/>
        </p:nvGrpSpPr>
        <p:grpSpPr>
          <a:xfrm rot="0">
            <a:off x="7671435" y="3515487"/>
            <a:ext cx="704850" cy="704850"/>
            <a:chOff x="0" y="0"/>
            <a:chExt cx="939800" cy="939800"/>
          </a:xfrm>
        </p:grpSpPr>
        <p:sp>
          <p:nvSpPr>
            <p:cNvPr name="Freeform 11" id="11"/>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2F9BFF"/>
            </a:solidFill>
            <a:ln w="19050" cap="sq">
              <a:solidFill>
                <a:srgbClr val="2F9BFF"/>
              </a:solidFill>
              <a:prstDash val="solid"/>
              <a:miter/>
            </a:ln>
          </p:spPr>
        </p:sp>
      </p:grpSp>
      <p:grpSp>
        <p:nvGrpSpPr>
          <p:cNvPr name="Group 12" id="12"/>
          <p:cNvGrpSpPr/>
          <p:nvPr/>
        </p:nvGrpSpPr>
        <p:grpSpPr>
          <a:xfrm rot="0">
            <a:off x="7680960" y="3525012"/>
            <a:ext cx="685800" cy="685800"/>
            <a:chOff x="0" y="0"/>
            <a:chExt cx="914400" cy="914400"/>
          </a:xfrm>
        </p:grpSpPr>
        <p:sp>
          <p:nvSpPr>
            <p:cNvPr name="Freeform 13" id="1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4" id="14"/>
            <p:cNvSpPr txBox="true"/>
            <p:nvPr/>
          </p:nvSpPr>
          <p:spPr>
            <a:xfrm>
              <a:off x="0" y="-57150"/>
              <a:ext cx="914400" cy="971550"/>
            </a:xfrm>
            <a:prstGeom prst="rect">
              <a:avLst/>
            </a:prstGeom>
          </p:spPr>
          <p:txBody>
            <a:bodyPr anchor="ctr" rtlCol="false" tIns="0" lIns="0" bIns="0" rIns="0"/>
            <a:lstStyle/>
            <a:p>
              <a:pPr algn="ctr">
                <a:lnSpc>
                  <a:spcPts val="2700"/>
                </a:lnSpc>
              </a:pPr>
              <a:r>
                <a:rPr lang="en-US" sz="2250" b="true">
                  <a:solidFill>
                    <a:srgbClr val="1B1F24"/>
                  </a:solidFill>
                  <a:latin typeface="Calibri (MS) Bold"/>
                  <a:ea typeface="Calibri (MS) Bold"/>
                  <a:cs typeface="Calibri (MS) Bold"/>
                  <a:sym typeface="Calibri (MS) Bold"/>
                </a:rPr>
                <a:t>2</a:t>
              </a:r>
            </a:p>
          </p:txBody>
        </p:sp>
      </p:grpSp>
      <p:grpSp>
        <p:nvGrpSpPr>
          <p:cNvPr name="Group 15" id="15"/>
          <p:cNvGrpSpPr/>
          <p:nvPr/>
        </p:nvGrpSpPr>
        <p:grpSpPr>
          <a:xfrm rot="0">
            <a:off x="7671435" y="4640199"/>
            <a:ext cx="704850" cy="704850"/>
            <a:chOff x="0" y="0"/>
            <a:chExt cx="939800" cy="939800"/>
          </a:xfrm>
        </p:grpSpPr>
        <p:sp>
          <p:nvSpPr>
            <p:cNvPr name="Freeform 16" id="16"/>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2F9BFF"/>
            </a:solidFill>
            <a:ln w="19050" cap="sq">
              <a:solidFill>
                <a:srgbClr val="2F9BFF"/>
              </a:solidFill>
              <a:prstDash val="solid"/>
              <a:miter/>
            </a:ln>
          </p:spPr>
        </p:sp>
      </p:grpSp>
      <p:grpSp>
        <p:nvGrpSpPr>
          <p:cNvPr name="Group 17" id="17"/>
          <p:cNvGrpSpPr/>
          <p:nvPr/>
        </p:nvGrpSpPr>
        <p:grpSpPr>
          <a:xfrm rot="0">
            <a:off x="7680960" y="4649724"/>
            <a:ext cx="685800" cy="685800"/>
            <a:chOff x="0" y="0"/>
            <a:chExt cx="914400" cy="914400"/>
          </a:xfrm>
        </p:grpSpPr>
        <p:sp>
          <p:nvSpPr>
            <p:cNvPr name="Freeform 18" id="1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9" id="19"/>
            <p:cNvSpPr txBox="true"/>
            <p:nvPr/>
          </p:nvSpPr>
          <p:spPr>
            <a:xfrm>
              <a:off x="0" y="-57150"/>
              <a:ext cx="914400" cy="971550"/>
            </a:xfrm>
            <a:prstGeom prst="rect">
              <a:avLst/>
            </a:prstGeom>
          </p:spPr>
          <p:txBody>
            <a:bodyPr anchor="ctr" rtlCol="false" tIns="0" lIns="0" bIns="0" rIns="0"/>
            <a:lstStyle/>
            <a:p>
              <a:pPr algn="ctr">
                <a:lnSpc>
                  <a:spcPts val="2700"/>
                </a:lnSpc>
              </a:pPr>
              <a:r>
                <a:rPr lang="en-US" sz="2250" b="true">
                  <a:solidFill>
                    <a:srgbClr val="1B1F24"/>
                  </a:solidFill>
                  <a:latin typeface="Calibri (MS) Bold"/>
                  <a:ea typeface="Calibri (MS) Bold"/>
                  <a:cs typeface="Calibri (MS) Bold"/>
                  <a:sym typeface="Calibri (MS) Bold"/>
                </a:rPr>
                <a:t>3</a:t>
              </a:r>
            </a:p>
          </p:txBody>
        </p:sp>
      </p:grpSp>
      <p:grpSp>
        <p:nvGrpSpPr>
          <p:cNvPr name="Group 20" id="20"/>
          <p:cNvGrpSpPr/>
          <p:nvPr/>
        </p:nvGrpSpPr>
        <p:grpSpPr>
          <a:xfrm rot="0">
            <a:off x="7671435" y="5764911"/>
            <a:ext cx="704850" cy="704850"/>
            <a:chOff x="0" y="0"/>
            <a:chExt cx="939800" cy="939800"/>
          </a:xfrm>
        </p:grpSpPr>
        <p:sp>
          <p:nvSpPr>
            <p:cNvPr name="Freeform 21" id="21"/>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2F9BFF"/>
            </a:solidFill>
            <a:ln w="19050" cap="sq">
              <a:solidFill>
                <a:srgbClr val="2F9BFF"/>
              </a:solidFill>
              <a:prstDash val="solid"/>
              <a:miter/>
            </a:ln>
          </p:spPr>
        </p:sp>
      </p:grpSp>
      <p:grpSp>
        <p:nvGrpSpPr>
          <p:cNvPr name="Group 22" id="22"/>
          <p:cNvGrpSpPr/>
          <p:nvPr/>
        </p:nvGrpSpPr>
        <p:grpSpPr>
          <a:xfrm rot="0">
            <a:off x="7680960" y="5774436"/>
            <a:ext cx="685800" cy="685800"/>
            <a:chOff x="0" y="0"/>
            <a:chExt cx="914400" cy="914400"/>
          </a:xfrm>
        </p:grpSpPr>
        <p:sp>
          <p:nvSpPr>
            <p:cNvPr name="Freeform 23" id="2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4" id="24"/>
            <p:cNvSpPr txBox="true"/>
            <p:nvPr/>
          </p:nvSpPr>
          <p:spPr>
            <a:xfrm>
              <a:off x="0" y="-57150"/>
              <a:ext cx="914400" cy="971550"/>
            </a:xfrm>
            <a:prstGeom prst="rect">
              <a:avLst/>
            </a:prstGeom>
          </p:spPr>
          <p:txBody>
            <a:bodyPr anchor="ctr" rtlCol="false" tIns="0" lIns="0" bIns="0" rIns="0"/>
            <a:lstStyle/>
            <a:p>
              <a:pPr algn="ctr">
                <a:lnSpc>
                  <a:spcPts val="2700"/>
                </a:lnSpc>
              </a:pPr>
              <a:r>
                <a:rPr lang="en-US" sz="2250" b="true">
                  <a:solidFill>
                    <a:srgbClr val="1B1F24"/>
                  </a:solidFill>
                  <a:latin typeface="Calibri (MS) Bold"/>
                  <a:ea typeface="Calibri (MS) Bold"/>
                  <a:cs typeface="Calibri (MS) Bold"/>
                  <a:sym typeface="Calibri (MS) Bold"/>
                </a:rPr>
                <a:t>4</a:t>
              </a:r>
            </a:p>
          </p:txBody>
        </p:sp>
      </p:grpSp>
      <p:grpSp>
        <p:nvGrpSpPr>
          <p:cNvPr name="Group 25" id="25"/>
          <p:cNvGrpSpPr/>
          <p:nvPr/>
        </p:nvGrpSpPr>
        <p:grpSpPr>
          <a:xfrm rot="0">
            <a:off x="7671435" y="6889623"/>
            <a:ext cx="704850" cy="704850"/>
            <a:chOff x="0" y="0"/>
            <a:chExt cx="939800" cy="939800"/>
          </a:xfrm>
        </p:grpSpPr>
        <p:sp>
          <p:nvSpPr>
            <p:cNvPr name="Freeform 26" id="26"/>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2F9BFF"/>
            </a:solidFill>
            <a:ln w="19050" cap="sq">
              <a:solidFill>
                <a:srgbClr val="2F9BFF"/>
              </a:solidFill>
              <a:prstDash val="solid"/>
              <a:miter/>
            </a:ln>
          </p:spPr>
        </p:sp>
      </p:grpSp>
      <p:grpSp>
        <p:nvGrpSpPr>
          <p:cNvPr name="Group 27" id="27"/>
          <p:cNvGrpSpPr/>
          <p:nvPr/>
        </p:nvGrpSpPr>
        <p:grpSpPr>
          <a:xfrm rot="0">
            <a:off x="7680960" y="6899148"/>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9" id="29"/>
            <p:cNvSpPr txBox="true"/>
            <p:nvPr/>
          </p:nvSpPr>
          <p:spPr>
            <a:xfrm>
              <a:off x="0" y="-57150"/>
              <a:ext cx="914400" cy="971550"/>
            </a:xfrm>
            <a:prstGeom prst="rect">
              <a:avLst/>
            </a:prstGeom>
          </p:spPr>
          <p:txBody>
            <a:bodyPr anchor="ctr" rtlCol="false" tIns="0" lIns="0" bIns="0" rIns="0"/>
            <a:lstStyle/>
            <a:p>
              <a:pPr algn="ctr">
                <a:lnSpc>
                  <a:spcPts val="2700"/>
                </a:lnSpc>
              </a:pPr>
              <a:r>
                <a:rPr lang="en-US" sz="2250" b="true">
                  <a:solidFill>
                    <a:srgbClr val="1B1F24"/>
                  </a:solidFill>
                  <a:latin typeface="Calibri (MS) Bold"/>
                  <a:ea typeface="Calibri (MS) Bold"/>
                  <a:cs typeface="Calibri (MS) Bold"/>
                  <a:sym typeface="Calibri (MS) Bold"/>
                </a:rPr>
                <a:t>5</a:t>
              </a:r>
            </a:p>
          </p:txBody>
        </p:sp>
      </p:grpSp>
      <p:grpSp>
        <p:nvGrpSpPr>
          <p:cNvPr name="Group 30" id="30"/>
          <p:cNvGrpSpPr/>
          <p:nvPr/>
        </p:nvGrpSpPr>
        <p:grpSpPr>
          <a:xfrm rot="0">
            <a:off x="7671435" y="8014335"/>
            <a:ext cx="704850" cy="704850"/>
            <a:chOff x="0" y="0"/>
            <a:chExt cx="939800" cy="939800"/>
          </a:xfrm>
        </p:grpSpPr>
        <p:sp>
          <p:nvSpPr>
            <p:cNvPr name="Freeform 31" id="31"/>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2F9BFF"/>
            </a:solidFill>
            <a:ln w="19050" cap="sq">
              <a:solidFill>
                <a:srgbClr val="2F9BFF"/>
              </a:solidFill>
              <a:prstDash val="solid"/>
              <a:miter/>
            </a:ln>
          </p:spPr>
        </p:sp>
      </p:grpSp>
      <p:grpSp>
        <p:nvGrpSpPr>
          <p:cNvPr name="Group 32" id="32"/>
          <p:cNvGrpSpPr/>
          <p:nvPr/>
        </p:nvGrpSpPr>
        <p:grpSpPr>
          <a:xfrm rot="0">
            <a:off x="7680960" y="8023860"/>
            <a:ext cx="685800" cy="685800"/>
            <a:chOff x="0" y="0"/>
            <a:chExt cx="914400" cy="914400"/>
          </a:xfrm>
        </p:grpSpPr>
        <p:sp>
          <p:nvSpPr>
            <p:cNvPr name="Freeform 33" id="3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4" id="34"/>
            <p:cNvSpPr txBox="true"/>
            <p:nvPr/>
          </p:nvSpPr>
          <p:spPr>
            <a:xfrm>
              <a:off x="0" y="-57150"/>
              <a:ext cx="914400" cy="971550"/>
            </a:xfrm>
            <a:prstGeom prst="rect">
              <a:avLst/>
            </a:prstGeom>
          </p:spPr>
          <p:txBody>
            <a:bodyPr anchor="ctr" rtlCol="false" tIns="0" lIns="0" bIns="0" rIns="0"/>
            <a:lstStyle/>
            <a:p>
              <a:pPr algn="ctr">
                <a:lnSpc>
                  <a:spcPts val="2700"/>
                </a:lnSpc>
              </a:pPr>
              <a:r>
                <a:rPr lang="en-US" sz="2250" b="true">
                  <a:solidFill>
                    <a:srgbClr val="1B1F24"/>
                  </a:solidFill>
                  <a:latin typeface="Calibri (MS) Bold"/>
                  <a:ea typeface="Calibri (MS) Bold"/>
                  <a:cs typeface="Calibri (MS) Bold"/>
                  <a:sym typeface="Calibri (MS) Bold"/>
                </a:rPr>
                <a:t>6</a:t>
              </a:r>
            </a:p>
          </p:txBody>
        </p:sp>
      </p:grpSp>
      <p:sp>
        <p:nvSpPr>
          <p:cNvPr name="Freeform 35" id="35"/>
          <p:cNvSpPr/>
          <p:nvPr/>
        </p:nvSpPr>
        <p:spPr>
          <a:xfrm flipH="false" flipV="false" rot="0">
            <a:off x="416138" y="5472684"/>
            <a:ext cx="6912397" cy="3070802"/>
          </a:xfrm>
          <a:custGeom>
            <a:avLst/>
            <a:gdLst/>
            <a:ahLst/>
            <a:cxnLst/>
            <a:rect r="r" b="b" t="t" l="l"/>
            <a:pathLst>
              <a:path h="3070802" w="6912397">
                <a:moveTo>
                  <a:pt x="0" y="0"/>
                </a:moveTo>
                <a:lnTo>
                  <a:pt x="6912397" y="0"/>
                </a:lnTo>
                <a:lnTo>
                  <a:pt x="6912397" y="3070802"/>
                </a:lnTo>
                <a:lnTo>
                  <a:pt x="0" y="3070802"/>
                </a:lnTo>
                <a:lnTo>
                  <a:pt x="0" y="0"/>
                </a:lnTo>
                <a:close/>
              </a:path>
            </a:pathLst>
          </a:custGeom>
          <a:blipFill>
            <a:blip r:embed="rId4"/>
            <a:stretch>
              <a:fillRect l="0" t="0" r="-19980" b="0"/>
            </a:stretch>
          </a:blipFill>
        </p:spPr>
      </p:sp>
      <p:sp>
        <p:nvSpPr>
          <p:cNvPr name="TextBox 36" id="36"/>
          <p:cNvSpPr txBox="true"/>
          <p:nvPr/>
        </p:nvSpPr>
        <p:spPr>
          <a:xfrm rot="0">
            <a:off x="822960" y="539115"/>
            <a:ext cx="10972800" cy="421005"/>
          </a:xfrm>
          <a:prstGeom prst="rect">
            <a:avLst/>
          </a:prstGeom>
        </p:spPr>
        <p:txBody>
          <a:bodyPr anchor="t" rtlCol="false" tIns="0" lIns="0" bIns="0" rIns="0">
            <a:spAutoFit/>
          </a:bodyPr>
          <a:lstStyle/>
          <a:p>
            <a:pPr algn="l">
              <a:lnSpc>
                <a:spcPts val="2160"/>
              </a:lnSpc>
            </a:pPr>
            <a:r>
              <a:rPr lang="en-US" b="true" sz="1800" spc="300">
                <a:solidFill>
                  <a:srgbClr val="2F9BFF"/>
                </a:solidFill>
                <a:latin typeface="Courier New Bold"/>
                <a:ea typeface="Courier New Bold"/>
                <a:cs typeface="Courier New Bold"/>
                <a:sym typeface="Courier New Bold"/>
              </a:rPr>
              <a:t>09  CONCLUSION AND LIVE DEMO</a:t>
            </a:r>
          </a:p>
        </p:txBody>
      </p:sp>
      <p:sp>
        <p:nvSpPr>
          <p:cNvPr name="TextBox 37" id="37"/>
          <p:cNvSpPr txBox="true"/>
          <p:nvPr/>
        </p:nvSpPr>
        <p:spPr>
          <a:xfrm rot="0">
            <a:off x="822960" y="873252"/>
            <a:ext cx="16596360" cy="1074420"/>
          </a:xfrm>
          <a:prstGeom prst="rect">
            <a:avLst/>
          </a:prstGeom>
        </p:spPr>
        <p:txBody>
          <a:bodyPr anchor="t" rtlCol="false" tIns="0" lIns="0" bIns="0" rIns="0">
            <a:spAutoFit/>
          </a:bodyPr>
          <a:lstStyle/>
          <a:p>
            <a:pPr algn="l">
              <a:lnSpc>
                <a:spcPts val="6480"/>
              </a:lnSpc>
            </a:pPr>
            <a:r>
              <a:rPr lang="en-US" sz="5400" b="true">
                <a:solidFill>
                  <a:srgbClr val="EDF1F5"/>
                </a:solidFill>
                <a:latin typeface="Calibri (MS) Bold"/>
                <a:ea typeface="Calibri (MS) Bold"/>
                <a:cs typeface="Calibri (MS) Bold"/>
                <a:sym typeface="Calibri (MS) Bold"/>
              </a:rPr>
              <a:t>What we built and how we will show it</a:t>
            </a:r>
          </a:p>
        </p:txBody>
      </p:sp>
      <p:sp>
        <p:nvSpPr>
          <p:cNvPr name="TextBox 38" id="38"/>
          <p:cNvSpPr txBox="true"/>
          <p:nvPr/>
        </p:nvSpPr>
        <p:spPr>
          <a:xfrm rot="0">
            <a:off x="822960" y="2265045"/>
            <a:ext cx="6172200" cy="3907155"/>
          </a:xfrm>
          <a:prstGeom prst="rect">
            <a:avLst/>
          </a:prstGeom>
        </p:spPr>
        <p:txBody>
          <a:bodyPr anchor="t" rtlCol="false" tIns="0" lIns="0" bIns="0" rIns="0">
            <a:spAutoFit/>
          </a:bodyPr>
          <a:lstStyle/>
          <a:p>
            <a:pPr algn="l">
              <a:lnSpc>
                <a:spcPts val="3600"/>
              </a:lnSpc>
            </a:pPr>
            <a:r>
              <a:rPr lang="en-US" sz="3000" b="true">
                <a:solidFill>
                  <a:srgbClr val="2F9BFF"/>
                </a:solidFill>
                <a:latin typeface="Calibri (MS) Bold"/>
                <a:ea typeface="Calibri (MS) Bold"/>
                <a:cs typeface="Calibri (MS) Bold"/>
                <a:sym typeface="Calibri (MS) Bold"/>
              </a:rPr>
              <a:t>Current implementation</a:t>
            </a:r>
          </a:p>
          <a:p>
            <a:pPr algn="l">
              <a:lnSpc>
                <a:spcPts val="2700"/>
              </a:lnSpc>
            </a:pPr>
            <a:r>
              <a:rPr lang="en-US" sz="2250">
                <a:solidFill>
                  <a:srgbClr val="EDF1F5"/>
                </a:solidFill>
                <a:latin typeface="Calibri (MS)"/>
                <a:ea typeface="Calibri (MS)"/>
                <a:cs typeface="Calibri (MS)"/>
                <a:sym typeface="Calibri (MS)"/>
              </a:rPr>
              <a:t>A small C program using pthreads and C11 atomics that applies configurable CPU and memory load on Ubuntu, with input checks, a basic memory guard, progress output and Ctrl+C stop.</a:t>
            </a:r>
          </a:p>
        </p:txBody>
      </p:sp>
      <p:sp>
        <p:nvSpPr>
          <p:cNvPr name="TextBox 39" id="39"/>
          <p:cNvSpPr txBox="true"/>
          <p:nvPr/>
        </p:nvSpPr>
        <p:spPr>
          <a:xfrm rot="0">
            <a:off x="8709660" y="2307336"/>
            <a:ext cx="8641080" cy="51816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Compile</a:t>
            </a:r>
          </a:p>
        </p:txBody>
      </p:sp>
      <p:sp>
        <p:nvSpPr>
          <p:cNvPr name="TextBox 40" id="40"/>
          <p:cNvSpPr txBox="true"/>
          <p:nvPr/>
        </p:nvSpPr>
        <p:spPr>
          <a:xfrm rot="0">
            <a:off x="8709660" y="2802255"/>
            <a:ext cx="8641080" cy="421005"/>
          </a:xfrm>
          <a:prstGeom prst="rect">
            <a:avLst/>
          </a:prstGeom>
        </p:spPr>
        <p:txBody>
          <a:bodyPr anchor="t" rtlCol="false" tIns="0" lIns="0" bIns="0" rIns="0">
            <a:spAutoFit/>
          </a:bodyPr>
          <a:lstStyle/>
          <a:p>
            <a:pPr algn="l">
              <a:lnSpc>
                <a:spcPts val="2340"/>
              </a:lnSpc>
            </a:pPr>
            <a:r>
              <a:rPr lang="en-US" sz="1950">
                <a:solidFill>
                  <a:srgbClr val="3FB67A"/>
                </a:solidFill>
                <a:latin typeface="Courier New"/>
                <a:ea typeface="Courier New"/>
                <a:cs typeface="Courier New"/>
                <a:sym typeface="Courier New"/>
              </a:rPr>
              <a:t>$ make</a:t>
            </a:r>
          </a:p>
        </p:txBody>
      </p:sp>
      <p:sp>
        <p:nvSpPr>
          <p:cNvPr name="TextBox 41" id="41"/>
          <p:cNvSpPr txBox="true"/>
          <p:nvPr/>
        </p:nvSpPr>
        <p:spPr>
          <a:xfrm rot="0">
            <a:off x="8709660" y="3432048"/>
            <a:ext cx="8641080" cy="51816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Run a short workload</a:t>
            </a:r>
          </a:p>
        </p:txBody>
      </p:sp>
      <p:sp>
        <p:nvSpPr>
          <p:cNvPr name="TextBox 42" id="42"/>
          <p:cNvSpPr txBox="true"/>
          <p:nvPr/>
        </p:nvSpPr>
        <p:spPr>
          <a:xfrm rot="0">
            <a:off x="8709660" y="3926967"/>
            <a:ext cx="8641080" cy="421005"/>
          </a:xfrm>
          <a:prstGeom prst="rect">
            <a:avLst/>
          </a:prstGeom>
        </p:spPr>
        <p:txBody>
          <a:bodyPr anchor="t" rtlCol="false" tIns="0" lIns="0" bIns="0" rIns="0">
            <a:spAutoFit/>
          </a:bodyPr>
          <a:lstStyle/>
          <a:p>
            <a:pPr algn="l">
              <a:lnSpc>
                <a:spcPts val="2340"/>
              </a:lnSpc>
            </a:pPr>
            <a:r>
              <a:rPr lang="en-US" sz="1950">
                <a:solidFill>
                  <a:srgbClr val="3FB67A"/>
                </a:solidFill>
                <a:latin typeface="Courier New"/>
                <a:ea typeface="Courier New"/>
                <a:cs typeface="Courier New"/>
                <a:sym typeface="Courier New"/>
              </a:rPr>
              <a:t>$ ./stress-test 10 2 128</a:t>
            </a:r>
          </a:p>
        </p:txBody>
      </p:sp>
      <p:sp>
        <p:nvSpPr>
          <p:cNvPr name="TextBox 43" id="43"/>
          <p:cNvSpPr txBox="true"/>
          <p:nvPr/>
        </p:nvSpPr>
        <p:spPr>
          <a:xfrm rot="0">
            <a:off x="8709660" y="4556760"/>
            <a:ext cx="8641080" cy="51816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Observe CPU</a:t>
            </a:r>
          </a:p>
        </p:txBody>
      </p:sp>
      <p:sp>
        <p:nvSpPr>
          <p:cNvPr name="TextBox 44" id="44"/>
          <p:cNvSpPr txBox="true"/>
          <p:nvPr/>
        </p:nvSpPr>
        <p:spPr>
          <a:xfrm rot="0">
            <a:off x="8709660" y="5051679"/>
            <a:ext cx="8641080" cy="421005"/>
          </a:xfrm>
          <a:prstGeom prst="rect">
            <a:avLst/>
          </a:prstGeom>
        </p:spPr>
        <p:txBody>
          <a:bodyPr anchor="t" rtlCol="false" tIns="0" lIns="0" bIns="0" rIns="0">
            <a:spAutoFit/>
          </a:bodyPr>
          <a:lstStyle/>
          <a:p>
            <a:pPr algn="l">
              <a:lnSpc>
                <a:spcPts val="2340"/>
              </a:lnSpc>
            </a:pPr>
            <a:r>
              <a:rPr lang="en-US" sz="1950">
                <a:solidFill>
                  <a:srgbClr val="3FB67A"/>
                </a:solidFill>
                <a:latin typeface="Courier New"/>
                <a:ea typeface="Courier New"/>
                <a:cs typeface="Courier New"/>
                <a:sym typeface="Courier New"/>
              </a:rPr>
              <a:t>$ htop   (second terminal)</a:t>
            </a:r>
          </a:p>
        </p:txBody>
      </p:sp>
      <p:sp>
        <p:nvSpPr>
          <p:cNvPr name="TextBox 45" id="45"/>
          <p:cNvSpPr txBox="true"/>
          <p:nvPr/>
        </p:nvSpPr>
        <p:spPr>
          <a:xfrm rot="0">
            <a:off x="8709660" y="5681472"/>
            <a:ext cx="8641080" cy="51816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Observe memory</a:t>
            </a:r>
          </a:p>
        </p:txBody>
      </p:sp>
      <p:sp>
        <p:nvSpPr>
          <p:cNvPr name="TextBox 46" id="46"/>
          <p:cNvSpPr txBox="true"/>
          <p:nvPr/>
        </p:nvSpPr>
        <p:spPr>
          <a:xfrm rot="0">
            <a:off x="8709660" y="6176391"/>
            <a:ext cx="8641080" cy="421005"/>
          </a:xfrm>
          <a:prstGeom prst="rect">
            <a:avLst/>
          </a:prstGeom>
        </p:spPr>
        <p:txBody>
          <a:bodyPr anchor="t" rtlCol="false" tIns="0" lIns="0" bIns="0" rIns="0">
            <a:spAutoFit/>
          </a:bodyPr>
          <a:lstStyle/>
          <a:p>
            <a:pPr algn="l">
              <a:lnSpc>
                <a:spcPts val="2340"/>
              </a:lnSpc>
            </a:pPr>
            <a:r>
              <a:rPr lang="en-US" sz="1950">
                <a:solidFill>
                  <a:srgbClr val="3FB67A"/>
                </a:solidFill>
                <a:latin typeface="Courier New"/>
                <a:ea typeface="Courier New"/>
                <a:cs typeface="Courier New"/>
                <a:sym typeface="Courier New"/>
              </a:rPr>
              <a:t>$ watch -n 1 free -h</a:t>
            </a:r>
          </a:p>
        </p:txBody>
      </p:sp>
      <p:sp>
        <p:nvSpPr>
          <p:cNvPr name="TextBox 47" id="47"/>
          <p:cNvSpPr txBox="true"/>
          <p:nvPr/>
        </p:nvSpPr>
        <p:spPr>
          <a:xfrm rot="0">
            <a:off x="8709660" y="6806184"/>
            <a:ext cx="8641080" cy="51816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Invalid input</a:t>
            </a:r>
          </a:p>
        </p:txBody>
      </p:sp>
      <p:sp>
        <p:nvSpPr>
          <p:cNvPr name="TextBox 48" id="48"/>
          <p:cNvSpPr txBox="true"/>
          <p:nvPr/>
        </p:nvSpPr>
        <p:spPr>
          <a:xfrm rot="0">
            <a:off x="8709660" y="7301103"/>
            <a:ext cx="8641080" cy="421005"/>
          </a:xfrm>
          <a:prstGeom prst="rect">
            <a:avLst/>
          </a:prstGeom>
        </p:spPr>
        <p:txBody>
          <a:bodyPr anchor="t" rtlCol="false" tIns="0" lIns="0" bIns="0" rIns="0">
            <a:spAutoFit/>
          </a:bodyPr>
          <a:lstStyle/>
          <a:p>
            <a:pPr algn="l">
              <a:lnSpc>
                <a:spcPts val="2340"/>
              </a:lnSpc>
            </a:pPr>
            <a:r>
              <a:rPr lang="en-US" sz="1950">
                <a:solidFill>
                  <a:srgbClr val="3FB67A"/>
                </a:solidFill>
                <a:latin typeface="Courier New"/>
                <a:ea typeface="Courier New"/>
                <a:cs typeface="Courier New"/>
                <a:sym typeface="Courier New"/>
              </a:rPr>
              <a:t>$ ./stress-test 0 1 64</a:t>
            </a:r>
          </a:p>
        </p:txBody>
      </p:sp>
      <p:sp>
        <p:nvSpPr>
          <p:cNvPr name="TextBox 49" id="49"/>
          <p:cNvSpPr txBox="true"/>
          <p:nvPr/>
        </p:nvSpPr>
        <p:spPr>
          <a:xfrm rot="0">
            <a:off x="8709660" y="7930896"/>
            <a:ext cx="8641080" cy="518160"/>
          </a:xfrm>
          <a:prstGeom prst="rect">
            <a:avLst/>
          </a:prstGeom>
        </p:spPr>
        <p:txBody>
          <a:bodyPr anchor="t" rtlCol="false" tIns="0" lIns="0" bIns="0" rIns="0">
            <a:spAutoFit/>
          </a:bodyPr>
          <a:lstStyle/>
          <a:p>
            <a:pPr algn="l">
              <a:lnSpc>
                <a:spcPts val="2879"/>
              </a:lnSpc>
            </a:pPr>
            <a:r>
              <a:rPr lang="en-US" sz="2400" b="true">
                <a:solidFill>
                  <a:srgbClr val="EDF1F5"/>
                </a:solidFill>
                <a:latin typeface="Calibri (MS) Bold"/>
                <a:ea typeface="Calibri (MS) Bold"/>
                <a:cs typeface="Calibri (MS) Bold"/>
                <a:sym typeface="Calibri (MS) Bold"/>
              </a:rPr>
              <a:t>Ctrl+C termination</a:t>
            </a:r>
          </a:p>
        </p:txBody>
      </p:sp>
      <p:sp>
        <p:nvSpPr>
          <p:cNvPr name="TextBox 50" id="50"/>
          <p:cNvSpPr txBox="true"/>
          <p:nvPr/>
        </p:nvSpPr>
        <p:spPr>
          <a:xfrm rot="0">
            <a:off x="8709660" y="8425815"/>
            <a:ext cx="8641080" cy="421005"/>
          </a:xfrm>
          <a:prstGeom prst="rect">
            <a:avLst/>
          </a:prstGeom>
        </p:spPr>
        <p:txBody>
          <a:bodyPr anchor="t" rtlCol="false" tIns="0" lIns="0" bIns="0" rIns="0">
            <a:spAutoFit/>
          </a:bodyPr>
          <a:lstStyle/>
          <a:p>
            <a:pPr algn="l">
              <a:lnSpc>
                <a:spcPts val="2340"/>
              </a:lnSpc>
            </a:pPr>
            <a:r>
              <a:rPr lang="en-US" sz="1950">
                <a:solidFill>
                  <a:srgbClr val="3FB67A"/>
                </a:solidFill>
                <a:latin typeface="Courier New"/>
                <a:ea typeface="Courier New"/>
                <a:cs typeface="Courier New"/>
                <a:sym typeface="Courier New"/>
              </a:rPr>
              <a:t>$ ./stress-test 60 2 128, then Ctrl+C</a:t>
            </a:r>
          </a:p>
        </p:txBody>
      </p:sp>
      <p:sp>
        <p:nvSpPr>
          <p:cNvPr name="TextBox 51" id="51"/>
          <p:cNvSpPr txBox="true"/>
          <p:nvPr/>
        </p:nvSpPr>
        <p:spPr>
          <a:xfrm rot="0">
            <a:off x="16824960" y="9677400"/>
            <a:ext cx="640080" cy="358140"/>
          </a:xfrm>
          <a:prstGeom prst="rect">
            <a:avLst/>
          </a:prstGeom>
        </p:spPr>
        <p:txBody>
          <a:bodyPr anchor="t" rtlCol="false" tIns="0" lIns="0" bIns="0" rIns="0">
            <a:spAutoFit/>
          </a:bodyPr>
          <a:lstStyle/>
          <a:p>
            <a:pPr algn="l">
              <a:lnSpc>
                <a:spcPts val="1800"/>
              </a:lnSpc>
            </a:pPr>
            <a:r>
              <a:rPr lang="en-US" sz="1500">
                <a:solidFill>
                  <a:srgbClr val="A3AEBB"/>
                </a:solidFill>
                <a:latin typeface="Calibri (MS)"/>
                <a:ea typeface="Calibri (MS)"/>
                <a:cs typeface="Calibri (MS)"/>
                <a:sym typeface="Calibri (M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DAHYPJLPlMA</dc:identifier>
  <dcterms:modified xsi:type="dcterms:W3CDTF">2011-08-01T06:04:30Z</dcterms:modified>
  <cp:revision>1</cp:revision>
  <dc:title>CPU_Memory_Stress_Tool_C_Linux.pptx</dc:title>
</cp:coreProperties>
</file>